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 en mora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8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0-2 meses</c:v>
                  </c:pt>
                  <c:pt idx="1">
                    <c:v>3-5 meses</c:v>
                  </c:pt>
                  <c:pt idx="2">
                    <c:v>6-8 meses</c:v>
                  </c:pt>
                  <c:pt idx="3">
                    <c:v>9-11 meses</c:v>
                  </c:pt>
                  <c:pt idx="4">
                    <c:v>12-14 meses</c:v>
                  </c:pt>
                  <c:pt idx="5">
                    <c:v>15-17 meses</c:v>
                  </c:pt>
                  <c:pt idx="6">
                    <c:v>18-23 meses</c:v>
                  </c:pt>
                  <c:pt idx="7">
                    <c:v>24+ meses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10.6</c:v>
                </c:pt>
                <c:pt idx="1">
                  <c:v>9.9</c:v>
                </c:pt>
                <c:pt idx="2">
                  <c:v>11.2</c:v>
                </c:pt>
                <c:pt idx="3">
                  <c:v>12.2</c:v>
                </c:pt>
                <c:pt idx="4">
                  <c:v>10.8</c:v>
                </c:pt>
                <c:pt idx="5">
                  <c:v>12.3</c:v>
                </c:pt>
                <c:pt idx="6">
                  <c:v>15.4</c:v>
                </c:pt>
                <c:pt idx="7">
                  <c:v>16.7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8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 del libro</c:v>
                </c:pt>
              </c:strCache>
            </c:strRef>
          </c:tx>
          <c:spPr>
            <a:solidFill>
              <a:srgbClr val="0F7B3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8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0-5 meses</c:v>
                  </c:pt>
                  <c:pt idx="1">
                    <c:v>6-11 meses</c:v>
                  </c:pt>
                  <c:pt idx="2">
                    <c:v>12-17 meses</c:v>
                  </c:pt>
                  <c:pt idx="3">
                    <c:v>18-23 meses</c:v>
                  </c:pt>
                  <c:pt idx="4">
                    <c:v>24+ meses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6</c:v>
                </c:pt>
                <c:pt idx="2">
                  <c:v>7.2</c:v>
                </c:pt>
                <c:pt idx="3">
                  <c:v>12.9</c:v>
                </c:pt>
                <c:pt idx="4">
                  <c:v>13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8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 de mora 30+</c:v>
                </c:pt>
              </c:strCache>
            </c:strRef>
          </c:tx>
          <c:spPr>
            <a:solidFill>
              <a:srgbClr val="0F7B3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8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31-60 días</c:v>
                  </c:pt>
                  <c:pt idx="1">
                    <c:v>61-90 días</c:v>
                  </c:pt>
                  <c:pt idx="2">
                    <c:v>91-180 días</c:v>
                  </c:pt>
                  <c:pt idx="3">
                    <c:v>181-360 días</c:v>
                  </c:pt>
                  <c:pt idx="4">
                    <c:v>+360 días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31.3</c:v>
                </c:pt>
                <c:pt idx="1">
                  <c:v>12.2</c:v>
                </c:pt>
                <c:pt idx="2">
                  <c:v>3.4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8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observada hoy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jun-2024</c:v>
                  </c:pt>
                  <c:pt idx="1">
                    <c:v>jul-2024</c:v>
                  </c:pt>
                  <c:pt idx="2">
                    <c:v>ago-2024</c:v>
                  </c:pt>
                  <c:pt idx="3">
                    <c:v>sep-2024</c:v>
                  </c:pt>
                  <c:pt idx="4">
                    <c:v>oct-2024</c:v>
                  </c:pt>
                  <c:pt idx="5">
                    <c:v>nov-2024</c:v>
                  </c:pt>
                  <c:pt idx="6">
                    <c:v>dic-2024</c:v>
                  </c:pt>
                  <c:pt idx="7">
                    <c:v>ene-2025</c:v>
                  </c:pt>
                  <c:pt idx="8">
                    <c:v>feb-2025</c:v>
                  </c:pt>
                  <c:pt idx="9">
                    <c:v>mar-2025</c:v>
                  </c:pt>
                  <c:pt idx="10">
                    <c:v>abr-2025</c:v>
                  </c:pt>
                  <c:pt idx="11">
                    <c:v>may-2025</c:v>
                  </c:pt>
                  <c:pt idx="12">
                    <c:v>jun-2025</c:v>
                  </c:pt>
                  <c:pt idx="13">
                    <c:v>jul-2025</c:v>
                  </c:pt>
                  <c:pt idx="14">
                    <c:v>ago-2025</c:v>
                  </c:pt>
                  <c:pt idx="15">
                    <c:v>sep-2025</c:v>
                  </c:pt>
                  <c:pt idx="16">
                    <c:v>oct-2025</c:v>
                  </c:pt>
                  <c:pt idx="17">
                    <c:v>nov-2025</c:v>
                  </c:pt>
                  <c:pt idx="18">
                    <c:v>dic-2025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1.08</c:v>
                </c:pt>
                <c:pt idx="1">
                  <c:v>2.62</c:v>
                </c:pt>
                <c:pt idx="2">
                  <c:v>4.3</c:v>
                </c:pt>
                <c:pt idx="3">
                  <c:v>4.72</c:v>
                </c:pt>
                <c:pt idx="4">
                  <c:v>0.67</c:v>
                </c:pt>
                <c:pt idx="5">
                  <c:v>5.98</c:v>
                </c:pt>
                <c:pt idx="6">
                  <c:v>1.59</c:v>
                </c:pt>
                <c:pt idx="7">
                  <c:v>6.62</c:v>
                </c:pt>
                <c:pt idx="8">
                  <c:v>1.84</c:v>
                </c:pt>
                <c:pt idx="9">
                  <c:v>3.03</c:v>
                </c:pt>
                <c:pt idx="10">
                  <c:v>1.32</c:v>
                </c:pt>
                <c:pt idx="11">
                  <c:v>0.97</c:v>
                </c:pt>
                <c:pt idx="12">
                  <c:v>3.97</c:v>
                </c:pt>
                <c:pt idx="13">
                  <c:v>1.48</c:v>
                </c:pt>
                <c:pt idx="14">
                  <c:v>3.04</c:v>
                </c:pt>
                <c:pt idx="15">
                  <c:v>2.92</c:v>
                </c:pt>
                <c:pt idx="16">
                  <c:v>0.46</c:v>
                </c:pt>
                <c:pt idx="17">
                  <c:v>0.84</c:v>
                </c:pt>
                <c:pt idx="18">
                  <c:v>1.07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Falta por aflorar (proyectado)</c:v>
                </c:pt>
              </c:strCache>
            </c:strRef>
          </c:tx>
          <c:spPr>
            <a:solidFill>
              <a:srgbClr val="C8D2D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jun-2024</c:v>
                  </c:pt>
                  <c:pt idx="1">
                    <c:v>jul-2024</c:v>
                  </c:pt>
                  <c:pt idx="2">
                    <c:v>ago-2024</c:v>
                  </c:pt>
                  <c:pt idx="3">
                    <c:v>sep-2024</c:v>
                  </c:pt>
                  <c:pt idx="4">
                    <c:v>oct-2024</c:v>
                  </c:pt>
                  <c:pt idx="5">
                    <c:v>nov-2024</c:v>
                  </c:pt>
                  <c:pt idx="6">
                    <c:v>dic-2024</c:v>
                  </c:pt>
                  <c:pt idx="7">
                    <c:v>ene-2025</c:v>
                  </c:pt>
                  <c:pt idx="8">
                    <c:v>feb-2025</c:v>
                  </c:pt>
                  <c:pt idx="9">
                    <c:v>mar-2025</c:v>
                  </c:pt>
                  <c:pt idx="10">
                    <c:v>abr-2025</c:v>
                  </c:pt>
                  <c:pt idx="11">
                    <c:v>may-2025</c:v>
                  </c:pt>
                  <c:pt idx="12">
                    <c:v>jun-2025</c:v>
                  </c:pt>
                  <c:pt idx="13">
                    <c:v>jul-2025</c:v>
                  </c:pt>
                  <c:pt idx="14">
                    <c:v>ago-2025</c:v>
                  </c:pt>
                  <c:pt idx="15">
                    <c:v>sep-2025</c:v>
                  </c:pt>
                  <c:pt idx="16">
                    <c:v>oct-2025</c:v>
                  </c:pt>
                  <c:pt idx="17">
                    <c:v>nov-2025</c:v>
                  </c:pt>
                  <c:pt idx="18">
                    <c:v>dic-2025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0.21</c:v>
                </c:pt>
                <c:pt idx="1">
                  <c:v>1.11</c:v>
                </c:pt>
                <c:pt idx="2">
                  <c:v>1.39</c:v>
                </c:pt>
                <c:pt idx="3">
                  <c:v>3.09</c:v>
                </c:pt>
                <c:pt idx="4">
                  <c:v>0.67</c:v>
                </c:pt>
                <c:pt idx="5">
                  <c:v>4.82</c:v>
                </c:pt>
                <c:pt idx="6">
                  <c:v>0.88</c:v>
                </c:pt>
                <c:pt idx="7">
                  <c:v>3.95</c:v>
                </c:pt>
                <c:pt idx="8">
                  <c:v>1.28</c:v>
                </c:pt>
                <c:pt idx="9">
                  <c:v>2.5</c:v>
                </c:pt>
                <c:pt idx="10">
                  <c:v>1.24</c:v>
                </c:pt>
                <c:pt idx="11">
                  <c:v>1.15</c:v>
                </c:pt>
                <c:pt idx="12">
                  <c:v>3.36</c:v>
                </c:pt>
                <c:pt idx="13">
                  <c:v>4.09</c:v>
                </c:pt>
                <c:pt idx="14">
                  <c:v>4.37</c:v>
                </c:pt>
                <c:pt idx="15">
                  <c:v>6.65</c:v>
                </c:pt>
                <c:pt idx="16">
                  <c:v>2.31</c:v>
                </c:pt>
                <c:pt idx="17">
                  <c:v>1.84</c:v>
                </c:pt>
                <c:pt idx="18">
                  <c:v>3.63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5400000"/>
          <a:lstStyle/>
          <a:p>
            <a:pPr>
              <a:defRPr sz="8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2717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 al día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2717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0-2 m</c:v>
                  </c:pt>
                  <c:pt idx="1">
                    <c:v>3-5 m</c:v>
                  </c:pt>
                  <c:pt idx="2">
                    <c:v>6-8 m</c:v>
                  </c:pt>
                  <c:pt idx="3">
                    <c:v>9-11 m</c:v>
                  </c:pt>
                  <c:pt idx="4">
                    <c:v>12-14 m</c:v>
                  </c:pt>
                  <c:pt idx="5">
                    <c:v>15-17 m</c:v>
                  </c:pt>
                  <c:pt idx="6">
                    <c:v>18-23 m</c:v>
                  </c:pt>
                  <c:pt idx="7">
                    <c:v>24+ 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990</c:v>
                </c:pt>
                <c:pt idx="1">
                  <c:v>779</c:v>
                </c:pt>
                <c:pt idx="2">
                  <c:v>493</c:v>
                </c:pt>
                <c:pt idx="3">
                  <c:v>236</c:v>
                </c:pt>
                <c:pt idx="4">
                  <c:v>151</c:v>
                </c:pt>
                <c:pt idx="5">
                  <c:v>104</c:v>
                </c:pt>
                <c:pt idx="6">
                  <c:v>93</c:v>
                </c:pt>
                <c:pt idx="7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50" u="none">
                  <a:solidFill>
                    <a:srgbClr val="62717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Entrada esperada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2717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0-2 m</c:v>
                  </c:pt>
                  <c:pt idx="1">
                    <c:v>3-5 m</c:v>
                  </c:pt>
                  <c:pt idx="2">
                    <c:v>6-8 m</c:v>
                  </c:pt>
                  <c:pt idx="3">
                    <c:v>9-11 m</c:v>
                  </c:pt>
                  <c:pt idx="4">
                    <c:v>12-14 m</c:v>
                  </c:pt>
                  <c:pt idx="5">
                    <c:v>15-17 m</c:v>
                  </c:pt>
                  <c:pt idx="6">
                    <c:v>18-23 m</c:v>
                  </c:pt>
                  <c:pt idx="7">
                    <c:v>24+ 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104.9</c:v>
                </c:pt>
                <c:pt idx="1">
                  <c:v>77.1</c:v>
                </c:pt>
                <c:pt idx="2">
                  <c:v>55.2</c:v>
                </c:pt>
                <c:pt idx="3">
                  <c:v>28.8</c:v>
                </c:pt>
                <c:pt idx="4">
                  <c:v>16.3</c:v>
                </c:pt>
                <c:pt idx="5">
                  <c:v>12.7</c:v>
                </c:pt>
                <c:pt idx="6">
                  <c:v>14.4</c:v>
                </c:pt>
                <c:pt idx="7">
                  <c:v>2.5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50" u="none">
                  <a:solidFill>
                    <a:srgbClr val="62717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8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 1%</c:v>
                  </c:pt>
                  <c:pt idx="1">
                    <c:v>Top 5%</c:v>
                  </c:pt>
                  <c:pt idx="2">
                    <c:v>Top 10%</c:v>
                  </c:pt>
                  <c:pt idx="3">
                    <c:v>Top 20%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12.1</c:v>
                </c:pt>
                <c:pt idx="2">
                  <c:v>21</c:v>
                </c:pt>
                <c:pt idx="3">
                  <c:v>36.4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8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8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</c:v>
                </c:pt>
                <c:pt idx="1">
                  <c:v>44.3</c:v>
                </c:pt>
                <c:pt idx="2">
                  <c:v>74.4</c:v>
                </c:pt>
                <c:pt idx="3">
                  <c:v>93.7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8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DF0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mazo es técnico. El mensaje incómodo está en la lámina 3: ninguna variable del archivo discrimina riesgo salvo la edad del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por aquí evita que el comité asuma que lo que no se mencionó está bien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desarma cualquier propuesta de política basada en las variables actuales. Es el argumento para pedir los campos que faltan.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es la que explica por qué no hay que alarmarse con el hazard creciente, y por qué el ICV de las cosechas viejas se ve tan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insumo directo del cálculo de provisión. El rango importa tanto como el punto 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Decirlo antes de que lo encuentre alguien más. La conclusión de fondo del informe a junta no cambia; el respaldo de una de las tres decisiones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CRÉDITO Y CARTERA · SEPTIEMBRE DE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único que predice la mora</a:t>
            </a:r>
            <a:endParaRPr lang="en-US" sz="34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paso del tiempo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análisis sobre los mismos datos, y lo que cada uno permite decidir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853 créditos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del modelo, dentro de su plazo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transiciones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 mes, excluyendo el castigo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3348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31-ago-2026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3348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corte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el informe a junta. Aquí no se resume el trimestre: se prueba qué mueve el riesgo y qué parámetros de política cambiarlo implica.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las seis decisiones del comité, este archivo responde dos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 un solo gráfico: qué se puede decidir con estos datos y qué no.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1325880"/>
                <a:gridCol w="470001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responde?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qué, o por qué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y cuándo poner el esfuerzo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hazard, de cura y concentración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 falta por aflorar de lo ya colocado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Proyección de cosechas y migración de calificación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quién le prestamos demasiado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exposición por deudor, no ingresos ni deuda externa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 dura de verdad la cartera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ve el prepago, no el calendario de pagos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quién prestar, cuánto y a qué plazo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variable del archivo discrimina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de corte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poner la línea de aprobación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score, ni cuota inicial, ni solicitudes rechazadas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filas rojas son las que más plata valen, y son precisamente las que este archivo no permite responder. La lámina 13 dice qué dato haría falta para cada una.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CENTRAL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característica del crédito separa buenos de malos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sobre 853 créditos vivos dentro de su plazo pactado, cosechas 2024-2026. Prueba de razón de verosimilitud contra el modelo que solo usa la edad.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37160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¿Discrimina?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del crédito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1,10 por 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de venta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grados de libertad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grados de libertad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(3,5% vs 3,8%)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9,5% vs 9,5%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Codeudor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6,9% vs 11,1%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del crédito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r = -0,015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304288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del crédito es el único predictor sólido: cada mes adicional multiplica por 1,10 la probabilidad de estar en mora 30+.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venta queda en 0,083 — sugestivo, pero no concluyente con esta muestra.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Tasa, monto, plazo y codeudor no aportan nada. Con lo que hay en el archivo no se puede construir una política de originación: no porque no exista diferencia, sino porque los campos que la revelarían no están.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excluyen los créditos vivos pasados de su plazo pactado (86 de 1.213): siguen en el libro precisamente porque no pagaron, y el 93% está en mora. Incluirlos fabricaría una relación entre plazo y riesgo que no existe.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· CUÁNDO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 de caer en mora sube con la edad; no hay zona segura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créditos que estaban al día, qué porcentaje entra en mora al mes siguiente, según los meses que llevan en libros. Promedio de cinco transiciones mensuales.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71323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contrario de lo que se espera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04288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crédito de consumo lo normal es que el riesgo haga pico entre los meses 6 y 12 y después ceda: el que sobrevivió el primer año ya demostró que paga.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pasa al revés. Un crédito de más de 18 meses tiene 15,4% de probabilidad mensual de entrar en mora, contra 10,6% de uno recién desembolsado.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está en la lámina siguiente.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47091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BF2EC"/>
          </a:solidFill>
          <a:ln w="9525">
            <a:solidFill>
              <a:srgbClr val="FB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0456" y="4864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la cobranza preventiva no puede concentrarse solo en los primeros meses.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en mora = pasar de 0 días a 1 o más. Se excluye la transición jun→jul 2026 por el castigo. Solo se muestran tramos con 30 o más créditos expuestos.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SUBE EL RIESGO CON LA EDAD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que pagan bien se van antes, y el libro se va quedando con el resto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créditos sanos que salen del libro cada mes —pagan anticipado o cancelan— según su edad.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7132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adversa por atrición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04288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crédito sano de 18 a 23 meses tiene 12,9% de probabilidad mensual de salir del libro, contra 3,2% de uno nuevo. Los buenos clientes prepagan.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es mecánico: si cada mes se van los que pagan, lo que queda concentra a los que no. Por eso el hazard de la lámina anterior sube, sin que la calidad de la originación haya empeorado.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riesgo, es un problema de medición: cualquier indicador calculado sobre créditos vivos hereda este sesgo.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54406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BF2EC"/>
          </a:solidFill>
          <a:ln w="9525">
            <a:solidFill>
              <a:srgbClr val="FB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0456" y="5596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medir siempre a edad constante. Todo indicador sobre créditos vivos exagera el deterioro.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cuentan como salida los créditos con 30 días de mora o menos que desaparecen del corte siguiente. Los castigos de julio se excluyen.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· HASTA CUÁNDO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los 180 días no se recuperó un solo crédito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créditos que estaban en cada altura de mora, qué porcentaje bajó de 30 días al mes siguiente.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71323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acantilado está a los 90 días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0428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balde de 31 a 60 días se recupera casi un tercio. Del de 61 a 90, uno de cada ocho. Pasados los 90, uno de cada treinta.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1.036 créditos observados con más de 180 días de mora, ninguno volvió a estar por debajo de 30 días. Cero, en cinco transiciones.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convierte los 180 días en una frontera operativa: después de ahí lo que queda es recuperar la garantía, y el crédito debería estar castigado o en proceso jurídico.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49834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BF2EC"/>
          </a:solidFill>
          <a:ln w="9525">
            <a:solidFill>
              <a:srgbClr val="FB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0456" y="5138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concentrar cobranza en 31-90 días y definir política de castigo a 180.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cinco transiciones mensuales, medido en número de créditos. Solo se muestran tramos con 20 o más observaciones.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calificación B es la bisagra: un tercio mejora, un tercio cae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dónde va el saldo de cada calificación al mes siguiente. Promedio de cinco transiciones, ponderado por saldo.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6949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87552"/>
                <a:gridCol w="987552"/>
                <a:gridCol w="987552"/>
                <a:gridCol w="987552"/>
                <a:gridCol w="987552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3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C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212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mejora · Rojo: se deteriora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lecturas para provisión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304288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 es estable: 94,6% sigue en A. La E es absorbente: 98% se queda ahí y nada sale.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 es donde se decide todo. Un tercio vuelve a A, un tercio se queda y un tercio cae a C. Y desde C, el 53% cae a D en un solo mes.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de gestión: el crédito calificado B todavía se puede salvar; el calificado C ya está en caída y conviene provisionarlo como si fuera 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544068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BF2EC"/>
          </a:solidFill>
          <a:ln w="9525">
            <a:solidFill>
              <a:srgbClr val="FBF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91856" y="5650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9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provisionar la calificación C como si fuera D.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 la transición jun→jul 2026. "Sale" es saldo que desaparece del corte siguiente por pago, cancelación o castigo.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· CUÁNTO FALTA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 ya colocado faltan por aflorar unos COP 156 millones de mora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del pico de mora de las 19 cosechas que aún no maduran, aplicando los factores de desarrollo de las 24 cosechas que ya llegaron a los 25 meses.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7406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96596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2F5F8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57616" y="21305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 156 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357616" y="27340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por aflorar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357616" y="29992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COP 6.044 M de colocación aún inmadura. Rango intercuartil: 247 a 428 M.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138160" y="36118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2F5F8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7616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el rango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357616" y="4069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no es un intervalo de confianza: es la dispersión real de los factores de desarrollo entre las cosechas maduras.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cosechas de may-2026 en adelante no se proyectan: a los tres meses el factor mediano es 15x, con un rango de 8,7x a 35x.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proyecta el pico de mora 30+ sobre la colocación, no la pérdida final: el archivo no trae castigos ni recuperación de garantía. Quedan fuera 4 cosechas de 2026 por COP 1.841 M, demasiado jóvenes para proyectar.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62% del libro sano tiene menos de seis meses: su riesgo todavía no se ha visto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al día por edad del crédito, y cuánto de cada tramo se espera que entre en mora cada mes según la curva de hazard.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1783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al día, en millones de COP</a:t>
            </a:r>
            <a:endParaRPr lang="en-US" sz="10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9659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783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esperada a mora cada mes, en millones de COP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COP 2.860 millones al día, la curva de hazard implica unos COP 312 millones entrando en mora cada mes. Casi todo es mora de 1 a 30 días, de la que el 41% se cura sola: no es pérdida, es el caudal que la cobranza tiene que atender.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esperada = saldo al día del tramo × hazard del tramo. Es un ejercicio determinista sobre la cartera de hoy, sin nueva originación.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problema de concentración por deudor; sí lo hay en dónde está la mora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medidas distintas: cuánto saldo acumula el top de deudores, y cuántos créditos concentran la mora.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4884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19385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saldo que acumula el top de deudores</a:t>
            </a:r>
            <a:endParaRPr lang="en-US" sz="10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4884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9385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la mora que concentran los peores créditos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deudor más grande no llega al 1% del saldo y el top 10% apenas suma el 21%: para una cartera de consumo eso es sano, y no justifica un tope por deudor. La concentración está en el otro lado: el 10% peor de los créditos tiene el 74% de la mora. La cobranza no se reparte, se focaliza.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viva a ago-2026: 1.213 créditos de 1.195 deudores. Solo 18 deudores tienen más de un crédito, muy pocos para medir si el cliente recurrente es mejor riesgo.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AL INFORME PRESENTADO A JUNTA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diferencia entre puntos de venta no resiste la prueba estadística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3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dijimos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127248" y="196596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venta pesa diez veces más que el plazo o la garantía, y cerrar la brecha de los dos peores vale COP 71 millones al año.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3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estaba mal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27248" y="299008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comparación mezclaba créditos de edades distintas. Los puntos no originan al mismo ritmo, así que buena parte de la diferencia era edad, no riesgo.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3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resiste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4014216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la edad, el punto de venta queda en p = 0,083 y ningún punto es significativo por separado. Al medir todo al mes 6, p = 0,91. La diferencia observada es compatible con azar.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38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3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cambia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127248" y="5038344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plazo, el monto, la tasa y el codeudor tampoco discriminan. La conclusión de fondo se sostiene: con estos campos no hay política de originación posible.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sigue teniendo sentido —auditar dos puntos cuesta poco y la señal, aunque débil, apunta en una dirección— pero se somete como decisión bajo incertidumbre, no como hallazgo probado.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parámetros que el análisis permite mover hoy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que tienen un número detrás. Los demás quedan abiertos hasta que existan los datos.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920240"/>
                <a:gridCol w="2148840"/>
                <a:gridCol w="447141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62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 se sostiene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de cobranza temprana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tramo definido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a 90 días de mora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 balde 31-60 se cura el 31%; del 61-90, el 12%; pasados los 90, el 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castigo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definida en el archivo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los 180 días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 de los 1.036 créditos con más de 180 días volvió por debajo de 30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Provisión adicional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del modelo actual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COP 156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proyectado de las cosechas inmaduras, rango intercuartil 247 a 428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 de la calificación 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Provisión de 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Provisionar como 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53% del saldo en C cae a D en un solo mes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Tope de exposición por deudor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crearlo todavía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top 10% de deudores concentra 21% del saldo: no hay problema que resolver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Cobranza por crédito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Repartida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Focalizada en 122 créditos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10% peor concentra el 74% de la mora, COP 541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9893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propuestas toca la política de originación: con los campos disponibles no hay evidencia para moverla en ningún sentido.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DATOS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campos que convierten esto en una política de crédito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la decisión que desbloquea y el costo de no tenerlo.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92608" cy="292608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836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inicial y precio de factura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883664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cuota inicial mínima por segmento. Es el driver de riesgo número uno en motos y hoy no se puede medir.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292608" cy="292608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88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buró en la originación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2688336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el punto de corte de aprobación y construir un scorecard propio.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66928" y="3511296"/>
            <a:ext cx="292608" cy="292608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93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rechazadas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49300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ellas, cualquier modelo se entrena solo sobre aprobados y no dice nada sobre a quién más se podría prestar.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6928" y="4315968"/>
            <a:ext cx="292608" cy="292608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297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comercial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10328" y="429768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Señalar responsabilidad dentro de un punto de venta, no solo el punto entero.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292608" cy="292608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102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castigo y de recuperación de garantía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910328" y="5102352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pérdida real, no solo mora. Hoy se proyecta el pico de mora porque la pérdida no es observable.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primeros no requieren desarrollo: ya existen en el proceso comercial y en la consulta de buró que se hace al aprobar. Lo que falta es que queden guardados en el reporte mensual.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18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construyó cada análisis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reproducible desde el archivo original con analizar_cosechas.py y comite/preparar_comite.py. Tablas fuente en comite/ y datos/.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F2F5F8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metodológicas que importan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 siempre la transición de junio a julio de 2026: el castigo la distorsiona.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excluyen los créditos vivos pasados de su plazo pactado: siguen ahí porque no pagaron, y el 93% está en mora. Incluirlos fabrica relaciones falsas entre plazo y riesgo.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corte por crédito en la regresión, y ninguna tasa con menos de 30 observaciones.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327648" y="187452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F2F5F8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estos números NO son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proyección es del pico de mora 30+, no de la pérdida final: el archivo no trae castigos ni recuperación de garantía.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es la dispersión histórica de los factores entre cosechas, no un intervalo de confianza.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medido sobre créditos vivos hereda el sesgo de la lámina 5, y no hay inferencia posible sobre los rechazados.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 de muestra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7731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buSzPct val="100000"/>
              <a:buChar char="–"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logística: 853 créditos, 17% en mora 30+, cosechas 2024-2026 dentro de su plazo.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1206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buSzPct val="100000"/>
              <a:buChar char="–"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y cura: cinco transiciones mensuales entre feb y ago de 2026, entre 1.183 y 66 créditos expuestos por tramo de edad.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468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buSzPct val="100000"/>
              <a:buChar char="–"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desarrollo: 24 cosechas con 25 meses o más observados, entre ene-2022 y jun-2024.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815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buSzPct val="100000"/>
              <a:buChar char="–"/>
            </a:pPr>
            <a:r>
              <a:rPr lang="en-US" sz="1020" dirty="0">
                <a:solidFill>
                  <a:srgbClr val="62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calificación: cinco transiciones, ponderadas por saldo de capital.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Analítica de riesgo — comité de crédito y cartera</dc:title>
  <dc:subject>PptxGenJS Presentation</dc:subject>
  <dc:creator>Districolmotos</dc:creator>
  <cp:lastModifiedBy>Districolmotos</cp:lastModifiedBy>
  <cp:revision>1</cp:revision>
  <dcterms:created xsi:type="dcterms:W3CDTF">2026-09-11T20:19:42Z</dcterms:created>
  <dcterms:modified xsi:type="dcterms:W3CDTF">2026-09-11T20:19:42Z</dcterms:modified>
</cp:coreProperties>
</file>