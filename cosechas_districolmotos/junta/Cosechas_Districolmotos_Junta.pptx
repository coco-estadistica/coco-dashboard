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Cosechas 2022</c:v>
                </c:pt>
              </c:strCache>
            </c:strRef>
          </c:tx>
          <c:spPr>
            <a:solidFill>
              <a:srgbClr val="9EC5F4"/>
            </a:solidFill>
            <a:ln w="31750" cap="flat">
              <a:solidFill>
                <a:srgbClr val="9EC5F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EC5F4"/>
              </a:solidFill>
              <a:ln w="9525" cap="flat">
                <a:solidFill>
                  <a:srgbClr val="9EC5F4"/>
                </a:solidFill>
                <a:prstDash val="solid"/>
                <a:round/>
              </a:ln>
              <a:effectLst/>
            </c:spPr>
          </c:marker>
          <c:cat>
            <c:multiLvlStrRef>
              <c:f>Sheet1!$A$2:$A$38</c:f>
              <c:multiLvlStrCache>
                <c:ptCount val="37"/>
                <c:lvl>
                  <c:pt idx="0">
                    <c:v>0</c:v>
                  </c:pt>
                  <c:pt idx="1">
                    <c:v> </c:v>
                  </c:pt>
                  <c:pt idx="2">
                    <c:v> </c:v>
                  </c:pt>
                  <c:pt idx="3">
                    <c:v> </c:v>
                  </c:pt>
                  <c:pt idx="4">
                    <c:v> </c:v>
                  </c:pt>
                  <c:pt idx="5">
                    <c:v> </c:v>
                  </c:pt>
                  <c:pt idx="6">
                    <c:v>6</c:v>
                  </c:pt>
                  <c:pt idx="7">
                    <c:v> </c:v>
                  </c:pt>
                  <c:pt idx="8">
                    <c:v> </c:v>
                  </c:pt>
                  <c:pt idx="9">
                    <c:v> </c:v>
                  </c:pt>
                  <c:pt idx="10">
                    <c:v> </c:v>
                  </c:pt>
                  <c:pt idx="11">
                    <c:v> </c:v>
                  </c:pt>
                  <c:pt idx="12">
                    <c:v>12</c:v>
                  </c:pt>
                  <c:pt idx="13">
                    <c:v> </c:v>
                  </c:pt>
                  <c:pt idx="14">
                    <c:v> </c:v>
                  </c:pt>
                  <c:pt idx="15">
                    <c:v> </c:v>
                  </c:pt>
                  <c:pt idx="16">
                    <c:v> </c:v>
                  </c:pt>
                  <c:pt idx="17">
                    <c:v> </c:v>
                  </c:pt>
                  <c:pt idx="18">
                    <c:v>18</c:v>
                  </c:pt>
                  <c:pt idx="19">
                    <c:v> </c:v>
                  </c:pt>
                  <c:pt idx="20">
                    <c:v> </c:v>
                  </c:pt>
                  <c:pt idx="21">
                    <c:v> </c:v>
                  </c:pt>
                  <c:pt idx="22">
                    <c:v> </c:v>
                  </c:pt>
                  <c:pt idx="23">
                    <c:v> </c:v>
                  </c:pt>
                  <c:pt idx="24">
                    <c:v>24</c:v>
                  </c:pt>
                  <c:pt idx="25">
                    <c:v> </c:v>
                  </c:pt>
                  <c:pt idx="26">
                    <c:v> </c:v>
                  </c:pt>
                  <c:pt idx="27">
                    <c:v> </c:v>
                  </c:pt>
                  <c:pt idx="28">
                    <c:v> </c:v>
                  </c:pt>
                  <c:pt idx="29">
                    <c:v> </c:v>
                  </c:pt>
                  <c:pt idx="30">
                    <c:v>30</c:v>
                  </c:pt>
                  <c:pt idx="31">
                    <c:v> </c:v>
                  </c:pt>
                  <c:pt idx="32">
                    <c:v> </c:v>
                  </c:pt>
                  <c:pt idx="33">
                    <c:v> </c:v>
                  </c:pt>
                  <c:pt idx="34">
                    <c:v> </c:v>
                  </c:pt>
                  <c:pt idx="35">
                    <c:v> </c:v>
                  </c:pt>
                  <c:pt idx="36">
                    <c:v>36</c:v>
                  </c:pt>
                </c:lvl>
              </c:multiLvlStrCache>
            </c:multiLvlStrRef>
          </c:cat>
          <c:val>
            <c:numRef>
              <c:f>Sheet1!$B$2:$B$38</c:f>
              <c:numCache>
                <c:formatCode>General</c:formatCode>
                <c:ptCount val="37"/>
                <c:pt idx="0">
                  <c:v/>
                </c:pt>
                <c:pt idx="1">
                  <c:v/>
                </c:pt>
                <c:pt idx="2">
                  <c:v/>
                </c:pt>
                <c:pt idx="3">
                  <c:v/>
                </c:pt>
                <c:pt idx="4">
                  <c:v/>
                </c:pt>
                <c:pt idx="5">
                  <c:v/>
                </c:pt>
                <c:pt idx="6">
                  <c:v/>
                </c:pt>
                <c:pt idx="7">
                  <c:v/>
                </c:pt>
                <c:pt idx="8">
                  <c:v/>
                </c:pt>
                <c:pt idx="9">
                  <c:v/>
                </c:pt>
                <c:pt idx="10">
                  <c:v/>
                </c:pt>
                <c:pt idx="11">
                  <c:v/>
                </c:pt>
                <c:pt idx="12">
                  <c:v>2.463</c:v>
                </c:pt>
                <c:pt idx="13">
                  <c:v>2.65</c:v>
                </c:pt>
                <c:pt idx="14">
                  <c:v>2.826</c:v>
                </c:pt>
                <c:pt idx="15">
                  <c:v>3.253</c:v>
                </c:pt>
                <c:pt idx="16">
                  <c:v>3.735</c:v>
                </c:pt>
                <c:pt idx="17">
                  <c:v>4.139</c:v>
                </c:pt>
                <c:pt idx="18">
                  <c:v>4.692</c:v>
                </c:pt>
                <c:pt idx="19">
                  <c:v>5.289</c:v>
                </c:pt>
                <c:pt idx="20">
                  <c:v>5.974</c:v>
                </c:pt>
                <c:pt idx="21">
                  <c:v>6.483</c:v>
                </c:pt>
                <c:pt idx="22">
                  <c:v>7.208</c:v>
                </c:pt>
                <c:pt idx="23">
                  <c:v>7.969</c:v>
                </c:pt>
                <c:pt idx="24">
                  <c:v>8.267</c:v>
                </c:pt>
                <c:pt idx="25">
                  <c:v>7.85</c:v>
                </c:pt>
                <c:pt idx="26">
                  <c:v>7.83</c:v>
                </c:pt>
                <c:pt idx="27">
                  <c:v>8.03</c:v>
                </c:pt>
                <c:pt idx="28">
                  <c:v>8.091</c:v>
                </c:pt>
                <c:pt idx="29">
                  <c:v>7.878</c:v>
                </c:pt>
                <c:pt idx="30">
                  <c:v>7.954</c:v>
                </c:pt>
                <c:pt idx="31">
                  <c:v>7.497</c:v>
                </c:pt>
                <c:pt idx="32">
                  <c:v>7.494</c:v>
                </c:pt>
                <c:pt idx="33">
                  <c:v>7.53</c:v>
                </c:pt>
                <c:pt idx="34">
                  <c:v>7.123</c:v>
                </c:pt>
                <c:pt idx="35">
                  <c:v>6.888</c:v>
                </c:pt>
                <c:pt idx="36">
                  <c:v>6.781</c:v>
                </c:pt>
              </c:numCache>
            </c:numRef>
          </c:val>
          <c:smooth val="0"/>
        </c:ser>
        <c:ser>
          <c:idx val="1"/>
          <c:order val="1"/>
          <c:tx>
            <c:strRef>
              <c:f>Sheet1!$C$1</c:f>
              <c:strCache>
                <c:ptCount val="1"/>
                <c:pt idx="0">
                  <c:v>Cosechas 2023</c:v>
                </c:pt>
              </c:strCache>
            </c:strRef>
          </c:tx>
          <c:spPr>
            <a:solidFill>
              <a:srgbClr val="5598E7"/>
            </a:solidFill>
            <a:ln w="31750" cap="flat">
              <a:solidFill>
                <a:srgbClr val="5598E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598E7"/>
              </a:solidFill>
              <a:ln w="9525" cap="flat">
                <a:solidFill>
                  <a:srgbClr val="5598E7"/>
                </a:solidFill>
                <a:prstDash val="solid"/>
                <a:round/>
              </a:ln>
              <a:effectLst/>
            </c:spPr>
          </c:marker>
          <c:cat>
            <c:multiLvlStrRef>
              <c:f>Sheet1!$A$2:$A$38</c:f>
              <c:multiLvlStrCache>
                <c:ptCount val="37"/>
                <c:lvl>
                  <c:pt idx="0">
                    <c:v>0</c:v>
                  </c:pt>
                  <c:pt idx="1">
                    <c:v> </c:v>
                  </c:pt>
                  <c:pt idx="2">
                    <c:v> </c:v>
                  </c:pt>
                  <c:pt idx="3">
                    <c:v> </c:v>
                  </c:pt>
                  <c:pt idx="4">
                    <c:v> </c:v>
                  </c:pt>
                  <c:pt idx="5">
                    <c:v> </c:v>
                  </c:pt>
                  <c:pt idx="6">
                    <c:v>6</c:v>
                  </c:pt>
                  <c:pt idx="7">
                    <c:v> </c:v>
                  </c:pt>
                  <c:pt idx="8">
                    <c:v> </c:v>
                  </c:pt>
                  <c:pt idx="9">
                    <c:v> </c:v>
                  </c:pt>
                  <c:pt idx="10">
                    <c:v> </c:v>
                  </c:pt>
                  <c:pt idx="11">
                    <c:v> </c:v>
                  </c:pt>
                  <c:pt idx="12">
                    <c:v>12</c:v>
                  </c:pt>
                  <c:pt idx="13">
                    <c:v> </c:v>
                  </c:pt>
                  <c:pt idx="14">
                    <c:v> </c:v>
                  </c:pt>
                  <c:pt idx="15">
                    <c:v> </c:v>
                  </c:pt>
                  <c:pt idx="16">
                    <c:v> </c:v>
                  </c:pt>
                  <c:pt idx="17">
                    <c:v> </c:v>
                  </c:pt>
                  <c:pt idx="18">
                    <c:v>18</c:v>
                  </c:pt>
                  <c:pt idx="19">
                    <c:v> </c:v>
                  </c:pt>
                  <c:pt idx="20">
                    <c:v> </c:v>
                  </c:pt>
                  <c:pt idx="21">
                    <c:v> </c:v>
                  </c:pt>
                  <c:pt idx="22">
                    <c:v> </c:v>
                  </c:pt>
                  <c:pt idx="23">
                    <c:v> </c:v>
                  </c:pt>
                  <c:pt idx="24">
                    <c:v>24</c:v>
                  </c:pt>
                  <c:pt idx="25">
                    <c:v> </c:v>
                  </c:pt>
                  <c:pt idx="26">
                    <c:v> </c:v>
                  </c:pt>
                  <c:pt idx="27">
                    <c:v> </c:v>
                  </c:pt>
                  <c:pt idx="28">
                    <c:v> </c:v>
                  </c:pt>
                  <c:pt idx="29">
                    <c:v> </c:v>
                  </c:pt>
                  <c:pt idx="30">
                    <c:v>30</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0.623</c:v>
                </c:pt>
                <c:pt idx="3">
                  <c:v>0.665</c:v>
                </c:pt>
                <c:pt idx="4">
                  <c:v>0.842</c:v>
                </c:pt>
                <c:pt idx="5">
                  <c:v>1.324</c:v>
                </c:pt>
                <c:pt idx="6">
                  <c:v>1.794</c:v>
                </c:pt>
                <c:pt idx="7">
                  <c:v>2.162</c:v>
                </c:pt>
                <c:pt idx="8">
                  <c:v>2.587</c:v>
                </c:pt>
                <c:pt idx="9">
                  <c:v>2.906</c:v>
                </c:pt>
                <c:pt idx="10">
                  <c:v>3.549</c:v>
                </c:pt>
                <c:pt idx="11">
                  <c:v>3.708</c:v>
                </c:pt>
                <c:pt idx="12">
                  <c:v>4.424</c:v>
                </c:pt>
                <c:pt idx="13">
                  <c:v>4.412</c:v>
                </c:pt>
                <c:pt idx="14">
                  <c:v>4.475</c:v>
                </c:pt>
                <c:pt idx="15">
                  <c:v>4.802</c:v>
                </c:pt>
                <c:pt idx="16">
                  <c:v>5.062</c:v>
                </c:pt>
                <c:pt idx="17">
                  <c:v>5.324</c:v>
                </c:pt>
                <c:pt idx="18">
                  <c:v>5.58</c:v>
                </c:pt>
                <c:pt idx="19">
                  <c:v>5.826</c:v>
                </c:pt>
                <c:pt idx="20">
                  <c:v>5.991</c:v>
                </c:pt>
                <c:pt idx="21">
                  <c:v>6.204</c:v>
                </c:pt>
                <c:pt idx="22">
                  <c:v>6.456</c:v>
                </c:pt>
                <c:pt idx="23">
                  <c:v>6.636</c:v>
                </c:pt>
                <c:pt idx="24">
                  <c:v>6.806</c:v>
                </c:pt>
                <c:pt idx="25">
                  <c:v>6.981</c:v>
                </c:pt>
                <c:pt idx="26">
                  <c:v>7.211</c:v>
                </c:pt>
                <c:pt idx="27">
                  <c:v>7.489</c:v>
                </c:pt>
                <c:pt idx="28">
                  <c:v>7.564</c:v>
                </c:pt>
                <c:pt idx="29">
                  <c:v>7.778</c:v>
                </c:pt>
                <c:pt idx="30">
                  <c:v>7.78</c:v>
                </c:pt>
                <c:pt idx="31">
                  <c:v/>
                </c:pt>
                <c:pt idx="32">
                  <c:v/>
                </c:pt>
                <c:pt idx="33">
                  <c:v/>
                </c:pt>
                <c:pt idx="34">
                  <c:v/>
                </c:pt>
                <c:pt idx="35">
                  <c:v/>
                </c:pt>
                <c:pt idx="36">
                  <c:v/>
                </c:pt>
              </c:numCache>
            </c:numRef>
          </c:val>
          <c:smooth val="0"/>
        </c:ser>
        <c:ser>
          <c:idx val="2"/>
          <c:order val="2"/>
          <c:tx>
            <c:strRef>
              <c:f>Sheet1!$D$1</c:f>
              <c:strCache>
                <c:ptCount val="1"/>
                <c:pt idx="0">
                  <c:v>Cosechas 2024</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6</c:v>
                  </c:pt>
                  <c:pt idx="7">
                    <c:v> </c:v>
                  </c:pt>
                  <c:pt idx="8">
                    <c:v> </c:v>
                  </c:pt>
                  <c:pt idx="9">
                    <c:v> </c:v>
                  </c:pt>
                  <c:pt idx="10">
                    <c:v> </c:v>
                  </c:pt>
                  <c:pt idx="11">
                    <c:v> </c:v>
                  </c:pt>
                  <c:pt idx="12">
                    <c:v>12</c:v>
                  </c:pt>
                  <c:pt idx="13">
                    <c:v> </c:v>
                  </c:pt>
                  <c:pt idx="14">
                    <c:v> </c:v>
                  </c:pt>
                  <c:pt idx="15">
                    <c:v> </c:v>
                  </c:pt>
                  <c:pt idx="16">
                    <c:v> </c:v>
                  </c:pt>
                  <c:pt idx="17">
                    <c:v> </c:v>
                  </c:pt>
                  <c:pt idx="18">
                    <c:v>18</c:v>
                  </c:pt>
                  <c:pt idx="19">
                    <c:v> </c:v>
                  </c:pt>
                  <c:pt idx="20">
                    <c:v> </c:v>
                  </c:pt>
                  <c:pt idx="21">
                    <c:v> </c:v>
                  </c:pt>
                  <c:pt idx="22">
                    <c:v> </c:v>
                  </c:pt>
                  <c:pt idx="23">
                    <c:v> </c:v>
                  </c:pt>
                  <c:pt idx="24">
                    <c:v>24</c:v>
                  </c:pt>
                  <c:pt idx="25">
                    <c:v> </c:v>
                  </c:pt>
                  <c:pt idx="26">
                    <c:v> </c:v>
                  </c:pt>
                  <c:pt idx="27">
                    <c:v> </c:v>
                  </c:pt>
                  <c:pt idx="28">
                    <c:v> </c:v>
                  </c:pt>
                  <c:pt idx="29">
                    <c:v> </c:v>
                  </c:pt>
                  <c:pt idx="30">
                    <c:v>30</c:v>
                  </c:pt>
                  <c:pt idx="31">
                    <c:v> </c:v>
                  </c:pt>
                  <c:pt idx="32">
                    <c:v> </c:v>
                  </c:pt>
                  <c:pt idx="33">
                    <c:v> </c:v>
                  </c:pt>
                  <c:pt idx="34">
                    <c:v> </c:v>
                  </c:pt>
                  <c:pt idx="35">
                    <c:v> </c:v>
                  </c:pt>
                  <c:pt idx="36">
                    <c:v>36</c:v>
                  </c:pt>
                </c:lvl>
              </c:multiLvlStrCache>
            </c:multiLvlStrRef>
          </c:cat>
          <c:val>
            <c:numRef>
              <c:f>Sheet1!$D$2:$D$38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3"/>
          <c:order val="3"/>
          <c:tx>
            <c:strRef>
              <c:f>Sheet1!$E$1</c:f>
              <c:strCache>
                <c:ptCount val="1"/>
                <c:pt idx="0">
                  <c:v>Cosechas 2025</c:v>
                </c:pt>
              </c:strCache>
            </c:strRef>
          </c:tx>
          <c:spPr>
            <a:solidFill>
              <a:srgbClr val="1C5CAB"/>
            </a:solidFill>
            <a:ln w="31750" cap="flat">
              <a:solidFill>
                <a:srgbClr val="1C5CA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C5CAB"/>
              </a:solidFill>
              <a:ln w="9525" cap="flat">
                <a:solidFill>
                  <a:srgbClr val="1C5CAB"/>
                </a:solidFill>
                <a:prstDash val="solid"/>
                <a:round/>
              </a:ln>
              <a:effectLst/>
            </c:spPr>
          </c:marker>
          <c:cat>
            <c:multiLvlStrRef>
              <c:f>Sheet1!$A$2:$A$38</c:f>
              <c:multiLvlStrCache>
                <c:ptCount val="37"/>
                <c:lvl>
                  <c:pt idx="0">
                    <c:v>0</c:v>
                  </c:pt>
                  <c:pt idx="1">
                    <c:v> </c:v>
                  </c:pt>
                  <c:pt idx="2">
                    <c:v> </c:v>
                  </c:pt>
                  <c:pt idx="3">
                    <c:v> </c:v>
                  </c:pt>
                  <c:pt idx="4">
                    <c:v> </c:v>
                  </c:pt>
                  <c:pt idx="5">
                    <c:v> </c:v>
                  </c:pt>
                  <c:pt idx="6">
                    <c:v>6</c:v>
                  </c:pt>
                  <c:pt idx="7">
                    <c:v> </c:v>
                  </c:pt>
                  <c:pt idx="8">
                    <c:v> </c:v>
                  </c:pt>
                  <c:pt idx="9">
                    <c:v> </c:v>
                  </c:pt>
                  <c:pt idx="10">
                    <c:v> </c:v>
                  </c:pt>
                  <c:pt idx="11">
                    <c:v> </c:v>
                  </c:pt>
                  <c:pt idx="12">
                    <c:v>12</c:v>
                  </c:pt>
                  <c:pt idx="13">
                    <c:v> </c:v>
                  </c:pt>
                  <c:pt idx="14">
                    <c:v> </c:v>
                  </c:pt>
                  <c:pt idx="15">
                    <c:v> </c:v>
                  </c:pt>
                  <c:pt idx="16">
                    <c:v> </c:v>
                  </c:pt>
                  <c:pt idx="17">
                    <c:v> </c:v>
                  </c:pt>
                  <c:pt idx="18">
                    <c:v>18</c:v>
                  </c:pt>
                  <c:pt idx="19">
                    <c:v> </c:v>
                  </c:pt>
                  <c:pt idx="20">
                    <c:v> </c:v>
                  </c:pt>
                  <c:pt idx="21">
                    <c:v> </c:v>
                  </c:pt>
                  <c:pt idx="22">
                    <c:v> </c:v>
                  </c:pt>
                  <c:pt idx="23">
                    <c:v> </c:v>
                  </c:pt>
                  <c:pt idx="24">
                    <c:v>24</c:v>
                  </c:pt>
                  <c:pt idx="25">
                    <c:v> </c:v>
                  </c:pt>
                  <c:pt idx="26">
                    <c:v> </c:v>
                  </c:pt>
                  <c:pt idx="27">
                    <c:v> </c:v>
                  </c:pt>
                  <c:pt idx="28">
                    <c:v> </c:v>
                  </c:pt>
                  <c:pt idx="29">
                    <c:v> </c:v>
                  </c:pt>
                  <c:pt idx="30">
                    <c:v>30</c:v>
                  </c:pt>
                  <c:pt idx="31">
                    <c:v> </c:v>
                  </c:pt>
                  <c:pt idx="32">
                    <c:v> </c:v>
                  </c:pt>
                  <c:pt idx="33">
                    <c:v> </c:v>
                  </c:pt>
                  <c:pt idx="34">
                    <c:v> </c:v>
                  </c:pt>
                  <c:pt idx="35">
                    <c:v> </c:v>
                  </c:pt>
                  <c:pt idx="36">
                    <c:v>36</c:v>
                  </c:pt>
                </c:lvl>
              </c:multiLvlStrCache>
            </c:multiLvlStrRef>
          </c:cat>
          <c:val>
            <c:numRef>
              <c:f>Sheet1!$E$2:$E$38</c:f>
              <c:numCache>
                <c:formatCode>General</c:formatCode>
                <c:ptCount val="37"/>
                <c:pt idx="0">
                  <c:v>0</c:v>
                </c:pt>
                <c:pt idx="1">
                  <c:v>0.016</c:v>
                </c:pt>
                <c:pt idx="2">
                  <c:v>0.407</c:v>
                </c:pt>
                <c:pt idx="3">
                  <c:v>0.516</c:v>
                </c:pt>
                <c:pt idx="4">
                  <c:v>0.676</c:v>
                </c:pt>
                <c:pt idx="5">
                  <c:v>0.891</c:v>
                </c:pt>
                <c:pt idx="6">
                  <c:v>1.056</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4"/>
          <c:order val="4"/>
          <c:tx>
            <c:strRef>
              <c:f>Sheet1!$F$1</c:f>
              <c:strCache>
                <c:ptCount val="1"/>
                <c:pt idx="0">
                  <c:v>Cosechas 2026</c:v>
                </c:pt>
              </c:strCache>
            </c:strRef>
          </c:tx>
          <c:spPr>
            <a:solidFill>
              <a:srgbClr val="0D366B"/>
            </a:solidFill>
            <a:ln w="31750" cap="flat">
              <a:solidFill>
                <a:srgbClr val="0D36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366B"/>
              </a:solidFill>
              <a:ln w="9525" cap="flat">
                <a:solidFill>
                  <a:srgbClr val="0D366B"/>
                </a:solidFill>
                <a:prstDash val="solid"/>
                <a:round/>
              </a:ln>
              <a:effectLst/>
            </c:spPr>
          </c:marker>
          <c:cat>
            <c:multiLvlStrRef>
              <c:f>Sheet1!$A$2:$A$38</c:f>
              <c:multiLvlStrCache>
                <c:ptCount val="37"/>
                <c:lvl>
                  <c:pt idx="0">
                    <c:v>0</c:v>
                  </c:pt>
                  <c:pt idx="1">
                    <c:v> </c:v>
                  </c:pt>
                  <c:pt idx="2">
                    <c:v> </c:v>
                  </c:pt>
                  <c:pt idx="3">
                    <c:v> </c:v>
                  </c:pt>
                  <c:pt idx="4">
                    <c:v> </c:v>
                  </c:pt>
                  <c:pt idx="5">
                    <c:v> </c:v>
                  </c:pt>
                  <c:pt idx="6">
                    <c:v>6</c:v>
                  </c:pt>
                  <c:pt idx="7">
                    <c:v> </c:v>
                  </c:pt>
                  <c:pt idx="8">
                    <c:v> </c:v>
                  </c:pt>
                  <c:pt idx="9">
                    <c:v> </c:v>
                  </c:pt>
                  <c:pt idx="10">
                    <c:v> </c:v>
                  </c:pt>
                  <c:pt idx="11">
                    <c:v> </c:v>
                  </c:pt>
                  <c:pt idx="12">
                    <c:v>12</c:v>
                  </c:pt>
                  <c:pt idx="13">
                    <c:v> </c:v>
                  </c:pt>
                  <c:pt idx="14">
                    <c:v> </c:v>
                  </c:pt>
                  <c:pt idx="15">
                    <c:v> </c:v>
                  </c:pt>
                  <c:pt idx="16">
                    <c:v> </c:v>
                  </c:pt>
                  <c:pt idx="17">
                    <c:v> </c:v>
                  </c:pt>
                  <c:pt idx="18">
                    <c:v>18</c:v>
                  </c:pt>
                  <c:pt idx="19">
                    <c:v> </c:v>
                  </c:pt>
                  <c:pt idx="20">
                    <c:v> </c:v>
                  </c:pt>
                  <c:pt idx="21">
                    <c:v> </c:v>
                  </c:pt>
                  <c:pt idx="22">
                    <c:v> </c:v>
                  </c:pt>
                  <c:pt idx="23">
                    <c:v> </c:v>
                  </c:pt>
                  <c:pt idx="24">
                    <c:v>24</c:v>
                  </c:pt>
                  <c:pt idx="25">
                    <c:v> </c:v>
                  </c:pt>
                  <c:pt idx="26">
                    <c:v> </c:v>
                  </c:pt>
                  <c:pt idx="27">
                    <c:v> </c:v>
                  </c:pt>
                  <c:pt idx="28">
                    <c:v> </c:v>
                  </c:pt>
                  <c:pt idx="29">
                    <c:v> </c:v>
                  </c:pt>
                  <c:pt idx="30">
                    <c:v>30</c:v>
                  </c:pt>
                  <c:pt idx="31">
                    <c:v> </c:v>
                  </c:pt>
                  <c:pt idx="32">
                    <c:v> </c:v>
                  </c:pt>
                  <c:pt idx="33">
                    <c:v> </c:v>
                  </c:pt>
                  <c:pt idx="34">
                    <c:v> </c:v>
                  </c:pt>
                  <c:pt idx="35">
                    <c:v> </c:v>
                  </c:pt>
                  <c:pt idx="36">
                    <c:v>36</c:v>
                  </c:pt>
                </c:lvl>
              </c:multiLvlStrCache>
            </c:multiLvlStrRef>
          </c:cat>
          <c:val>
            <c:numRef>
              <c:f>Sheet1!$F$2:$F$38</c:f>
              <c:numCache>
                <c:formatCode>General</c:formatCode>
                <c:ptCount val="37"/>
                <c:pt idx="0">
                  <c:v>0</c:v>
                </c:pt>
                <c:pt idx="1">
                  <c:v>0.016</c:v>
                </c:pt>
                <c:pt idx="2">
                  <c:v>0.147</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B98A5"/>
                    </a:solidFill>
                    <a:latin typeface="Arial"/>
                  </a:defRPr>
                </a:pPr>
                <a:r>
                  <a:rPr sz="1000" b="0" i="0" u="none" strike="noStrike">
                    <a:solidFill>
                      <a:srgbClr val="8B98A5"/>
                    </a:solidFill>
                    <a:latin typeface="Arial"/>
                  </a:rPr>
                  <a:t>Meses en libros desde el desembolso (MOB)</a:t>
                </a:r>
              </a:p>
            </c:rich>
          </c:tx>
          <c:layout/>
          <c:overlay val="0"/>
        </c:title>
        <c:numFmt formatCode="General" sourceLinked="1"/>
        <c:majorTickMark val="out"/>
        <c:minorTickMark val="none"/>
        <c:tickLblPos val="low"/>
        <c:spPr>
          <a:ln w="12700" cap="flat">
            <a:noFill/>
            <a:prstDash val="solid"/>
            <a:round/>
          </a:ln>
        </c:spPr>
        <c:txPr>
          <a:bodyPr/>
          <a:lstStyle/>
          <a:p>
            <a:pPr>
              <a:defRPr sz="100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9525" cap="flat">
              <a:solidFill>
                <a:srgbClr val="EDF0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2717F"/>
                </a:solidFill>
                <a:latin typeface="Arial"/>
              </a:defRPr>
            </a:pPr>
            <a:endParaRPr lang="en-US"/>
          </a:p>
        </c:txPr>
        <c:crossAx val="2094734554"/>
        <c:crosses val="autoZero"/>
        <c:crossBetween val="between"/>
        <c:majorUnit val="3"/>
      </c:valAx>
      <c:spPr>
        <a:noFill/>
        <a:ln>
          <a:noFill/>
        </a:ln>
        <a:effectLst/>
      </c:spPr>
    </c:plotArea>
    <c:legend>
      <c:legendPos val="b"/>
      <c:overlay val="0"/>
      <c:txPr>
        <a:bodyPr/>
        <a:lstStyle/>
        <a:p>
          <a:pPr>
            <a:defRPr sz="1050">
              <a:solidFill>
                <a:srgbClr val="62717F"/>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Cosechas 2023</c:v>
                </c:pt>
              </c:strCache>
            </c:strRef>
          </c:tx>
          <c:spPr>
            <a:solidFill>
              <a:srgbClr val="C4342F"/>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c:f>
              <c:multiLvlStrCache>
                <c:ptCount val="42"/>
                <c:lvl>
                  <c:pt idx="0">
                    <c:v>2022</c:v>
                  </c:pt>
                  <c:pt idx="1">
                    <c:v> </c:v>
                  </c:pt>
                  <c:pt idx="2">
                    <c:v> </c:v>
                  </c:pt>
                  <c:pt idx="3">
                    <c:v> </c:v>
                  </c:pt>
                  <c:pt idx="4">
                    <c:v> </c:v>
                  </c:pt>
                  <c:pt idx="5">
                    <c:v> </c:v>
                  </c:pt>
                  <c:pt idx="6">
                    <c:v> </c:v>
                  </c:pt>
                  <c:pt idx="7">
                    <c:v> </c:v>
                  </c:pt>
                  <c:pt idx="8">
                    <c:v> </c:v>
                  </c:pt>
                  <c:pt idx="9">
                    <c:v> </c:v>
                  </c:pt>
                  <c:pt idx="10">
                    <c:v> </c:v>
                  </c:pt>
                  <c:pt idx="11">
                    <c:v> </c:v>
                  </c:pt>
                  <c:pt idx="12">
                    <c:v>2023</c:v>
                  </c:pt>
                  <c:pt idx="13">
                    <c:v> </c:v>
                  </c:pt>
                  <c:pt idx="14">
                    <c:v> </c:v>
                  </c:pt>
                  <c:pt idx="15">
                    <c:v> </c:v>
                  </c:pt>
                  <c:pt idx="16">
                    <c:v> </c:v>
                  </c:pt>
                  <c:pt idx="17">
                    <c:v> </c:v>
                  </c:pt>
                  <c:pt idx="18">
                    <c:v> </c:v>
                  </c:pt>
                  <c:pt idx="19">
                    <c:v> </c:v>
                  </c:pt>
                  <c:pt idx="20">
                    <c:v> </c:v>
                  </c:pt>
                  <c:pt idx="21">
                    <c:v> </c:v>
                  </c:pt>
                  <c:pt idx="22">
                    <c:v> </c:v>
                  </c:pt>
                  <c:pt idx="23">
                    <c:v> </c:v>
                  </c:pt>
                  <c:pt idx="24">
                    <c:v>2024</c:v>
                  </c:pt>
                  <c:pt idx="25">
                    <c:v> </c:v>
                  </c:pt>
                  <c:pt idx="26">
                    <c:v> </c:v>
                  </c:pt>
                  <c:pt idx="27">
                    <c:v> </c:v>
                  </c:pt>
                  <c:pt idx="28">
                    <c:v> </c:v>
                  </c:pt>
                  <c:pt idx="29">
                    <c:v> </c:v>
                  </c:pt>
                  <c:pt idx="30">
                    <c:v> </c:v>
                  </c:pt>
                  <c:pt idx="31">
                    <c:v> </c:v>
                  </c:pt>
                  <c:pt idx="32">
                    <c:v> </c:v>
                  </c:pt>
                  <c:pt idx="33">
                    <c:v> </c:v>
                  </c:pt>
                  <c:pt idx="34">
                    <c:v> </c:v>
                  </c:pt>
                  <c:pt idx="35">
                    <c:v> </c:v>
                  </c:pt>
                  <c:pt idx="36">
                    <c:v>2025</c:v>
                  </c:pt>
                  <c:pt idx="37">
                    <c:v> </c:v>
                  </c:pt>
                  <c:pt idx="38">
                    <c:v> </c:v>
                  </c:pt>
                  <c:pt idx="39">
                    <c:v> </c:v>
                  </c:pt>
                  <c:pt idx="40">
                    <c:v> </c:v>
                  </c:pt>
                  <c:pt idx="41">
                    <c:v> </c:v>
                  </c:pt>
                </c:lvl>
              </c:multiLvlStrCache>
            </c:multiLvlStrRef>
          </c:cat>
          <c:val>
            <c:numRef>
              <c:f>Sheet1!$B$2:$B$43</c:f>
              <c:numCache>
                <c:formatCode>General</c:formatCode>
                <c:ptCount val="42"/>
                <c:pt idx="0">
                  <c:v/>
                </c:pt>
                <c:pt idx="1">
                  <c:v/>
                </c:pt>
                <c:pt idx="2">
                  <c:v/>
                </c:pt>
                <c:pt idx="3">
                  <c:v/>
                </c:pt>
                <c:pt idx="4">
                  <c:v/>
                </c:pt>
                <c:pt idx="5">
                  <c:v/>
                </c:pt>
                <c:pt idx="6">
                  <c:v/>
                </c:pt>
                <c:pt idx="7">
                  <c:v/>
                </c:pt>
                <c:pt idx="8">
                  <c:v/>
                </c:pt>
                <c:pt idx="9">
                  <c:v/>
                </c:pt>
                <c:pt idx="10">
                  <c:v/>
                </c:pt>
                <c:pt idx="11">
                  <c:v/>
                </c:pt>
                <c:pt idx="12">
                  <c:v>1.75</c:v>
                </c:pt>
                <c:pt idx="13">
                  <c:v>2.78</c:v>
                </c:pt>
                <c:pt idx="14">
                  <c:v>3.82</c:v>
                </c:pt>
                <c:pt idx="15">
                  <c:v>7.42</c:v>
                </c:pt>
                <c:pt idx="16">
                  <c:v>8.49</c:v>
                </c:pt>
                <c:pt idx="17">
                  <c:v>4.55</c:v>
                </c:pt>
                <c:pt idx="18">
                  <c:v>2.7</c:v>
                </c:pt>
                <c:pt idx="19">
                  <c:v>3.7</c:v>
                </c:pt>
                <c:pt idx="20">
                  <c:v>6.22</c:v>
                </c:pt>
                <c:pt idx="21">
                  <c:v>5.19</c:v>
                </c:pt>
                <c:pt idx="22">
                  <c:v>3.72</c:v>
                </c:pt>
                <c:pt idx="23">
                  <c:v>2.01</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numCache>
            </c:numRef>
          </c:val>
        </c:ser>
        <c:ser>
          <c:idx val="1"/>
          <c:order val="1"/>
          <c:tx>
            <c:strRef>
              <c:f>Sheet1!$C$1</c:f>
              <c:strCache>
                <c:ptCount val="1"/>
                <c:pt idx="0">
                  <c:v>Resto de cosechas</c:v>
                </c:pt>
              </c:strCache>
            </c:strRef>
          </c:tx>
          <c:spPr>
            <a:solidFill>
              <a:srgbClr val="C8D2DC"/>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Sheet1!$A$2:$A$43</c:f>
              <c:multiLvlStrCache>
                <c:ptCount val="42"/>
                <c:lvl>
                  <c:pt idx="0">
                    <c:v>2022</c:v>
                  </c:pt>
                  <c:pt idx="1">
                    <c:v> </c:v>
                  </c:pt>
                  <c:pt idx="2">
                    <c:v> </c:v>
                  </c:pt>
                  <c:pt idx="3">
                    <c:v> </c:v>
                  </c:pt>
                  <c:pt idx="4">
                    <c:v> </c:v>
                  </c:pt>
                  <c:pt idx="5">
                    <c:v> </c:v>
                  </c:pt>
                  <c:pt idx="6">
                    <c:v> </c:v>
                  </c:pt>
                  <c:pt idx="7">
                    <c:v> </c:v>
                  </c:pt>
                  <c:pt idx="8">
                    <c:v> </c:v>
                  </c:pt>
                  <c:pt idx="9">
                    <c:v> </c:v>
                  </c:pt>
                  <c:pt idx="10">
                    <c:v> </c:v>
                  </c:pt>
                  <c:pt idx="11">
                    <c:v> </c:v>
                  </c:pt>
                  <c:pt idx="12">
                    <c:v>2023</c:v>
                  </c:pt>
                  <c:pt idx="13">
                    <c:v> </c:v>
                  </c:pt>
                  <c:pt idx="14">
                    <c:v> </c:v>
                  </c:pt>
                  <c:pt idx="15">
                    <c:v> </c:v>
                  </c:pt>
                  <c:pt idx="16">
                    <c:v> </c:v>
                  </c:pt>
                  <c:pt idx="17">
                    <c:v> </c:v>
                  </c:pt>
                  <c:pt idx="18">
                    <c:v> </c:v>
                  </c:pt>
                  <c:pt idx="19">
                    <c:v> </c:v>
                  </c:pt>
                  <c:pt idx="20">
                    <c:v> </c:v>
                  </c:pt>
                  <c:pt idx="21">
                    <c:v> </c:v>
                  </c:pt>
                  <c:pt idx="22">
                    <c:v> </c:v>
                  </c:pt>
                  <c:pt idx="23">
                    <c:v> </c:v>
                  </c:pt>
                  <c:pt idx="24">
                    <c:v>2024</c:v>
                  </c:pt>
                  <c:pt idx="25">
                    <c:v> </c:v>
                  </c:pt>
                  <c:pt idx="26">
                    <c:v> </c:v>
                  </c:pt>
                  <c:pt idx="27">
                    <c:v> </c:v>
                  </c:pt>
                  <c:pt idx="28">
                    <c:v> </c:v>
                  </c:pt>
                  <c:pt idx="29">
                    <c:v> </c:v>
                  </c:pt>
                  <c:pt idx="30">
                    <c:v> </c:v>
                  </c:pt>
                  <c:pt idx="31">
                    <c:v> </c:v>
                  </c:pt>
                  <c:pt idx="32">
                    <c:v> </c:v>
                  </c:pt>
                  <c:pt idx="33">
                    <c:v> </c:v>
                  </c:pt>
                  <c:pt idx="34">
                    <c:v> </c:v>
                  </c:pt>
                  <c:pt idx="35">
                    <c:v> </c:v>
                  </c:pt>
                  <c:pt idx="36">
                    <c:v>2025</c:v>
                  </c:pt>
                  <c:pt idx="37">
                    <c:v> </c:v>
                  </c:pt>
                  <c:pt idx="38">
                    <c:v> </c:v>
                  </c:pt>
                  <c:pt idx="39">
                    <c:v> </c:v>
                  </c:pt>
                  <c:pt idx="40">
                    <c:v> </c:v>
                  </c:pt>
                  <c:pt idx="41">
                    <c:v> </c:v>
                  </c:pt>
                </c:lvl>
              </c:multiLvlStrCache>
            </c:multiLvlStrRef>
          </c:cat>
          <c:val>
            <c:numRef>
              <c:f>Sheet1!$C$2:$C$43</c:f>
              <c:numCache>
                <c:formatCode>General</c:formatCode>
                <c:ptCount val="42"/>
                <c:pt idx="0">
                  <c:v>6.73</c:v>
                </c:pt>
                <c:pt idx="1">
                  <c:v>2.13</c:v>
                </c:pt>
                <c:pt idx="2">
                  <c:v>3.2</c:v>
                </c:pt>
                <c:pt idx="3">
                  <c:v>1.52</c:v>
                </c:pt>
                <c:pt idx="4">
                  <c:v>2.59</c:v>
                </c:pt>
                <c:pt idx="5">
                  <c:v>2</c:v>
                </c:pt>
                <c:pt idx="6">
                  <c:v>2.29</c:v>
                </c:pt>
                <c:pt idx="7">
                  <c:v>2.68</c:v>
                </c:pt>
                <c:pt idx="8">
                  <c:v>4.11</c:v>
                </c:pt>
                <c:pt idx="9">
                  <c:v>0.69</c:v>
                </c:pt>
                <c:pt idx="10">
                  <c:v>2.1</c:v>
                </c:pt>
                <c:pt idx="11">
                  <c:v>1.4</c:v>
                </c:pt>
                <c:pt idx="12">
                  <c:v/>
                </c:pt>
                <c:pt idx="13">
                  <c:v/>
                </c:pt>
                <c:pt idx="14">
                  <c:v/>
                </c:pt>
                <c:pt idx="15">
                  <c:v/>
                </c:pt>
                <c:pt idx="16">
                  <c:v/>
                </c:pt>
                <c:pt idx="17">
                  <c:v/>
                </c:pt>
                <c:pt idx="18">
                  <c:v/>
                </c:pt>
                <c:pt idx="19">
                  <c:v/>
                </c:pt>
                <c:pt idx="20">
                  <c:v/>
                </c:pt>
                <c:pt idx="21">
                  <c:v/>
                </c:pt>
                <c:pt idx="22">
                  <c:v/>
                </c:pt>
                <c:pt idx="23">
                  <c:v/>
                </c:pt>
                <c:pt idx="24">
                  <c:v>1.5</c:v>
                </c:pt>
                <c:pt idx="25">
                  <c:v>0.96</c:v>
                </c:pt>
                <c:pt idx="26">
                  <c:v>2.8</c:v>
                </c:pt>
                <c:pt idx="27">
                  <c:v>3.2</c:v>
                </c:pt>
                <c:pt idx="28">
                  <c:v>3.2</c:v>
                </c:pt>
                <c:pt idx="29">
                  <c:v>2.3</c:v>
                </c:pt>
                <c:pt idx="30">
                  <c:v>2.33</c:v>
                </c:pt>
                <c:pt idx="31">
                  <c:v>2.66</c:v>
                </c:pt>
                <c:pt idx="32">
                  <c:v>2.83</c:v>
                </c:pt>
                <c:pt idx="33">
                  <c:v>0.55</c:v>
                </c:pt>
                <c:pt idx="34">
                  <c:v>3.92</c:v>
                </c:pt>
                <c:pt idx="35">
                  <c:v>1.96</c:v>
                </c:pt>
                <c:pt idx="36">
                  <c:v>3.31</c:v>
                </c:pt>
                <c:pt idx="37">
                  <c:v>2.02</c:v>
                </c:pt>
                <c:pt idx="38">
                  <c:v>2.67</c:v>
                </c:pt>
                <c:pt idx="39">
                  <c:v>1.39</c:v>
                </c:pt>
                <c:pt idx="40">
                  <c:v>1.15</c:v>
                </c:pt>
                <c:pt idx="41">
                  <c:v>3.97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9525" cap="flat">
              <a:solidFill>
                <a:srgbClr val="EDF0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2717F"/>
                </a:solidFill>
                <a:latin typeface="Arial"/>
              </a:defRPr>
            </a:pPr>
            <a:endParaRPr lang="en-US"/>
          </a:p>
        </c:txPr>
        <c:crossAx val="2094734554"/>
        <c:crosses val="autoZero"/>
        <c:crossBetween val="between"/>
        <c:majorUnit val="3"/>
      </c:valAx>
      <c:spPr>
        <a:noFill/>
        <a:ln>
          <a:noFill/>
        </a:ln>
        <a:effectLst/>
      </c:spPr>
    </c:plotArea>
    <c:legend>
      <c:legendPos val="b"/>
      <c:overlay val="0"/>
      <c:txPr>
        <a:bodyPr/>
        <a:lstStyle/>
        <a:p>
          <a:pPr>
            <a:defRPr sz="1050">
              <a:solidFill>
                <a:srgbClr val="62717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ene-2022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
                </c:pt>
                <c:pt idx="8">
                  <c:v/>
                </c:pt>
                <c:pt idx="9">
                  <c:v/>
                </c:pt>
                <c:pt idx="10">
                  <c:v/>
                </c:pt>
                <c:pt idx="11">
                  <c:v/>
                </c:pt>
                <c:pt idx="12">
                  <c:v>6.73</c:v>
                </c:pt>
                <c:pt idx="13">
                  <c:v>6.09</c:v>
                </c:pt>
                <c:pt idx="14">
                  <c:v>7.94</c:v>
                </c:pt>
                <c:pt idx="15">
                  <c:v>9.55</c:v>
                </c:pt>
                <c:pt idx="16">
                  <c:v>10.3</c:v>
                </c:pt>
                <c:pt idx="17">
                  <c:v>10.52</c:v>
                </c:pt>
                <c:pt idx="18">
                  <c:v>10.28</c:v>
                </c:pt>
                <c:pt idx="19">
                  <c:v>10.45</c:v>
                </c:pt>
                <c:pt idx="20">
                  <c:v>11.09</c:v>
                </c:pt>
                <c:pt idx="21">
                  <c:v>13.83</c:v>
                </c:pt>
                <c:pt idx="22">
                  <c:v>18.93</c:v>
                </c:pt>
                <c:pt idx="23">
                  <c:v>21.51</c:v>
                </c:pt>
                <c:pt idx="24">
                  <c:v>22.05</c:v>
                </c:pt>
                <c:pt idx="25">
                  <c:v>15.6</c:v>
                </c:pt>
                <c:pt idx="26">
                  <c:v>14.7</c:v>
                </c:pt>
                <c:pt idx="27">
                  <c:v>14.32</c:v>
                </c:pt>
                <c:pt idx="28">
                  <c:v>11.57</c:v>
                </c:pt>
                <c:pt idx="29">
                  <c:v>12.4</c:v>
                </c:pt>
                <c:pt idx="30">
                  <c:v>9.57</c:v>
                </c:pt>
                <c:pt idx="31">
                  <c:v>9.76</c:v>
                </c:pt>
                <c:pt idx="32">
                  <c:v>9.43</c:v>
                </c:pt>
                <c:pt idx="33">
                  <c:v>9.95</c:v>
                </c:pt>
                <c:pt idx="34">
                  <c:v>9.64</c:v>
                </c:pt>
                <c:pt idx="35">
                  <c:v>7.6</c:v>
                </c:pt>
                <c:pt idx="36">
                  <c:v>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feb-2022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
                </c:pt>
                <c:pt idx="8">
                  <c:v/>
                </c:pt>
                <c:pt idx="9">
                  <c:v/>
                </c:pt>
                <c:pt idx="10">
                  <c:v/>
                </c:pt>
                <c:pt idx="11">
                  <c:v>1.8</c:v>
                </c:pt>
                <c:pt idx="12">
                  <c:v>2.13</c:v>
                </c:pt>
                <c:pt idx="13">
                  <c:v>2.74</c:v>
                </c:pt>
                <c:pt idx="14">
                  <c:v>3.22</c:v>
                </c:pt>
                <c:pt idx="15">
                  <c:v>3.44</c:v>
                </c:pt>
                <c:pt idx="16">
                  <c:v>4.3</c:v>
                </c:pt>
                <c:pt idx="17">
                  <c:v>4.95</c:v>
                </c:pt>
                <c:pt idx="18">
                  <c:v>5.53</c:v>
                </c:pt>
                <c:pt idx="19">
                  <c:v>5.98</c:v>
                </c:pt>
                <c:pt idx="20">
                  <c:v>6.63</c:v>
                </c:pt>
                <c:pt idx="21">
                  <c:v>8.24</c:v>
                </c:pt>
                <c:pt idx="22">
                  <c:v>9.28</c:v>
                </c:pt>
                <c:pt idx="23">
                  <c:v>8.94</c:v>
                </c:pt>
                <c:pt idx="24">
                  <c:v>9.97</c:v>
                </c:pt>
                <c:pt idx="25">
                  <c:v>9.79</c:v>
                </c:pt>
                <c:pt idx="26">
                  <c:v>8.34</c:v>
                </c:pt>
                <c:pt idx="27">
                  <c:v>10</c:v>
                </c:pt>
                <c:pt idx="28">
                  <c:v>10.09</c:v>
                </c:pt>
                <c:pt idx="29">
                  <c:v>10.11</c:v>
                </c:pt>
                <c:pt idx="30">
                  <c:v>10.22</c:v>
                </c:pt>
                <c:pt idx="31">
                  <c:v>9.07</c:v>
                </c:pt>
                <c:pt idx="32">
                  <c:v>9.07</c:v>
                </c:pt>
                <c:pt idx="33">
                  <c:v>9.07</c:v>
                </c:pt>
                <c:pt idx="34">
                  <c:v>7.53</c:v>
                </c:pt>
                <c:pt idx="35">
                  <c:v>7.43</c:v>
                </c:pt>
                <c:pt idx="36">
                  <c:v>7.53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mar-2022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
                </c:pt>
                <c:pt idx="8">
                  <c:v/>
                </c:pt>
                <c:pt idx="9">
                  <c:v/>
                </c:pt>
                <c:pt idx="10">
                  <c:v>2.04</c:v>
                </c:pt>
                <c:pt idx="11">
                  <c:v>2.75</c:v>
                </c:pt>
                <c:pt idx="12">
                  <c:v>3.2</c:v>
                </c:pt>
                <c:pt idx="13">
                  <c:v>3.29</c:v>
                </c:pt>
                <c:pt idx="14">
                  <c:v>4</c:v>
                </c:pt>
                <c:pt idx="15">
                  <c:v>5.04</c:v>
                </c:pt>
                <c:pt idx="16">
                  <c:v>4.79</c:v>
                </c:pt>
                <c:pt idx="17">
                  <c:v>5.95</c:v>
                </c:pt>
                <c:pt idx="18">
                  <c:v>7.1</c:v>
                </c:pt>
                <c:pt idx="19">
                  <c:v>8.1</c:v>
                </c:pt>
                <c:pt idx="20">
                  <c:v>10.45</c:v>
                </c:pt>
                <c:pt idx="21">
                  <c:v>11.12</c:v>
                </c:pt>
                <c:pt idx="22">
                  <c:v>12.16</c:v>
                </c:pt>
                <c:pt idx="23">
                  <c:v>13.83</c:v>
                </c:pt>
                <c:pt idx="24">
                  <c:v>14.18</c:v>
                </c:pt>
                <c:pt idx="25">
                  <c:v>13.59</c:v>
                </c:pt>
                <c:pt idx="26">
                  <c:v>13.82</c:v>
                </c:pt>
                <c:pt idx="27">
                  <c:v>15.24</c:v>
                </c:pt>
                <c:pt idx="28">
                  <c:v>15.99</c:v>
                </c:pt>
                <c:pt idx="29">
                  <c:v>15.53</c:v>
                </c:pt>
                <c:pt idx="30">
                  <c:v>15.62</c:v>
                </c:pt>
                <c:pt idx="31">
                  <c:v>13.3</c:v>
                </c:pt>
                <c:pt idx="32">
                  <c:v>13.3</c:v>
                </c:pt>
                <c:pt idx="33">
                  <c:v>13.17</c:v>
                </c:pt>
                <c:pt idx="34">
                  <c:v>12.97</c:v>
                </c:pt>
                <c:pt idx="35">
                  <c:v>12.97</c:v>
                </c:pt>
                <c:pt idx="36">
                  <c:v>12.8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abr-2022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
                </c:pt>
                <c:pt idx="8">
                  <c:v/>
                </c:pt>
                <c:pt idx="9">
                  <c:v>0.29</c:v>
                </c:pt>
                <c:pt idx="10">
                  <c:v>0.99</c:v>
                </c:pt>
                <c:pt idx="11">
                  <c:v>1.05</c:v>
                </c:pt>
                <c:pt idx="12">
                  <c:v>1.52</c:v>
                </c:pt>
                <c:pt idx="13">
                  <c:v>2.37</c:v>
                </c:pt>
                <c:pt idx="14">
                  <c:v>2.46</c:v>
                </c:pt>
                <c:pt idx="15">
                  <c:v>2.8</c:v>
                </c:pt>
                <c:pt idx="16">
                  <c:v>3.46</c:v>
                </c:pt>
                <c:pt idx="17">
                  <c:v>4.31</c:v>
                </c:pt>
                <c:pt idx="18">
                  <c:v>4.7</c:v>
                </c:pt>
                <c:pt idx="19">
                  <c:v>5.97</c:v>
                </c:pt>
                <c:pt idx="20">
                  <c:v>6.6</c:v>
                </c:pt>
                <c:pt idx="21">
                  <c:v>6.88</c:v>
                </c:pt>
                <c:pt idx="22">
                  <c:v>9.37</c:v>
                </c:pt>
                <c:pt idx="23">
                  <c:v>9.4</c:v>
                </c:pt>
                <c:pt idx="24">
                  <c:v>9.48</c:v>
                </c:pt>
                <c:pt idx="25">
                  <c:v>8.78</c:v>
                </c:pt>
                <c:pt idx="26">
                  <c:v>9.66</c:v>
                </c:pt>
                <c:pt idx="27">
                  <c:v>10.1</c:v>
                </c:pt>
                <c:pt idx="28">
                  <c:v>9.96</c:v>
                </c:pt>
                <c:pt idx="29">
                  <c:v>8.04</c:v>
                </c:pt>
                <c:pt idx="30">
                  <c:v>8.66</c:v>
                </c:pt>
                <c:pt idx="31">
                  <c:v>7.79</c:v>
                </c:pt>
                <c:pt idx="32">
                  <c:v>7.92</c:v>
                </c:pt>
                <c:pt idx="33">
                  <c:v>7.82</c:v>
                </c:pt>
                <c:pt idx="34">
                  <c:v>7.82</c:v>
                </c:pt>
                <c:pt idx="35">
                  <c:v>7.82</c:v>
                </c:pt>
                <c:pt idx="36">
                  <c:v>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may-2022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
                </c:pt>
                <c:pt idx="8">
                  <c:v>0.85</c:v>
                </c:pt>
                <c:pt idx="9">
                  <c:v>0.98</c:v>
                </c:pt>
                <c:pt idx="10">
                  <c:v>1.46</c:v>
                </c:pt>
                <c:pt idx="11">
                  <c:v>2.2</c:v>
                </c:pt>
                <c:pt idx="12">
                  <c:v>2.59</c:v>
                </c:pt>
                <c:pt idx="13">
                  <c:v>2.51</c:v>
                </c:pt>
                <c:pt idx="14">
                  <c:v>2.79</c:v>
                </c:pt>
                <c:pt idx="15">
                  <c:v>3.05</c:v>
                </c:pt>
                <c:pt idx="16">
                  <c:v>3.66</c:v>
                </c:pt>
                <c:pt idx="17">
                  <c:v>3.75</c:v>
                </c:pt>
                <c:pt idx="18">
                  <c:v>3.8</c:v>
                </c:pt>
                <c:pt idx="19">
                  <c:v>4.17</c:v>
                </c:pt>
                <c:pt idx="20">
                  <c:v>4.47</c:v>
                </c:pt>
                <c:pt idx="21">
                  <c:v>5.3</c:v>
                </c:pt>
                <c:pt idx="22">
                  <c:v>5.35</c:v>
                </c:pt>
                <c:pt idx="23">
                  <c:v>6.27</c:v>
                </c:pt>
                <c:pt idx="24">
                  <c:v>4.28</c:v>
                </c:pt>
                <c:pt idx="25">
                  <c:v>4.25</c:v>
                </c:pt>
                <c:pt idx="26">
                  <c:v>4.23</c:v>
                </c:pt>
                <c:pt idx="27">
                  <c:v>4.21</c:v>
                </c:pt>
                <c:pt idx="28">
                  <c:v>4.31</c:v>
                </c:pt>
                <c:pt idx="29">
                  <c:v>4.41</c:v>
                </c:pt>
                <c:pt idx="30">
                  <c:v>4.52</c:v>
                </c:pt>
                <c:pt idx="31">
                  <c:v>4.52</c:v>
                </c:pt>
                <c:pt idx="32">
                  <c:v>4.52</c:v>
                </c:pt>
                <c:pt idx="33">
                  <c:v>4.32</c:v>
                </c:pt>
                <c:pt idx="34">
                  <c:v>4.4</c:v>
                </c:pt>
                <c:pt idx="35">
                  <c:v>4.4</c:v>
                </c:pt>
                <c:pt idx="36">
                  <c:v>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jun-2022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
                </c:pt>
                <c:pt idx="7">
                  <c:v>0.4</c:v>
                </c:pt>
                <c:pt idx="8">
                  <c:v>0.72</c:v>
                </c:pt>
                <c:pt idx="9">
                  <c:v>1.27</c:v>
                </c:pt>
                <c:pt idx="10">
                  <c:v>0.85</c:v>
                </c:pt>
                <c:pt idx="11">
                  <c:v>2.4</c:v>
                </c:pt>
                <c:pt idx="12">
                  <c:v>2</c:v>
                </c:pt>
                <c:pt idx="13">
                  <c:v>2.51</c:v>
                </c:pt>
                <c:pt idx="14">
                  <c:v>2.74</c:v>
                </c:pt>
                <c:pt idx="15">
                  <c:v>3.54</c:v>
                </c:pt>
                <c:pt idx="16">
                  <c:v>4.4</c:v>
                </c:pt>
                <c:pt idx="17">
                  <c:v>5.64</c:v>
                </c:pt>
                <c:pt idx="18">
                  <c:v>6.38</c:v>
                </c:pt>
                <c:pt idx="19">
                  <c:v>6.47</c:v>
                </c:pt>
                <c:pt idx="20">
                  <c:v>6.74</c:v>
                </c:pt>
                <c:pt idx="21">
                  <c:v>6.63</c:v>
                </c:pt>
                <c:pt idx="22">
                  <c:v>5.24</c:v>
                </c:pt>
                <c:pt idx="23">
                  <c:v>7.35</c:v>
                </c:pt>
                <c:pt idx="24">
                  <c:v>8.98</c:v>
                </c:pt>
                <c:pt idx="25">
                  <c:v>8.31</c:v>
                </c:pt>
                <c:pt idx="26">
                  <c:v>8.17</c:v>
                </c:pt>
                <c:pt idx="27">
                  <c:v>7.62</c:v>
                </c:pt>
                <c:pt idx="28">
                  <c:v>7.87</c:v>
                </c:pt>
                <c:pt idx="29">
                  <c:v>8.12</c:v>
                </c:pt>
                <c:pt idx="30">
                  <c:v>8.17</c:v>
                </c:pt>
                <c:pt idx="31">
                  <c:v>8.17</c:v>
                </c:pt>
                <c:pt idx="32">
                  <c:v>8.01</c:v>
                </c:pt>
                <c:pt idx="33">
                  <c:v>8.1</c:v>
                </c:pt>
                <c:pt idx="34">
                  <c:v>7.6</c:v>
                </c:pt>
                <c:pt idx="35">
                  <c:v>7.6</c:v>
                </c:pt>
                <c:pt idx="36">
                  <c:v>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jul-2022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
                </c:pt>
                <c:pt idx="6">
                  <c:v>0.56</c:v>
                </c:pt>
                <c:pt idx="7">
                  <c:v>2.07</c:v>
                </c:pt>
                <c:pt idx="8">
                  <c:v>2.73</c:v>
                </c:pt>
                <c:pt idx="9">
                  <c:v>1.21</c:v>
                </c:pt>
                <c:pt idx="10">
                  <c:v>1.77</c:v>
                </c:pt>
                <c:pt idx="11">
                  <c:v>2.21</c:v>
                </c:pt>
                <c:pt idx="12">
                  <c:v>2.29</c:v>
                </c:pt>
                <c:pt idx="13">
                  <c:v>1.78</c:v>
                </c:pt>
                <c:pt idx="14">
                  <c:v>1.88</c:v>
                </c:pt>
                <c:pt idx="15">
                  <c:v>2.12</c:v>
                </c:pt>
                <c:pt idx="16">
                  <c:v>2.2</c:v>
                </c:pt>
                <c:pt idx="17">
                  <c:v>2.4</c:v>
                </c:pt>
                <c:pt idx="18">
                  <c:v>2.79</c:v>
                </c:pt>
                <c:pt idx="19">
                  <c:v>4.31</c:v>
                </c:pt>
                <c:pt idx="20">
                  <c:v>3.86</c:v>
                </c:pt>
                <c:pt idx="21">
                  <c:v>5.06</c:v>
                </c:pt>
                <c:pt idx="22">
                  <c:v>4.5</c:v>
                </c:pt>
                <c:pt idx="23">
                  <c:v>5.91</c:v>
                </c:pt>
                <c:pt idx="24">
                  <c:v>6.25</c:v>
                </c:pt>
                <c:pt idx="25">
                  <c:v>6.01</c:v>
                </c:pt>
                <c:pt idx="26">
                  <c:v>5.55</c:v>
                </c:pt>
                <c:pt idx="27">
                  <c:v>5.04</c:v>
                </c:pt>
                <c:pt idx="28">
                  <c:v>4.94</c:v>
                </c:pt>
                <c:pt idx="29">
                  <c:v>5.08</c:v>
                </c:pt>
                <c:pt idx="30">
                  <c:v>5.08</c:v>
                </c:pt>
                <c:pt idx="31">
                  <c:v>5.18</c:v>
                </c:pt>
                <c:pt idx="32">
                  <c:v>5.3</c:v>
                </c:pt>
                <c:pt idx="33">
                  <c:v>5.2</c:v>
                </c:pt>
                <c:pt idx="34">
                  <c:v>5.2</c:v>
                </c:pt>
                <c:pt idx="35">
                  <c:v>5.2</c:v>
                </c:pt>
                <c:pt idx="36">
                  <c:v>4.52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ago-2022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
                </c:pt>
                <c:pt idx="5">
                  <c:v>1.96</c:v>
                </c:pt>
                <c:pt idx="6">
                  <c:v>2.42</c:v>
                </c:pt>
                <c:pt idx="7">
                  <c:v>2.56</c:v>
                </c:pt>
                <c:pt idx="8">
                  <c:v>1.22</c:v>
                </c:pt>
                <c:pt idx="9">
                  <c:v>1.49</c:v>
                </c:pt>
                <c:pt idx="10">
                  <c:v>2</c:v>
                </c:pt>
                <c:pt idx="11">
                  <c:v>1.85</c:v>
                </c:pt>
                <c:pt idx="12">
                  <c:v>2.68</c:v>
                </c:pt>
                <c:pt idx="13">
                  <c:v>2.4</c:v>
                </c:pt>
                <c:pt idx="14">
                  <c:v>2.9</c:v>
                </c:pt>
                <c:pt idx="15">
                  <c:v>3.06</c:v>
                </c:pt>
                <c:pt idx="16">
                  <c:v>3.83</c:v>
                </c:pt>
                <c:pt idx="17">
                  <c:v>4.63</c:v>
                </c:pt>
                <c:pt idx="18">
                  <c:v>5.11</c:v>
                </c:pt>
                <c:pt idx="19">
                  <c:v>4.96</c:v>
                </c:pt>
                <c:pt idx="20">
                  <c:v>5.68</c:v>
                </c:pt>
                <c:pt idx="21">
                  <c:v>4.36</c:v>
                </c:pt>
                <c:pt idx="22">
                  <c:v>7.07</c:v>
                </c:pt>
                <c:pt idx="23">
                  <c:v>7.84</c:v>
                </c:pt>
                <c:pt idx="24">
                  <c:v>9.01</c:v>
                </c:pt>
                <c:pt idx="25">
                  <c:v>8.55</c:v>
                </c:pt>
                <c:pt idx="26">
                  <c:v>8.56</c:v>
                </c:pt>
                <c:pt idx="27">
                  <c:v>7.32</c:v>
                </c:pt>
                <c:pt idx="28">
                  <c:v>7.33</c:v>
                </c:pt>
                <c:pt idx="29">
                  <c:v>7.33</c:v>
                </c:pt>
                <c:pt idx="30">
                  <c:v>7.43</c:v>
                </c:pt>
                <c:pt idx="31">
                  <c:v>7.43</c:v>
                </c:pt>
                <c:pt idx="32">
                  <c:v>7.5</c:v>
                </c:pt>
                <c:pt idx="33">
                  <c:v>7.5</c:v>
                </c:pt>
                <c:pt idx="34">
                  <c:v>7.5</c:v>
                </c:pt>
                <c:pt idx="35">
                  <c:v>5.56</c:v>
                </c:pt>
                <c:pt idx="36">
                  <c:v>5.54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sep-2022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
                </c:pt>
                <c:pt idx="4">
                  <c:v>0.7</c:v>
                </c:pt>
                <c:pt idx="5">
                  <c:v>0.99</c:v>
                </c:pt>
                <c:pt idx="6">
                  <c:v>1.24</c:v>
                </c:pt>
                <c:pt idx="7">
                  <c:v>1.57</c:v>
                </c:pt>
                <c:pt idx="8">
                  <c:v>1.81</c:v>
                </c:pt>
                <c:pt idx="9">
                  <c:v>2.64</c:v>
                </c:pt>
                <c:pt idx="10">
                  <c:v>3.02</c:v>
                </c:pt>
                <c:pt idx="11">
                  <c:v>3.76</c:v>
                </c:pt>
                <c:pt idx="12">
                  <c:v>4.11</c:v>
                </c:pt>
                <c:pt idx="13">
                  <c:v>4.24</c:v>
                </c:pt>
                <c:pt idx="14">
                  <c:v>2.42</c:v>
                </c:pt>
                <c:pt idx="15">
                  <c:v>2.73</c:v>
                </c:pt>
                <c:pt idx="16">
                  <c:v>3.31</c:v>
                </c:pt>
                <c:pt idx="17">
                  <c:v>3.21</c:v>
                </c:pt>
                <c:pt idx="18">
                  <c:v>3.62</c:v>
                </c:pt>
                <c:pt idx="19">
                  <c:v>3.57</c:v>
                </c:pt>
                <c:pt idx="20">
                  <c:v>4.43</c:v>
                </c:pt>
                <c:pt idx="21">
                  <c:v>5.1</c:v>
                </c:pt>
                <c:pt idx="22">
                  <c:v>4.58</c:v>
                </c:pt>
                <c:pt idx="23">
                  <c:v>4.68</c:v>
                </c:pt>
                <c:pt idx="24">
                  <c:v>4.53</c:v>
                </c:pt>
                <c:pt idx="25">
                  <c:v>4.82</c:v>
                </c:pt>
                <c:pt idx="26">
                  <c:v>5.04</c:v>
                </c:pt>
                <c:pt idx="27">
                  <c:v>5.26</c:v>
                </c:pt>
                <c:pt idx="28">
                  <c:v>5.26</c:v>
                </c:pt>
                <c:pt idx="29">
                  <c:v>5.46</c:v>
                </c:pt>
                <c:pt idx="30">
                  <c:v>5.46</c:v>
                </c:pt>
                <c:pt idx="31">
                  <c:v>5.7</c:v>
                </c:pt>
                <c:pt idx="32">
                  <c:v>5.7</c:v>
                </c:pt>
                <c:pt idx="33">
                  <c:v>5.7</c:v>
                </c:pt>
                <c:pt idx="34">
                  <c:v>4.26</c:v>
                </c:pt>
                <c:pt idx="35">
                  <c:v>4.42</c:v>
                </c:pt>
                <c:pt idx="36">
                  <c:v>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oct-2022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
                </c:pt>
                <c:pt idx="3">
                  <c:v>0</c:v>
                </c:pt>
                <c:pt idx="4">
                  <c:v>0.3</c:v>
                </c:pt>
                <c:pt idx="5">
                  <c:v>0.04</c:v>
                </c:pt>
                <c:pt idx="6">
                  <c:v>0.34</c:v>
                </c:pt>
                <c:pt idx="7">
                  <c:v>0</c:v>
                </c:pt>
                <c:pt idx="8">
                  <c:v>0.32</c:v>
                </c:pt>
                <c:pt idx="9">
                  <c:v>0.33</c:v>
                </c:pt>
                <c:pt idx="10">
                  <c:v>0.52</c:v>
                </c:pt>
                <c:pt idx="11">
                  <c:v>0.45</c:v>
                </c:pt>
                <c:pt idx="12">
                  <c:v>0.69</c:v>
                </c:pt>
                <c:pt idx="13">
                  <c:v>0.94</c:v>
                </c:pt>
                <c:pt idx="14">
                  <c:v>1.2</c:v>
                </c:pt>
                <c:pt idx="15">
                  <c:v>1.47</c:v>
                </c:pt>
                <c:pt idx="16">
                  <c:v>2.14</c:v>
                </c:pt>
                <c:pt idx="17">
                  <c:v>2.28</c:v>
                </c:pt>
                <c:pt idx="18">
                  <c:v>3.08</c:v>
                </c:pt>
                <c:pt idx="19">
                  <c:v>2.72</c:v>
                </c:pt>
                <c:pt idx="20">
                  <c:v>3.35</c:v>
                </c:pt>
                <c:pt idx="21">
                  <c:v>4.04</c:v>
                </c:pt>
                <c:pt idx="22">
                  <c:v>4.62</c:v>
                </c:pt>
                <c:pt idx="23">
                  <c:v>4.9</c:v>
                </c:pt>
                <c:pt idx="24">
                  <c:v>5.66</c:v>
                </c:pt>
                <c:pt idx="25">
                  <c:v>5.97</c:v>
                </c:pt>
                <c:pt idx="26">
                  <c:v>6.62</c:v>
                </c:pt>
                <c:pt idx="27">
                  <c:v>6.62</c:v>
                </c:pt>
                <c:pt idx="28">
                  <c:v>6.52</c:v>
                </c:pt>
                <c:pt idx="29">
                  <c:v>6.4</c:v>
                </c:pt>
                <c:pt idx="30">
                  <c:v>6.7</c:v>
                </c:pt>
                <c:pt idx="31">
                  <c:v>6.8</c:v>
                </c:pt>
                <c:pt idx="32">
                  <c:v>7.1</c:v>
                </c:pt>
                <c:pt idx="33">
                  <c:v>9.31</c:v>
                </c:pt>
                <c:pt idx="34">
                  <c:v>9.31</c:v>
                </c:pt>
                <c:pt idx="35">
                  <c:v>9.31</c:v>
                </c:pt>
                <c:pt idx="36">
                  <c:v>9.31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nov-2022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
                </c:pt>
                <c:pt idx="2">
                  <c:v>0</c:v>
                </c:pt>
                <c:pt idx="3">
                  <c:v>0</c:v>
                </c:pt>
                <c:pt idx="4">
                  <c:v>0.39</c:v>
                </c:pt>
                <c:pt idx="5">
                  <c:v>0.36</c:v>
                </c:pt>
                <c:pt idx="6">
                  <c:v>0.49</c:v>
                </c:pt>
                <c:pt idx="7">
                  <c:v>0.78</c:v>
                </c:pt>
                <c:pt idx="8">
                  <c:v>1.35</c:v>
                </c:pt>
                <c:pt idx="9">
                  <c:v>1.54</c:v>
                </c:pt>
                <c:pt idx="10">
                  <c:v>0.77</c:v>
                </c:pt>
                <c:pt idx="11">
                  <c:v>0.85</c:v>
                </c:pt>
                <c:pt idx="12">
                  <c:v>2.1</c:v>
                </c:pt>
                <c:pt idx="13">
                  <c:v>2.19</c:v>
                </c:pt>
                <c:pt idx="14">
                  <c:v>1.56</c:v>
                </c:pt>
                <c:pt idx="15">
                  <c:v>1.92</c:v>
                </c:pt>
                <c:pt idx="16">
                  <c:v>1.95</c:v>
                </c:pt>
                <c:pt idx="17">
                  <c:v>2.02</c:v>
                </c:pt>
                <c:pt idx="18">
                  <c:v>0.89</c:v>
                </c:pt>
                <c:pt idx="19">
                  <c:v>2.53</c:v>
                </c:pt>
                <c:pt idx="20">
                  <c:v>2.76</c:v>
                </c:pt>
                <c:pt idx="21">
                  <c:v>3.01</c:v>
                </c:pt>
                <c:pt idx="22">
                  <c:v>3.27</c:v>
                </c:pt>
                <c:pt idx="23">
                  <c:v>3.53</c:v>
                </c:pt>
                <c:pt idx="24">
                  <c:v>3.23</c:v>
                </c:pt>
                <c:pt idx="25">
                  <c:v>3.23</c:v>
                </c:pt>
                <c:pt idx="26">
                  <c:v>3.23</c:v>
                </c:pt>
                <c:pt idx="27">
                  <c:v>3.43</c:v>
                </c:pt>
                <c:pt idx="28">
                  <c:v>3.6</c:v>
                </c:pt>
                <c:pt idx="29">
                  <c:v>3.7</c:v>
                </c:pt>
                <c:pt idx="30">
                  <c:v>3.7</c:v>
                </c:pt>
                <c:pt idx="31">
                  <c:v>3.7</c:v>
                </c:pt>
                <c:pt idx="32">
                  <c:v>3.23</c:v>
                </c:pt>
                <c:pt idx="33">
                  <c:v>3.23</c:v>
                </c:pt>
                <c:pt idx="34">
                  <c:v>3.23</c:v>
                </c:pt>
                <c:pt idx="35">
                  <c:v>3.23</c:v>
                </c:pt>
                <c:pt idx="36">
                  <c:v>3.23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dic-2022</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
                </c:pt>
                <c:pt idx="1">
                  <c:v>0</c:v>
                </c:pt>
                <c:pt idx="2">
                  <c:v>0</c:v>
                </c:pt>
                <c:pt idx="3">
                  <c:v>0</c:v>
                </c:pt>
                <c:pt idx="4">
                  <c:v>0.62</c:v>
                </c:pt>
                <c:pt idx="5">
                  <c:v>0.35</c:v>
                </c:pt>
                <c:pt idx="6">
                  <c:v>0.77</c:v>
                </c:pt>
                <c:pt idx="7">
                  <c:v>0.38</c:v>
                </c:pt>
                <c:pt idx="8">
                  <c:v>0.58</c:v>
                </c:pt>
                <c:pt idx="9">
                  <c:v>0.7</c:v>
                </c:pt>
                <c:pt idx="10">
                  <c:v>0.74</c:v>
                </c:pt>
                <c:pt idx="11">
                  <c:v>0.88</c:v>
                </c:pt>
                <c:pt idx="12">
                  <c:v>1.4</c:v>
                </c:pt>
                <c:pt idx="13">
                  <c:v>1.79</c:v>
                </c:pt>
                <c:pt idx="14">
                  <c:v>3.02</c:v>
                </c:pt>
                <c:pt idx="15">
                  <c:v>3.09</c:v>
                </c:pt>
                <c:pt idx="16">
                  <c:v>3.25</c:v>
                </c:pt>
                <c:pt idx="17">
                  <c:v>0.99</c:v>
                </c:pt>
                <c:pt idx="18">
                  <c:v>3.47</c:v>
                </c:pt>
                <c:pt idx="19">
                  <c:v>4.19</c:v>
                </c:pt>
                <c:pt idx="20">
                  <c:v>4.74</c:v>
                </c:pt>
                <c:pt idx="21">
                  <c:v>5.03</c:v>
                </c:pt>
                <c:pt idx="22">
                  <c:v>4.54</c:v>
                </c:pt>
                <c:pt idx="23">
                  <c:v>4.87</c:v>
                </c:pt>
                <c:pt idx="24">
                  <c:v>5.18</c:v>
                </c:pt>
                <c:pt idx="25">
                  <c:v>5.18</c:v>
                </c:pt>
                <c:pt idx="26">
                  <c:v>5.38</c:v>
                </c:pt>
                <c:pt idx="27">
                  <c:v>5.38</c:v>
                </c:pt>
                <c:pt idx="28">
                  <c:v>5.6</c:v>
                </c:pt>
                <c:pt idx="29">
                  <c:v>5.6</c:v>
                </c:pt>
                <c:pt idx="30">
                  <c:v>5.6</c:v>
                </c:pt>
                <c:pt idx="31">
                  <c:v>5.74</c:v>
                </c:pt>
                <c:pt idx="32">
                  <c:v>5.74</c:v>
                </c:pt>
                <c:pt idx="33">
                  <c:v>5.19</c:v>
                </c:pt>
                <c:pt idx="34">
                  <c:v>4.5</c:v>
                </c:pt>
                <c:pt idx="35">
                  <c:v>4.5</c:v>
                </c:pt>
                <c:pt idx="36">
                  <c:v>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ene-2023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0.21</c:v>
                </c:pt>
                <c:pt idx="3">
                  <c:v>0.61</c:v>
                </c:pt>
                <c:pt idx="4">
                  <c:v>0.42</c:v>
                </c:pt>
                <c:pt idx="5">
                  <c:v>0.39</c:v>
                </c:pt>
                <c:pt idx="6">
                  <c:v>0.35</c:v>
                </c:pt>
                <c:pt idx="7">
                  <c:v>0.51</c:v>
                </c:pt>
                <c:pt idx="8">
                  <c:v>0.57</c:v>
                </c:pt>
                <c:pt idx="9">
                  <c:v>0.84</c:v>
                </c:pt>
                <c:pt idx="10">
                  <c:v>1.42</c:v>
                </c:pt>
                <c:pt idx="11">
                  <c:v>1.66</c:v>
                </c:pt>
                <c:pt idx="12">
                  <c:v>1.75</c:v>
                </c:pt>
                <c:pt idx="13">
                  <c:v>2.81</c:v>
                </c:pt>
                <c:pt idx="14">
                  <c:v>2.72</c:v>
                </c:pt>
                <c:pt idx="15">
                  <c:v>3.86</c:v>
                </c:pt>
                <c:pt idx="16">
                  <c:v>2.68</c:v>
                </c:pt>
                <c:pt idx="17">
                  <c:v>4.48</c:v>
                </c:pt>
                <c:pt idx="18">
                  <c:v>5.13</c:v>
                </c:pt>
                <c:pt idx="19">
                  <c:v>5.58</c:v>
                </c:pt>
                <c:pt idx="20">
                  <c:v>6.04</c:v>
                </c:pt>
                <c:pt idx="21">
                  <c:v>6.4</c:v>
                </c:pt>
                <c:pt idx="22">
                  <c:v>6.74</c:v>
                </c:pt>
                <c:pt idx="23">
                  <c:v>7.47</c:v>
                </c:pt>
                <c:pt idx="24">
                  <c:v>7.47</c:v>
                </c:pt>
                <c:pt idx="25">
                  <c:v>7.33</c:v>
                </c:pt>
                <c:pt idx="26">
                  <c:v>7.33</c:v>
                </c:pt>
                <c:pt idx="27">
                  <c:v>7.5</c:v>
                </c:pt>
                <c:pt idx="28">
                  <c:v>7.7</c:v>
                </c:pt>
                <c:pt idx="29">
                  <c:v>8</c:v>
                </c:pt>
                <c:pt idx="30">
                  <c:v>9.35</c:v>
                </c:pt>
                <c:pt idx="31">
                  <c:v>9.13</c:v>
                </c:pt>
                <c:pt idx="32">
                  <c:v>9.04</c:v>
                </c:pt>
                <c:pt idx="33">
                  <c:v>8.93</c:v>
                </c:pt>
                <c:pt idx="34">
                  <c:v>8.82</c:v>
                </c:pt>
                <c:pt idx="35">
                  <c:v>8.82</c:v>
                </c:pt>
                <c:pt idx="36">
                  <c:v>8.82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feb-2023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0.28</c:v>
                </c:pt>
                <c:pt idx="4">
                  <c:v>0.29</c:v>
                </c:pt>
                <c:pt idx="5">
                  <c:v>0.37</c:v>
                </c:pt>
                <c:pt idx="6">
                  <c:v>0.51</c:v>
                </c:pt>
                <c:pt idx="7">
                  <c:v>0.86</c:v>
                </c:pt>
                <c:pt idx="8">
                  <c:v>1.14</c:v>
                </c:pt>
                <c:pt idx="9">
                  <c:v>1.43</c:v>
                </c:pt>
                <c:pt idx="10">
                  <c:v>1.55</c:v>
                </c:pt>
                <c:pt idx="11">
                  <c:v>1.79</c:v>
                </c:pt>
                <c:pt idx="12">
                  <c:v>2.78</c:v>
                </c:pt>
                <c:pt idx="13">
                  <c:v>3</c:v>
                </c:pt>
                <c:pt idx="14">
                  <c:v>2.66</c:v>
                </c:pt>
                <c:pt idx="15">
                  <c:v>4.13</c:v>
                </c:pt>
                <c:pt idx="16">
                  <c:v>4.32</c:v>
                </c:pt>
                <c:pt idx="17">
                  <c:v>4.85</c:v>
                </c:pt>
                <c:pt idx="18">
                  <c:v>5.15</c:v>
                </c:pt>
                <c:pt idx="19">
                  <c:v>5.59</c:v>
                </c:pt>
                <c:pt idx="20">
                  <c:v>5.78</c:v>
                </c:pt>
                <c:pt idx="21">
                  <c:v>6.29</c:v>
                </c:pt>
                <c:pt idx="22">
                  <c:v>6.65</c:v>
                </c:pt>
                <c:pt idx="23">
                  <c:v>6.65</c:v>
                </c:pt>
                <c:pt idx="24">
                  <c:v>6.25</c:v>
                </c:pt>
                <c:pt idx="25">
                  <c:v>6.5</c:v>
                </c:pt>
                <c:pt idx="26">
                  <c:v>6.8</c:v>
                </c:pt>
                <c:pt idx="27">
                  <c:v>7.2</c:v>
                </c:pt>
                <c:pt idx="28">
                  <c:v>7.4</c:v>
                </c:pt>
                <c:pt idx="29">
                  <c:v>9.37</c:v>
                </c:pt>
                <c:pt idx="30">
                  <c:v>9.8</c:v>
                </c:pt>
                <c:pt idx="31">
                  <c:v>9.89</c:v>
                </c:pt>
                <c:pt idx="32">
                  <c:v>9.98</c:v>
                </c:pt>
                <c:pt idx="33">
                  <c:v>10.07</c:v>
                </c:pt>
                <c:pt idx="34">
                  <c:v>9.9</c:v>
                </c:pt>
                <c:pt idx="35">
                  <c:v>9.9</c:v>
                </c:pt>
                <c:pt idx="36">
                  <c:v>9.44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mar-2023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0.24</c:v>
                </c:pt>
                <c:pt idx="3">
                  <c:v>0.06</c:v>
                </c:pt>
                <c:pt idx="4">
                  <c:v>0.25</c:v>
                </c:pt>
                <c:pt idx="5">
                  <c:v>0.43</c:v>
                </c:pt>
                <c:pt idx="6">
                  <c:v>0.85</c:v>
                </c:pt>
                <c:pt idx="7">
                  <c:v>1.59</c:v>
                </c:pt>
                <c:pt idx="8">
                  <c:v>1.79</c:v>
                </c:pt>
                <c:pt idx="9">
                  <c:v>1.78</c:v>
                </c:pt>
                <c:pt idx="10">
                  <c:v>2.47</c:v>
                </c:pt>
                <c:pt idx="11">
                  <c:v>2.99</c:v>
                </c:pt>
                <c:pt idx="12">
                  <c:v>3.82</c:v>
                </c:pt>
                <c:pt idx="13">
                  <c:v>3.89</c:v>
                </c:pt>
                <c:pt idx="14">
                  <c:v>3.09</c:v>
                </c:pt>
                <c:pt idx="15">
                  <c:v>4.87</c:v>
                </c:pt>
                <c:pt idx="16">
                  <c:v>5.17</c:v>
                </c:pt>
                <c:pt idx="17">
                  <c:v>4.87</c:v>
                </c:pt>
                <c:pt idx="18">
                  <c:v>5.31</c:v>
                </c:pt>
                <c:pt idx="19">
                  <c:v>5.26</c:v>
                </c:pt>
                <c:pt idx="20">
                  <c:v>5.67</c:v>
                </c:pt>
                <c:pt idx="21">
                  <c:v>5.9</c:v>
                </c:pt>
                <c:pt idx="22">
                  <c:v>5.9</c:v>
                </c:pt>
                <c:pt idx="23">
                  <c:v>5.5</c:v>
                </c:pt>
                <c:pt idx="24">
                  <c:v>5.2</c:v>
                </c:pt>
                <c:pt idx="25">
                  <c:v>5.2</c:v>
                </c:pt>
                <c:pt idx="26">
                  <c:v>5.2</c:v>
                </c:pt>
                <c:pt idx="27">
                  <c:v>5.2</c:v>
                </c:pt>
                <c:pt idx="28">
                  <c:v>4.7</c:v>
                </c:pt>
                <c:pt idx="29">
                  <c:v>3.88</c:v>
                </c:pt>
                <c:pt idx="30">
                  <c:v>4.06</c:v>
                </c:pt>
                <c:pt idx="31">
                  <c:v>3.92</c:v>
                </c:pt>
                <c:pt idx="32">
                  <c:v>3.76</c:v>
                </c:pt>
                <c:pt idx="33">
                  <c:v>3.43</c:v>
                </c:pt>
                <c:pt idx="34">
                  <c:v>3.43</c:v>
                </c:pt>
                <c:pt idx="35">
                  <c:v>3.09</c:v>
                </c:pt>
                <c:pt idx="36">
                  <c:v>3.07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abr-2023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1.13</c:v>
                </c:pt>
                <c:pt idx="3">
                  <c:v>1.48</c:v>
                </c:pt>
                <c:pt idx="4">
                  <c:v>2.3</c:v>
                </c:pt>
                <c:pt idx="5">
                  <c:v>0.9</c:v>
                </c:pt>
                <c:pt idx="6">
                  <c:v>2.34</c:v>
                </c:pt>
                <c:pt idx="7">
                  <c:v>1.86</c:v>
                </c:pt>
                <c:pt idx="8">
                  <c:v>2.56</c:v>
                </c:pt>
                <c:pt idx="9">
                  <c:v>3.28</c:v>
                </c:pt>
                <c:pt idx="10">
                  <c:v>5.51</c:v>
                </c:pt>
                <c:pt idx="11">
                  <c:v>5.98</c:v>
                </c:pt>
                <c:pt idx="12">
                  <c:v>7.42</c:v>
                </c:pt>
                <c:pt idx="13">
                  <c:v>6.97</c:v>
                </c:pt>
                <c:pt idx="14">
                  <c:v>8.05</c:v>
                </c:pt>
                <c:pt idx="15">
                  <c:v>7.25</c:v>
                </c:pt>
                <c:pt idx="16">
                  <c:v>8.35</c:v>
                </c:pt>
                <c:pt idx="17">
                  <c:v>8.46</c:v>
                </c:pt>
                <c:pt idx="18">
                  <c:v>9.12</c:v>
                </c:pt>
                <c:pt idx="19">
                  <c:v>10.21</c:v>
                </c:pt>
                <c:pt idx="20">
                  <c:v>10.43</c:v>
                </c:pt>
                <c:pt idx="21">
                  <c:v>10.43</c:v>
                </c:pt>
                <c:pt idx="22">
                  <c:v>10.13</c:v>
                </c:pt>
                <c:pt idx="23">
                  <c:v>9.8</c:v>
                </c:pt>
                <c:pt idx="24">
                  <c:v>9.8</c:v>
                </c:pt>
                <c:pt idx="25">
                  <c:v>9.8</c:v>
                </c:pt>
                <c:pt idx="26">
                  <c:v>9.9</c:v>
                </c:pt>
                <c:pt idx="27">
                  <c:v>12.44</c:v>
                </c:pt>
                <c:pt idx="28">
                  <c:v>12.94</c:v>
                </c:pt>
                <c:pt idx="29">
                  <c:v>12.84</c:v>
                </c:pt>
                <c:pt idx="30">
                  <c:v>11.91</c:v>
                </c:pt>
                <c:pt idx="31">
                  <c:v>10.51</c:v>
                </c:pt>
                <c:pt idx="32">
                  <c:v>8.62</c:v>
                </c:pt>
                <c:pt idx="33">
                  <c:v>8.62</c:v>
                </c:pt>
                <c:pt idx="34">
                  <c:v>8.48</c:v>
                </c:pt>
                <c:pt idx="35">
                  <c:v>8.3</c:v>
                </c:pt>
                <c:pt idx="36">
                  <c:v>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may-2023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0.85</c:v>
                </c:pt>
                <c:pt idx="3">
                  <c:v>0.72</c:v>
                </c:pt>
                <c:pt idx="4">
                  <c:v>0.95</c:v>
                </c:pt>
                <c:pt idx="5">
                  <c:v>2.01</c:v>
                </c:pt>
                <c:pt idx="6">
                  <c:v>2.43</c:v>
                </c:pt>
                <c:pt idx="7">
                  <c:v>3.24</c:v>
                </c:pt>
                <c:pt idx="8">
                  <c:v>4.29</c:v>
                </c:pt>
                <c:pt idx="9">
                  <c:v>5.18</c:v>
                </c:pt>
                <c:pt idx="10">
                  <c:v>5.76</c:v>
                </c:pt>
                <c:pt idx="11">
                  <c:v>5.23</c:v>
                </c:pt>
                <c:pt idx="12">
                  <c:v>8.49</c:v>
                </c:pt>
                <c:pt idx="13">
                  <c:v>8.01</c:v>
                </c:pt>
                <c:pt idx="14">
                  <c:v>8.7</c:v>
                </c:pt>
                <c:pt idx="15">
                  <c:v>8.39</c:v>
                </c:pt>
                <c:pt idx="16">
                  <c:v>8.92</c:v>
                </c:pt>
                <c:pt idx="17">
                  <c:v>9.79</c:v>
                </c:pt>
                <c:pt idx="18">
                  <c:v>9.7</c:v>
                </c:pt>
                <c:pt idx="19">
                  <c:v>10.44</c:v>
                </c:pt>
                <c:pt idx="20">
                  <c:v>10.44</c:v>
                </c:pt>
                <c:pt idx="21">
                  <c:v>10.54</c:v>
                </c:pt>
                <c:pt idx="22">
                  <c:v>9.8</c:v>
                </c:pt>
                <c:pt idx="23">
                  <c:v>9.6</c:v>
                </c:pt>
                <c:pt idx="24">
                  <c:v>9.6</c:v>
                </c:pt>
                <c:pt idx="25">
                  <c:v>9.8</c:v>
                </c:pt>
                <c:pt idx="26">
                  <c:v>12.84</c:v>
                </c:pt>
                <c:pt idx="27">
                  <c:v>13.03</c:v>
                </c:pt>
                <c:pt idx="28">
                  <c:v>13.72</c:v>
                </c:pt>
                <c:pt idx="29">
                  <c:v>14.17</c:v>
                </c:pt>
                <c:pt idx="30">
                  <c:v>14.53</c:v>
                </c:pt>
                <c:pt idx="31">
                  <c:v>13.63</c:v>
                </c:pt>
                <c:pt idx="32">
                  <c:v>13.63</c:v>
                </c:pt>
                <c:pt idx="33">
                  <c:v>13.36</c:v>
                </c:pt>
                <c:pt idx="34">
                  <c:v>12.91</c:v>
                </c:pt>
                <c:pt idx="35">
                  <c:v>12.91</c:v>
                </c:pt>
                <c:pt idx="36">
                  <c:v>11.33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jun-2023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0.21</c:v>
                </c:pt>
                <c:pt idx="3">
                  <c:v>0.74</c:v>
                </c:pt>
                <c:pt idx="4">
                  <c:v>0.46</c:v>
                </c:pt>
                <c:pt idx="5">
                  <c:v>1.88</c:v>
                </c:pt>
                <c:pt idx="6">
                  <c:v>2.78</c:v>
                </c:pt>
                <c:pt idx="7">
                  <c:v>1.92</c:v>
                </c:pt>
                <c:pt idx="8">
                  <c:v>2.9</c:v>
                </c:pt>
                <c:pt idx="9">
                  <c:v>3.04</c:v>
                </c:pt>
                <c:pt idx="10">
                  <c:v>3.96</c:v>
                </c:pt>
                <c:pt idx="11">
                  <c:v>4.2</c:v>
                </c:pt>
                <c:pt idx="12">
                  <c:v>4.55</c:v>
                </c:pt>
                <c:pt idx="13">
                  <c:v>4.9</c:v>
                </c:pt>
                <c:pt idx="14">
                  <c:v>5.11</c:v>
                </c:pt>
                <c:pt idx="15">
                  <c:v>5.54</c:v>
                </c:pt>
                <c:pt idx="16">
                  <c:v>6.42</c:v>
                </c:pt>
                <c:pt idx="17">
                  <c:v>6.92</c:v>
                </c:pt>
                <c:pt idx="18">
                  <c:v>7.59</c:v>
                </c:pt>
                <c:pt idx="19">
                  <c:v>7.39</c:v>
                </c:pt>
                <c:pt idx="20">
                  <c:v>7.19</c:v>
                </c:pt>
                <c:pt idx="21">
                  <c:v>7.19</c:v>
                </c:pt>
                <c:pt idx="22">
                  <c:v>7</c:v>
                </c:pt>
                <c:pt idx="23">
                  <c:v>7.3</c:v>
                </c:pt>
                <c:pt idx="24">
                  <c:v>7.6</c:v>
                </c:pt>
                <c:pt idx="25">
                  <c:v>10.88</c:v>
                </c:pt>
                <c:pt idx="26">
                  <c:v>10.54</c:v>
                </c:pt>
                <c:pt idx="27">
                  <c:v>10.38</c:v>
                </c:pt>
                <c:pt idx="28">
                  <c:v>10.52</c:v>
                </c:pt>
                <c:pt idx="29">
                  <c:v>10.68</c:v>
                </c:pt>
                <c:pt idx="30">
                  <c:v>10.76</c:v>
                </c:pt>
                <c:pt idx="31">
                  <c:v>10.76</c:v>
                </c:pt>
                <c:pt idx="32">
                  <c:v>6.66</c:v>
                </c:pt>
                <c:pt idx="33">
                  <c:v>6.54</c:v>
                </c:pt>
                <c:pt idx="34">
                  <c:v>6.47</c:v>
                </c:pt>
                <c:pt idx="35">
                  <c:v>6.47</c:v>
                </c:pt>
                <c:pt idx="36">
                  <c:v>6.34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jul-2023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0.06</c:v>
                </c:pt>
                <c:pt idx="3">
                  <c:v>0</c:v>
                </c:pt>
                <c:pt idx="4">
                  <c:v>0.2</c:v>
                </c:pt>
                <c:pt idx="5">
                  <c:v>1.25</c:v>
                </c:pt>
                <c:pt idx="6">
                  <c:v>1.35</c:v>
                </c:pt>
                <c:pt idx="7">
                  <c:v>2.74</c:v>
                </c:pt>
                <c:pt idx="8">
                  <c:v>1.01</c:v>
                </c:pt>
                <c:pt idx="9">
                  <c:v>0.89</c:v>
                </c:pt>
                <c:pt idx="10">
                  <c:v>2.25</c:v>
                </c:pt>
                <c:pt idx="11">
                  <c:v>2.39</c:v>
                </c:pt>
                <c:pt idx="12">
                  <c:v>2.7</c:v>
                </c:pt>
                <c:pt idx="13">
                  <c:v>2.28</c:v>
                </c:pt>
                <c:pt idx="14">
                  <c:v>2.16</c:v>
                </c:pt>
                <c:pt idx="15">
                  <c:v>1.73</c:v>
                </c:pt>
                <c:pt idx="16">
                  <c:v>2.28</c:v>
                </c:pt>
                <c:pt idx="17">
                  <c:v>2.62</c:v>
                </c:pt>
                <c:pt idx="18">
                  <c:v>2.62</c:v>
                </c:pt>
                <c:pt idx="19">
                  <c:v>2.62</c:v>
                </c:pt>
                <c:pt idx="20">
                  <c:v>2.4</c:v>
                </c:pt>
                <c:pt idx="21">
                  <c:v>2.5</c:v>
                </c:pt>
                <c:pt idx="22">
                  <c:v>2.7</c:v>
                </c:pt>
                <c:pt idx="23">
                  <c:v>3</c:v>
                </c:pt>
                <c:pt idx="24">
                  <c:v>5.56</c:v>
                </c:pt>
                <c:pt idx="25">
                  <c:v>5.54</c:v>
                </c:pt>
                <c:pt idx="26">
                  <c:v>6.18</c:v>
                </c:pt>
                <c:pt idx="27">
                  <c:v>5.42</c:v>
                </c:pt>
                <c:pt idx="28">
                  <c:v>5.76</c:v>
                </c:pt>
                <c:pt idx="29">
                  <c:v>6.13</c:v>
                </c:pt>
                <c:pt idx="30">
                  <c:v>6.13</c:v>
                </c:pt>
                <c:pt idx="31">
                  <c:v>5.89</c:v>
                </c:pt>
                <c:pt idx="32">
                  <c:v>5.62</c:v>
                </c:pt>
                <c:pt idx="33">
                  <c:v>5.62</c:v>
                </c:pt>
                <c:pt idx="34">
                  <c:v>5.62</c:v>
                </c:pt>
                <c:pt idx="35">
                  <c:v>5.62</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ago-2023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0.07</c:v>
                </c:pt>
                <c:pt idx="3">
                  <c:v>0.13</c:v>
                </c:pt>
                <c:pt idx="4">
                  <c:v>0.22</c:v>
                </c:pt>
                <c:pt idx="5">
                  <c:v>0.49</c:v>
                </c:pt>
                <c:pt idx="6">
                  <c:v>1.53</c:v>
                </c:pt>
                <c:pt idx="7">
                  <c:v>1.44</c:v>
                </c:pt>
                <c:pt idx="8">
                  <c:v>1.79</c:v>
                </c:pt>
                <c:pt idx="9">
                  <c:v>2.28</c:v>
                </c:pt>
                <c:pt idx="10">
                  <c:v>2.95</c:v>
                </c:pt>
                <c:pt idx="11">
                  <c:v>3.16</c:v>
                </c:pt>
                <c:pt idx="12">
                  <c:v>3.7</c:v>
                </c:pt>
                <c:pt idx="13">
                  <c:v>3.8</c:v>
                </c:pt>
                <c:pt idx="14">
                  <c:v>3.72</c:v>
                </c:pt>
                <c:pt idx="15">
                  <c:v>4.07</c:v>
                </c:pt>
                <c:pt idx="16">
                  <c:v>3.92</c:v>
                </c:pt>
                <c:pt idx="17">
                  <c:v>3.42</c:v>
                </c:pt>
                <c:pt idx="18">
                  <c:v>3.52</c:v>
                </c:pt>
                <c:pt idx="19">
                  <c:v>3.7</c:v>
                </c:pt>
                <c:pt idx="20">
                  <c:v>4</c:v>
                </c:pt>
                <c:pt idx="21">
                  <c:v>4.5</c:v>
                </c:pt>
                <c:pt idx="22">
                  <c:v>4.8</c:v>
                </c:pt>
                <c:pt idx="23">
                  <c:v>6.48</c:v>
                </c:pt>
                <c:pt idx="24">
                  <c:v>6.46</c:v>
                </c:pt>
                <c:pt idx="25">
                  <c:v>6.23</c:v>
                </c:pt>
                <c:pt idx="26">
                  <c:v>6.26</c:v>
                </c:pt>
                <c:pt idx="27">
                  <c:v>6.36</c:v>
                </c:pt>
                <c:pt idx="28">
                  <c:v>6.21</c:v>
                </c:pt>
                <c:pt idx="29">
                  <c:v>6.21</c:v>
                </c:pt>
                <c:pt idx="30">
                  <c:v>6.38</c:v>
                </c:pt>
                <c:pt idx="31">
                  <c:v>6.17</c:v>
                </c:pt>
                <c:pt idx="32">
                  <c:v>6.11</c:v>
                </c:pt>
                <c:pt idx="33">
                  <c:v>6.08</c:v>
                </c:pt>
                <c:pt idx="34">
                  <c:v>6.06</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sep-2023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1.87</c:v>
                </c:pt>
                <c:pt idx="3">
                  <c:v>1.21</c:v>
                </c:pt>
                <c:pt idx="4">
                  <c:v>1.27</c:v>
                </c:pt>
                <c:pt idx="5">
                  <c:v>3.92</c:v>
                </c:pt>
                <c:pt idx="6">
                  <c:v>4.29</c:v>
                </c:pt>
                <c:pt idx="7">
                  <c:v>5.2</c:v>
                </c:pt>
                <c:pt idx="8">
                  <c:v>6.81</c:v>
                </c:pt>
                <c:pt idx="9">
                  <c:v>7.75</c:v>
                </c:pt>
                <c:pt idx="10">
                  <c:v>7.25</c:v>
                </c:pt>
                <c:pt idx="11">
                  <c:v>7.25</c:v>
                </c:pt>
                <c:pt idx="12">
                  <c:v>6.22</c:v>
                </c:pt>
                <c:pt idx="13">
                  <c:v>6.67</c:v>
                </c:pt>
                <c:pt idx="14">
                  <c:v>6.66</c:v>
                </c:pt>
                <c:pt idx="15">
                  <c:v>6.21</c:v>
                </c:pt>
                <c:pt idx="16">
                  <c:v>6.41</c:v>
                </c:pt>
                <c:pt idx="17">
                  <c:v>6.61</c:v>
                </c:pt>
                <c:pt idx="18">
                  <c:v>6.4</c:v>
                </c:pt>
                <c:pt idx="19">
                  <c:v>6.4</c:v>
                </c:pt>
                <c:pt idx="20">
                  <c:v>6.8</c:v>
                </c:pt>
                <c:pt idx="21">
                  <c:v>7</c:v>
                </c:pt>
                <c:pt idx="22">
                  <c:v>10.09</c:v>
                </c:pt>
                <c:pt idx="23">
                  <c:v>10.2</c:v>
                </c:pt>
                <c:pt idx="24">
                  <c:v>9.85</c:v>
                </c:pt>
                <c:pt idx="25">
                  <c:v>9.78</c:v>
                </c:pt>
                <c:pt idx="26">
                  <c:v>7.8</c:v>
                </c:pt>
                <c:pt idx="27">
                  <c:v>7.85</c:v>
                </c:pt>
                <c:pt idx="28">
                  <c:v>7.85</c:v>
                </c:pt>
                <c:pt idx="29">
                  <c:v>7.97</c:v>
                </c:pt>
                <c:pt idx="30">
                  <c:v>7.65</c:v>
                </c:pt>
                <c:pt idx="31">
                  <c:v>7.8</c:v>
                </c:pt>
                <c:pt idx="32">
                  <c:v>7.8</c:v>
                </c:pt>
                <c:pt idx="33">
                  <c:v>7.97</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oct-2023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3.1</c:v>
                </c:pt>
                <c:pt idx="3">
                  <c:v>2.49</c:v>
                </c:pt>
                <c:pt idx="4">
                  <c:v>3.75</c:v>
                </c:pt>
                <c:pt idx="5">
                  <c:v>4.74</c:v>
                </c:pt>
                <c:pt idx="6">
                  <c:v>1.49</c:v>
                </c:pt>
                <c:pt idx="7">
                  <c:v>3.66</c:v>
                </c:pt>
                <c:pt idx="8">
                  <c:v>4.41</c:v>
                </c:pt>
                <c:pt idx="9">
                  <c:v>4.57</c:v>
                </c:pt>
                <c:pt idx="10">
                  <c:v>5.1</c:v>
                </c:pt>
                <c:pt idx="11">
                  <c:v>4.42</c:v>
                </c:pt>
                <c:pt idx="12">
                  <c:v>5.19</c:v>
                </c:pt>
                <c:pt idx="13">
                  <c:v>3.9</c:v>
                </c:pt>
                <c:pt idx="14">
                  <c:v>4.25</c:v>
                </c:pt>
                <c:pt idx="15">
                  <c:v>4.45</c:v>
                </c:pt>
                <c:pt idx="16">
                  <c:v>4.15</c:v>
                </c:pt>
                <c:pt idx="17">
                  <c:v>4.5</c:v>
                </c:pt>
                <c:pt idx="18">
                  <c:v>5</c:v>
                </c:pt>
                <c:pt idx="19">
                  <c:v>5.2</c:v>
                </c:pt>
                <c:pt idx="20">
                  <c:v>4.5</c:v>
                </c:pt>
                <c:pt idx="21">
                  <c:v>3.88</c:v>
                </c:pt>
                <c:pt idx="22">
                  <c:v>2.05</c:v>
                </c:pt>
                <c:pt idx="23">
                  <c:v>0.57</c:v>
                </c:pt>
                <c:pt idx="24">
                  <c:v>1.33</c:v>
                </c:pt>
                <c:pt idx="25">
                  <c:v>0.77</c:v>
                </c:pt>
                <c:pt idx="26">
                  <c:v>0.93</c:v>
                </c:pt>
                <c:pt idx="27">
                  <c:v>0.93</c:v>
                </c:pt>
                <c:pt idx="28">
                  <c:v>1.2</c:v>
                </c:pt>
                <c:pt idx="29">
                  <c:v>1.38</c:v>
                </c:pt>
                <c:pt idx="30">
                  <c:v>1.43</c:v>
                </c:pt>
                <c:pt idx="31">
                  <c:v>1.43</c:v>
                </c:pt>
                <c:pt idx="32">
                  <c:v>1.3</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nov-2023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0.44</c:v>
                </c:pt>
                <c:pt idx="3">
                  <c:v>1.09</c:v>
                </c:pt>
                <c:pt idx="4">
                  <c:v>0.81</c:v>
                </c:pt>
                <c:pt idx="5">
                  <c:v>1.48</c:v>
                </c:pt>
                <c:pt idx="6">
                  <c:v>1.83</c:v>
                </c:pt>
                <c:pt idx="7">
                  <c:v>2</c:v>
                </c:pt>
                <c:pt idx="8">
                  <c:v>2.81</c:v>
                </c:pt>
                <c:pt idx="9">
                  <c:v>2.08</c:v>
                </c:pt>
                <c:pt idx="10">
                  <c:v>3.15</c:v>
                </c:pt>
                <c:pt idx="11">
                  <c:v>3.79</c:v>
                </c:pt>
                <c:pt idx="12">
                  <c:v>3.72</c:v>
                </c:pt>
                <c:pt idx="13">
                  <c:v>3.62</c:v>
                </c:pt>
                <c:pt idx="14">
                  <c:v>3.42</c:v>
                </c:pt>
                <c:pt idx="15">
                  <c:v>3.12</c:v>
                </c:pt>
                <c:pt idx="16">
                  <c:v>3.3</c:v>
                </c:pt>
                <c:pt idx="17">
                  <c:v>3.3</c:v>
                </c:pt>
                <c:pt idx="18">
                  <c:v>3.3</c:v>
                </c:pt>
                <c:pt idx="19">
                  <c:v>3.3</c:v>
                </c:pt>
                <c:pt idx="20">
                  <c:v>3.48</c:v>
                </c:pt>
                <c:pt idx="21">
                  <c:v>4.02</c:v>
                </c:pt>
                <c:pt idx="22">
                  <c:v>4.55</c:v>
                </c:pt>
                <c:pt idx="23">
                  <c:v>4.81</c:v>
                </c:pt>
                <c:pt idx="24">
                  <c:v>5.44</c:v>
                </c:pt>
                <c:pt idx="25">
                  <c:v>5.4</c:v>
                </c:pt>
                <c:pt idx="26">
                  <c:v>5.4</c:v>
                </c:pt>
                <c:pt idx="27">
                  <c:v>6.06</c:v>
                </c:pt>
                <c:pt idx="28">
                  <c:v>6.54</c:v>
                </c:pt>
                <c:pt idx="29">
                  <c:v>6.74</c:v>
                </c:pt>
                <c:pt idx="30">
                  <c:v>5.14</c:v>
                </c:pt>
                <c:pt idx="31">
                  <c:v>5.11</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dic-2023</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0.48</c:v>
                </c:pt>
                <c:pt idx="3">
                  <c:v>0.44</c:v>
                </c:pt>
                <c:pt idx="4">
                  <c:v>0.57</c:v>
                </c:pt>
                <c:pt idx="5">
                  <c:v>0.34</c:v>
                </c:pt>
                <c:pt idx="6">
                  <c:v>1.84</c:v>
                </c:pt>
                <c:pt idx="7">
                  <c:v>1.81</c:v>
                </c:pt>
                <c:pt idx="8">
                  <c:v>1.81</c:v>
                </c:pt>
                <c:pt idx="9">
                  <c:v>1.92</c:v>
                </c:pt>
                <c:pt idx="10">
                  <c:v>1.6</c:v>
                </c:pt>
                <c:pt idx="11">
                  <c:v>1.8</c:v>
                </c:pt>
                <c:pt idx="12">
                  <c:v>2.01</c:v>
                </c:pt>
                <c:pt idx="13">
                  <c:v>2.09</c:v>
                </c:pt>
                <c:pt idx="14">
                  <c:v>2.3</c:v>
                </c:pt>
                <c:pt idx="15">
                  <c:v>2.7</c:v>
                </c:pt>
                <c:pt idx="16">
                  <c:v>3.2</c:v>
                </c:pt>
                <c:pt idx="17">
                  <c:v>3.5</c:v>
                </c:pt>
                <c:pt idx="18">
                  <c:v>3.8</c:v>
                </c:pt>
                <c:pt idx="19">
                  <c:v>3.7</c:v>
                </c:pt>
                <c:pt idx="20">
                  <c:v>4.05</c:v>
                </c:pt>
                <c:pt idx="21">
                  <c:v>4.2</c:v>
                </c:pt>
                <c:pt idx="22">
                  <c:v>4.8</c:v>
                </c:pt>
                <c:pt idx="23">
                  <c:v>4.71</c:v>
                </c:pt>
                <c:pt idx="24">
                  <c:v>4.74</c:v>
                </c:pt>
                <c:pt idx="25">
                  <c:v>4.74</c:v>
                </c:pt>
                <c:pt idx="26">
                  <c:v>5.12</c:v>
                </c:pt>
                <c:pt idx="27">
                  <c:v>4.94</c:v>
                </c:pt>
                <c:pt idx="28">
                  <c:v>4.23</c:v>
                </c:pt>
                <c:pt idx="29">
                  <c:v>4.17</c:v>
                </c:pt>
                <c:pt idx="30">
                  <c:v>4.16</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ene-2024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0.41</c:v>
                </c:pt>
                <c:pt idx="3">
                  <c:v>0.42</c:v>
                </c:pt>
                <c:pt idx="4">
                  <c:v>0.67</c:v>
                </c:pt>
                <c:pt idx="5">
                  <c:v>0.72</c:v>
                </c:pt>
                <c:pt idx="6">
                  <c:v>0.88</c:v>
                </c:pt>
                <c:pt idx="7">
                  <c:v>0.96</c:v>
                </c:pt>
                <c:pt idx="8">
                  <c:v>1.32</c:v>
                </c:pt>
                <c:pt idx="9">
                  <c:v>1.31</c:v>
                </c:pt>
                <c:pt idx="10">
                  <c:v>1.5</c:v>
                </c:pt>
                <c:pt idx="11">
                  <c:v>1.2</c:v>
                </c:pt>
                <c:pt idx="12">
                  <c:v>1.5</c:v>
                </c:pt>
                <c:pt idx="13">
                  <c:v>1.8</c:v>
                </c:pt>
                <c:pt idx="14">
                  <c:v>1.6</c:v>
                </c:pt>
                <c:pt idx="15">
                  <c:v>1.9</c:v>
                </c:pt>
                <c:pt idx="16">
                  <c:v>2.2</c:v>
                </c:pt>
                <c:pt idx="17">
                  <c:v>2.1</c:v>
                </c:pt>
                <c:pt idx="18">
                  <c:v>1.41</c:v>
                </c:pt>
                <c:pt idx="19">
                  <c:v>1.29</c:v>
                </c:pt>
                <c:pt idx="20">
                  <c:v>1.44</c:v>
                </c:pt>
                <c:pt idx="21">
                  <c:v>0.75</c:v>
                </c:pt>
                <c:pt idx="22">
                  <c:v>0.63</c:v>
                </c:pt>
                <c:pt idx="23">
                  <c:v>0.38</c:v>
                </c:pt>
                <c:pt idx="24">
                  <c:v>0.38</c:v>
                </c:pt>
                <c:pt idx="25">
                  <c:v>0.13</c:v>
                </c:pt>
                <c:pt idx="26">
                  <c:v>0</c:v>
                </c:pt>
                <c:pt idx="27">
                  <c:v>0</c:v>
                </c:pt>
                <c:pt idx="28">
                  <c:v>0</c:v>
                </c:pt>
                <c:pt idx="29">
                  <c:v>0</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feb-2024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0.07</c:v>
                </c:pt>
                <c:pt idx="4">
                  <c:v>1.97</c:v>
                </c:pt>
                <c:pt idx="5">
                  <c:v>1.48</c:v>
                </c:pt>
                <c:pt idx="6">
                  <c:v>1.7</c:v>
                </c:pt>
                <c:pt idx="7">
                  <c:v>0.46</c:v>
                </c:pt>
                <c:pt idx="8">
                  <c:v>0.52</c:v>
                </c:pt>
                <c:pt idx="9">
                  <c:v>0.59</c:v>
                </c:pt>
                <c:pt idx="10">
                  <c:v>0.76</c:v>
                </c:pt>
                <c:pt idx="11">
                  <c:v>0.76</c:v>
                </c:pt>
                <c:pt idx="12">
                  <c:v>0.96</c:v>
                </c:pt>
                <c:pt idx="13">
                  <c:v>1.3</c:v>
                </c:pt>
                <c:pt idx="14">
                  <c:v>1.1</c:v>
                </c:pt>
                <c:pt idx="15">
                  <c:v>1.5</c:v>
                </c:pt>
                <c:pt idx="16">
                  <c:v>1.7</c:v>
                </c:pt>
                <c:pt idx="17">
                  <c:v>1.11</c:v>
                </c:pt>
                <c:pt idx="18">
                  <c:v>1.27</c:v>
                </c:pt>
                <c:pt idx="19">
                  <c:v>1.18</c:v>
                </c:pt>
                <c:pt idx="20">
                  <c:v>1.35</c:v>
                </c:pt>
                <c:pt idx="21">
                  <c:v>1.21</c:v>
                </c:pt>
                <c:pt idx="22">
                  <c:v>1.21</c:v>
                </c:pt>
                <c:pt idx="23">
                  <c:v>1.21</c:v>
                </c:pt>
                <c:pt idx="24">
                  <c:v>1.62</c:v>
                </c:pt>
                <c:pt idx="25">
                  <c:v>1.39</c:v>
                </c:pt>
                <c:pt idx="26">
                  <c:v>0.88</c:v>
                </c:pt>
                <c:pt idx="27">
                  <c:v>0.66</c:v>
                </c:pt>
                <c:pt idx="28">
                  <c:v>0.75</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mar-2024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1.17</c:v>
                </c:pt>
                <c:pt idx="3">
                  <c:v>0.15</c:v>
                </c:pt>
                <c:pt idx="4">
                  <c:v>0.2</c:v>
                </c:pt>
                <c:pt idx="5">
                  <c:v>0.29</c:v>
                </c:pt>
                <c:pt idx="6">
                  <c:v>1.2</c:v>
                </c:pt>
                <c:pt idx="7">
                  <c:v>1.2</c:v>
                </c:pt>
                <c:pt idx="8">
                  <c:v>1.5</c:v>
                </c:pt>
                <c:pt idx="9">
                  <c:v>2.3</c:v>
                </c:pt>
                <c:pt idx="10">
                  <c:v>2.2</c:v>
                </c:pt>
                <c:pt idx="11">
                  <c:v>2.5</c:v>
                </c:pt>
                <c:pt idx="12">
                  <c:v>2.8</c:v>
                </c:pt>
                <c:pt idx="13">
                  <c:v>3</c:v>
                </c:pt>
                <c:pt idx="14">
                  <c:v>3.3</c:v>
                </c:pt>
                <c:pt idx="15">
                  <c:v>3.6</c:v>
                </c:pt>
                <c:pt idx="16">
                  <c:v>4.08</c:v>
                </c:pt>
                <c:pt idx="17">
                  <c:v>4.42</c:v>
                </c:pt>
                <c:pt idx="18">
                  <c:v>3.89</c:v>
                </c:pt>
                <c:pt idx="19">
                  <c:v>4.5</c:v>
                </c:pt>
                <c:pt idx="20">
                  <c:v>4.22</c:v>
                </c:pt>
                <c:pt idx="21">
                  <c:v>4.47</c:v>
                </c:pt>
                <c:pt idx="22">
                  <c:v>4.47</c:v>
                </c:pt>
                <c:pt idx="23">
                  <c:v>4.92</c:v>
                </c:pt>
                <c:pt idx="24">
                  <c:v>5.11</c:v>
                </c:pt>
                <c:pt idx="25">
                  <c:v>5.26</c:v>
                </c:pt>
                <c:pt idx="26">
                  <c:v>4.9</c:v>
                </c:pt>
                <c:pt idx="27">
                  <c:v>4.58</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abr-2024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0.3</c:v>
                </c:pt>
                <c:pt idx="2">
                  <c:v>0</c:v>
                </c:pt>
                <c:pt idx="3">
                  <c:v>0.1</c:v>
                </c:pt>
                <c:pt idx="4">
                  <c:v>1.1</c:v>
                </c:pt>
                <c:pt idx="5">
                  <c:v>0.76</c:v>
                </c:pt>
                <c:pt idx="6">
                  <c:v>1.01</c:v>
                </c:pt>
                <c:pt idx="7">
                  <c:v>1.27</c:v>
                </c:pt>
                <c:pt idx="8">
                  <c:v>1.75</c:v>
                </c:pt>
                <c:pt idx="9">
                  <c:v>1.55</c:v>
                </c:pt>
                <c:pt idx="10">
                  <c:v>2.2</c:v>
                </c:pt>
                <c:pt idx="11">
                  <c:v>2.8</c:v>
                </c:pt>
                <c:pt idx="12">
                  <c:v>3.2</c:v>
                </c:pt>
                <c:pt idx="13">
                  <c:v>3.6</c:v>
                </c:pt>
                <c:pt idx="14">
                  <c:v>4.1</c:v>
                </c:pt>
                <c:pt idx="15">
                  <c:v>5.02</c:v>
                </c:pt>
                <c:pt idx="16">
                  <c:v>5.12</c:v>
                </c:pt>
                <c:pt idx="17">
                  <c:v>4.77</c:v>
                </c:pt>
                <c:pt idx="18">
                  <c:v>5.93</c:v>
                </c:pt>
                <c:pt idx="19">
                  <c:v>5.46</c:v>
                </c:pt>
                <c:pt idx="20">
                  <c:v>6.28</c:v>
                </c:pt>
                <c:pt idx="21">
                  <c:v>6.28</c:v>
                </c:pt>
                <c:pt idx="22">
                  <c:v>7.39</c:v>
                </c:pt>
                <c:pt idx="23">
                  <c:v>7.8</c:v>
                </c:pt>
                <c:pt idx="24">
                  <c:v>8.46</c:v>
                </c:pt>
                <c:pt idx="25">
                  <c:v>8.5</c:v>
                </c:pt>
                <c:pt idx="26">
                  <c:v>8.67</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may-2024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c:v>
                </c:pt>
                <c:pt idx="4">
                  <c:v>1.08</c:v>
                </c:pt>
                <c:pt idx="5">
                  <c:v>1.14</c:v>
                </c:pt>
                <c:pt idx="6">
                  <c:v>1.08</c:v>
                </c:pt>
                <c:pt idx="7">
                  <c:v>1.44</c:v>
                </c:pt>
                <c:pt idx="8">
                  <c:v>1.64</c:v>
                </c:pt>
                <c:pt idx="9">
                  <c:v>1.8</c:v>
                </c:pt>
                <c:pt idx="10">
                  <c:v>2.2</c:v>
                </c:pt>
                <c:pt idx="11">
                  <c:v>2.6</c:v>
                </c:pt>
                <c:pt idx="12">
                  <c:v>3.2</c:v>
                </c:pt>
                <c:pt idx="13">
                  <c:v>3.5</c:v>
                </c:pt>
                <c:pt idx="14">
                  <c:v>3.26</c:v>
                </c:pt>
                <c:pt idx="15">
                  <c:v>3.35</c:v>
                </c:pt>
                <c:pt idx="16">
                  <c:v>3.06</c:v>
                </c:pt>
                <c:pt idx="17">
                  <c:v>2.82</c:v>
                </c:pt>
                <c:pt idx="18">
                  <c:v>2.4</c:v>
                </c:pt>
                <c:pt idx="19">
                  <c:v>2.16</c:v>
                </c:pt>
                <c:pt idx="20">
                  <c:v>2.16</c:v>
                </c:pt>
                <c:pt idx="21">
                  <c:v>1.23</c:v>
                </c:pt>
                <c:pt idx="22">
                  <c:v>1.2</c:v>
                </c:pt>
                <c:pt idx="23">
                  <c:v>1.02</c:v>
                </c:pt>
                <c:pt idx="24">
                  <c:v>1.14</c:v>
                </c:pt>
                <c:pt idx="25">
                  <c:v>1.14</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jun-2024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0.21</c:v>
                </c:pt>
                <c:pt idx="4">
                  <c:v>0.25</c:v>
                </c:pt>
                <c:pt idx="5">
                  <c:v>0.32</c:v>
                </c:pt>
                <c:pt idx="6">
                  <c:v>0.78</c:v>
                </c:pt>
                <c:pt idx="7">
                  <c:v>1.18</c:v>
                </c:pt>
                <c:pt idx="8">
                  <c:v>1.08</c:v>
                </c:pt>
                <c:pt idx="9">
                  <c:v>2.1</c:v>
                </c:pt>
                <c:pt idx="10">
                  <c:v>1.8</c:v>
                </c:pt>
                <c:pt idx="11">
                  <c:v>2.1</c:v>
                </c:pt>
                <c:pt idx="12">
                  <c:v>2.3</c:v>
                </c:pt>
                <c:pt idx="13">
                  <c:v>1.04</c:v>
                </c:pt>
                <c:pt idx="14">
                  <c:v>1.05</c:v>
                </c:pt>
                <c:pt idx="15">
                  <c:v>1.25</c:v>
                </c:pt>
                <c:pt idx="16">
                  <c:v>1.54</c:v>
                </c:pt>
                <c:pt idx="17">
                  <c:v>1.65</c:v>
                </c:pt>
                <c:pt idx="18">
                  <c:v>1.49</c:v>
                </c:pt>
                <c:pt idx="19">
                  <c:v>1.49</c:v>
                </c:pt>
                <c:pt idx="20">
                  <c:v>1.29</c:v>
                </c:pt>
                <c:pt idx="21">
                  <c:v>1.2</c:v>
                </c:pt>
                <c:pt idx="22">
                  <c:v>1.23</c:v>
                </c:pt>
                <c:pt idx="23">
                  <c:v>1.08</c:v>
                </c:pt>
                <c:pt idx="24">
                  <c:v>1.08</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jul-2024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c:v>
                </c:pt>
                <c:pt idx="4">
                  <c:v>0.22</c:v>
                </c:pt>
                <c:pt idx="5">
                  <c:v>0.59</c:v>
                </c:pt>
                <c:pt idx="6">
                  <c:v>0.79</c:v>
                </c:pt>
                <c:pt idx="7">
                  <c:v>1.5</c:v>
                </c:pt>
                <c:pt idx="8">
                  <c:v>1.1</c:v>
                </c:pt>
                <c:pt idx="9">
                  <c:v>1.8</c:v>
                </c:pt>
                <c:pt idx="10">
                  <c:v>1.5</c:v>
                </c:pt>
                <c:pt idx="11">
                  <c:v>1.8</c:v>
                </c:pt>
                <c:pt idx="12">
                  <c:v>2.33</c:v>
                </c:pt>
                <c:pt idx="13">
                  <c:v>2.36</c:v>
                </c:pt>
                <c:pt idx="14">
                  <c:v>0.87</c:v>
                </c:pt>
                <c:pt idx="15">
                  <c:v>1.09</c:v>
                </c:pt>
                <c:pt idx="16">
                  <c:v>1.73</c:v>
                </c:pt>
                <c:pt idx="17">
                  <c:v>2.4</c:v>
                </c:pt>
                <c:pt idx="18">
                  <c:v>2.4</c:v>
                </c:pt>
                <c:pt idx="19">
                  <c:v>2.3</c:v>
                </c:pt>
                <c:pt idx="20">
                  <c:v>1.24</c:v>
                </c:pt>
                <c:pt idx="21">
                  <c:v>1.6</c:v>
                </c:pt>
                <c:pt idx="22">
                  <c:v>2.08</c:v>
                </c:pt>
                <c:pt idx="23">
                  <c:v>2.62</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ago-2024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0.18</c:v>
                </c:pt>
                <c:pt idx="4">
                  <c:v>0.19</c:v>
                </c:pt>
                <c:pt idx="5">
                  <c:v>1.2</c:v>
                </c:pt>
                <c:pt idx="6">
                  <c:v>1.5</c:v>
                </c:pt>
                <c:pt idx="7">
                  <c:v>1.9</c:v>
                </c:pt>
                <c:pt idx="8">
                  <c:v>2.5</c:v>
                </c:pt>
                <c:pt idx="9">
                  <c:v>2.4</c:v>
                </c:pt>
                <c:pt idx="10">
                  <c:v>2.7</c:v>
                </c:pt>
                <c:pt idx="11">
                  <c:v>2.64</c:v>
                </c:pt>
                <c:pt idx="12">
                  <c:v>2.66</c:v>
                </c:pt>
                <c:pt idx="13">
                  <c:v>3</c:v>
                </c:pt>
                <c:pt idx="14">
                  <c:v>3.09</c:v>
                </c:pt>
                <c:pt idx="15">
                  <c:v>3.2</c:v>
                </c:pt>
                <c:pt idx="16">
                  <c:v>2.9</c:v>
                </c:pt>
                <c:pt idx="17">
                  <c:v>2.9</c:v>
                </c:pt>
                <c:pt idx="18">
                  <c:v>3.66</c:v>
                </c:pt>
                <c:pt idx="19">
                  <c:v>3.62</c:v>
                </c:pt>
                <c:pt idx="20">
                  <c:v>3.99</c:v>
                </c:pt>
                <c:pt idx="21">
                  <c:v>4.54</c:v>
                </c:pt>
                <c:pt idx="22">
                  <c:v>4.3</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sep-2024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c:v>
                </c:pt>
                <c:pt idx="4">
                  <c:v>0.2</c:v>
                </c:pt>
                <c:pt idx="5">
                  <c:v>1</c:v>
                </c:pt>
                <c:pt idx="6">
                  <c:v>1.4</c:v>
                </c:pt>
                <c:pt idx="7">
                  <c:v>1.8</c:v>
                </c:pt>
                <c:pt idx="8">
                  <c:v>2.3</c:v>
                </c:pt>
                <c:pt idx="9">
                  <c:v>2.8</c:v>
                </c:pt>
                <c:pt idx="10">
                  <c:v>2.29</c:v>
                </c:pt>
                <c:pt idx="11">
                  <c:v>2.58</c:v>
                </c:pt>
                <c:pt idx="12">
                  <c:v>2.83</c:v>
                </c:pt>
                <c:pt idx="13">
                  <c:v>2.87</c:v>
                </c:pt>
                <c:pt idx="14">
                  <c:v>3.02</c:v>
                </c:pt>
                <c:pt idx="15">
                  <c:v>3.85</c:v>
                </c:pt>
                <c:pt idx="16">
                  <c:v>3.85</c:v>
                </c:pt>
                <c:pt idx="17">
                  <c:v>5.04</c:v>
                </c:pt>
                <c:pt idx="18">
                  <c:v>5.02</c:v>
                </c:pt>
                <c:pt idx="19">
                  <c:v>3.99</c:v>
                </c:pt>
                <c:pt idx="20">
                  <c:v>4.56</c:v>
                </c:pt>
                <c:pt idx="21">
                  <c:v>4.72</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oct-2024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0.16</c:v>
                </c:pt>
                <c:pt idx="4">
                  <c:v>0.36</c:v>
                </c:pt>
                <c:pt idx="5">
                  <c:v>0.5</c:v>
                </c:pt>
                <c:pt idx="6">
                  <c:v>0.5</c:v>
                </c:pt>
                <c:pt idx="7">
                  <c:v>0.8</c:v>
                </c:pt>
                <c:pt idx="8">
                  <c:v>0.7</c:v>
                </c:pt>
                <c:pt idx="9">
                  <c:v>0.35</c:v>
                </c:pt>
                <c:pt idx="10">
                  <c:v>0.26</c:v>
                </c:pt>
                <c:pt idx="11">
                  <c:v>0.48</c:v>
                </c:pt>
                <c:pt idx="12">
                  <c:v>0.55</c:v>
                </c:pt>
                <c:pt idx="13">
                  <c:v>0.15</c:v>
                </c:pt>
                <c:pt idx="14">
                  <c:v>0.15</c:v>
                </c:pt>
                <c:pt idx="15">
                  <c:v>0.15</c:v>
                </c:pt>
                <c:pt idx="16">
                  <c:v>0.49</c:v>
                </c:pt>
                <c:pt idx="17">
                  <c:v>0.48</c:v>
                </c:pt>
                <c:pt idx="18">
                  <c:v>0.86</c:v>
                </c:pt>
                <c:pt idx="19">
                  <c:v>0.76</c:v>
                </c:pt>
                <c:pt idx="20">
                  <c:v>0.67</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nov-2024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1</c:v>
                </c:pt>
                <c:pt idx="3">
                  <c:v>0.8</c:v>
                </c:pt>
                <c:pt idx="4">
                  <c:v>0.4</c:v>
                </c:pt>
                <c:pt idx="5">
                  <c:v>0.4</c:v>
                </c:pt>
                <c:pt idx="6">
                  <c:v>0.8</c:v>
                </c:pt>
                <c:pt idx="7">
                  <c:v>1.3</c:v>
                </c:pt>
                <c:pt idx="8">
                  <c:v>1.64</c:v>
                </c:pt>
                <c:pt idx="9">
                  <c:v>1.94</c:v>
                </c:pt>
                <c:pt idx="10">
                  <c:v>2.96</c:v>
                </c:pt>
                <c:pt idx="11">
                  <c:v>3.94</c:v>
                </c:pt>
                <c:pt idx="12">
                  <c:v>3.92</c:v>
                </c:pt>
                <c:pt idx="13">
                  <c:v>4.32</c:v>
                </c:pt>
                <c:pt idx="14">
                  <c:v>4.32</c:v>
                </c:pt>
                <c:pt idx="15">
                  <c:v>5.4</c:v>
                </c:pt>
                <c:pt idx="16">
                  <c:v>5.46</c:v>
                </c:pt>
                <c:pt idx="17">
                  <c:v>6.6</c:v>
                </c:pt>
                <c:pt idx="18">
                  <c:v>6.94</c:v>
                </c:pt>
                <c:pt idx="19">
                  <c:v>5.98</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dic-2024</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0.5</c:v>
                </c:pt>
                <c:pt idx="4">
                  <c:v>0.7</c:v>
                </c:pt>
                <c:pt idx="5">
                  <c:v>1.3</c:v>
                </c:pt>
                <c:pt idx="6">
                  <c:v>1.8</c:v>
                </c:pt>
                <c:pt idx="7">
                  <c:v>1.25</c:v>
                </c:pt>
                <c:pt idx="8">
                  <c:v>1.44</c:v>
                </c:pt>
                <c:pt idx="9">
                  <c:v>1.6</c:v>
                </c:pt>
                <c:pt idx="10">
                  <c:v>1.88</c:v>
                </c:pt>
                <c:pt idx="11">
                  <c:v>1.62</c:v>
                </c:pt>
                <c:pt idx="12">
                  <c:v>1.96</c:v>
                </c:pt>
                <c:pt idx="13">
                  <c:v>1.96</c:v>
                </c:pt>
                <c:pt idx="14">
                  <c:v>1.71</c:v>
                </c:pt>
                <c:pt idx="15">
                  <c:v>1.66</c:v>
                </c:pt>
                <c:pt idx="16">
                  <c:v>2.1</c:v>
                </c:pt>
                <c:pt idx="17">
                  <c:v>2.07</c:v>
                </c:pt>
                <c:pt idx="18">
                  <c:v>1.59</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ene-2025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0.8</c:v>
                </c:pt>
                <c:pt idx="3">
                  <c:v>1.4</c:v>
                </c:pt>
                <c:pt idx="4">
                  <c:v>1.8</c:v>
                </c:pt>
                <c:pt idx="5">
                  <c:v>2</c:v>
                </c:pt>
                <c:pt idx="6">
                  <c:v>1.53</c:v>
                </c:pt>
                <c:pt idx="7">
                  <c:v>2.22</c:v>
                </c:pt>
                <c:pt idx="8">
                  <c:v>2.24</c:v>
                </c:pt>
                <c:pt idx="9">
                  <c:v>2.62</c:v>
                </c:pt>
                <c:pt idx="10">
                  <c:v>3.1</c:v>
                </c:pt>
                <c:pt idx="11">
                  <c:v>3.31</c:v>
                </c:pt>
                <c:pt idx="12">
                  <c:v>3.31</c:v>
                </c:pt>
                <c:pt idx="13">
                  <c:v>5.09</c:v>
                </c:pt>
                <c:pt idx="14">
                  <c:v>5.3</c:v>
                </c:pt>
                <c:pt idx="15">
                  <c:v>5.79</c:v>
                </c:pt>
                <c:pt idx="16">
                  <c:v>5.77</c:v>
                </c:pt>
                <c:pt idx="17">
                  <c:v>6.62</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feb-2025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0.1</c:v>
                </c:pt>
                <c:pt idx="2">
                  <c:v>0.8</c:v>
                </c:pt>
                <c:pt idx="3">
                  <c:v>1.5</c:v>
                </c:pt>
                <c:pt idx="4">
                  <c:v>1.2</c:v>
                </c:pt>
                <c:pt idx="5">
                  <c:v>0.62</c:v>
                </c:pt>
                <c:pt idx="6">
                  <c:v>0.39</c:v>
                </c:pt>
                <c:pt idx="7">
                  <c:v>0.65</c:v>
                </c:pt>
                <c:pt idx="8">
                  <c:v>0.66</c:v>
                </c:pt>
                <c:pt idx="9">
                  <c:v>1.07</c:v>
                </c:pt>
                <c:pt idx="10">
                  <c:v>0.99</c:v>
                </c:pt>
                <c:pt idx="11">
                  <c:v>0.99</c:v>
                </c:pt>
                <c:pt idx="12">
                  <c:v>2.02</c:v>
                </c:pt>
                <c:pt idx="13">
                  <c:v>1.24</c:v>
                </c:pt>
                <c:pt idx="14">
                  <c:v>1.79</c:v>
                </c:pt>
                <c:pt idx="15">
                  <c:v>1.71</c:v>
                </c:pt>
                <c:pt idx="16">
                  <c:v>1.84</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mar-2025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0.8</c:v>
                </c:pt>
                <c:pt idx="3">
                  <c:v>1</c:v>
                </c:pt>
                <c:pt idx="4">
                  <c:v>0.75</c:v>
                </c:pt>
                <c:pt idx="5">
                  <c:v>0.85</c:v>
                </c:pt>
                <c:pt idx="6">
                  <c:v>1.1</c:v>
                </c:pt>
                <c:pt idx="7">
                  <c:v>1.3</c:v>
                </c:pt>
                <c:pt idx="8">
                  <c:v>1.33</c:v>
                </c:pt>
                <c:pt idx="9">
                  <c:v>1.56</c:v>
                </c:pt>
                <c:pt idx="10">
                  <c:v>1.56</c:v>
                </c:pt>
                <c:pt idx="11">
                  <c:v>2.88</c:v>
                </c:pt>
                <c:pt idx="12">
                  <c:v>2.67</c:v>
                </c:pt>
                <c:pt idx="13">
                  <c:v>3.05</c:v>
                </c:pt>
                <c:pt idx="14">
                  <c:v>2.97</c:v>
                </c:pt>
                <c:pt idx="15">
                  <c:v>3.03</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abr-2025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0.7</c:v>
                </c:pt>
                <c:pt idx="3">
                  <c:v>0.09</c:v>
                </c:pt>
                <c:pt idx="4">
                  <c:v>0.07</c:v>
                </c:pt>
                <c:pt idx="5">
                  <c:v>0.16</c:v>
                </c:pt>
                <c:pt idx="6">
                  <c:v>0.43</c:v>
                </c:pt>
                <c:pt idx="7">
                  <c:v>0.33</c:v>
                </c:pt>
                <c:pt idx="8">
                  <c:v>0.39</c:v>
                </c:pt>
                <c:pt idx="9">
                  <c:v>0.39</c:v>
                </c:pt>
                <c:pt idx="10">
                  <c:v>0.8</c:v>
                </c:pt>
                <c:pt idx="11">
                  <c:v>0.92</c:v>
                </c:pt>
                <c:pt idx="12">
                  <c:v>1.39</c:v>
                </c:pt>
                <c:pt idx="13">
                  <c:v>1.33</c:v>
                </c:pt>
                <c:pt idx="14">
                  <c:v>1.32</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may-2025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0.35</c:v>
                </c:pt>
                <c:pt idx="3">
                  <c:v>0.06</c:v>
                </c:pt>
                <c:pt idx="4">
                  <c:v>0.28</c:v>
                </c:pt>
                <c:pt idx="5">
                  <c:v>0.13</c:v>
                </c:pt>
                <c:pt idx="6">
                  <c:v>0.35</c:v>
                </c:pt>
                <c:pt idx="7">
                  <c:v>0.49</c:v>
                </c:pt>
                <c:pt idx="8">
                  <c:v>0.49</c:v>
                </c:pt>
                <c:pt idx="9">
                  <c:v>0.97</c:v>
                </c:pt>
                <c:pt idx="10">
                  <c:v>0.61</c:v>
                </c:pt>
                <c:pt idx="11">
                  <c:v>1.06</c:v>
                </c:pt>
                <c:pt idx="12">
                  <c:v>1.15</c:v>
                </c:pt>
                <c:pt idx="13">
                  <c:v>0.97</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jun-2025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0.13</c:v>
                </c:pt>
                <c:pt idx="2">
                  <c:v>0</c:v>
                </c:pt>
                <c:pt idx="3">
                  <c:v>0.08</c:v>
                </c:pt>
                <c:pt idx="4">
                  <c:v>0.69</c:v>
                </c:pt>
                <c:pt idx="5">
                  <c:v>2.02</c:v>
                </c:pt>
                <c:pt idx="6">
                  <c:v>2.55</c:v>
                </c:pt>
                <c:pt idx="7">
                  <c:v>2.55</c:v>
                </c:pt>
                <c:pt idx="8">
                  <c:v>2.06</c:v>
                </c:pt>
                <c:pt idx="9">
                  <c:v>2.15</c:v>
                </c:pt>
                <c:pt idx="10">
                  <c:v>3.34</c:v>
                </c:pt>
                <c:pt idx="11">
                  <c:v>2.82</c:v>
                </c:pt>
                <c:pt idx="12">
                  <c:v>3.97</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jul-2025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0.19</c:v>
                </c:pt>
                <c:pt idx="3">
                  <c:v>0.39</c:v>
                </c:pt>
                <c:pt idx="4">
                  <c:v>0.39</c:v>
                </c:pt>
                <c:pt idx="5">
                  <c:v>1.06</c:v>
                </c:pt>
                <c:pt idx="6">
                  <c:v>1.06</c:v>
                </c:pt>
                <c:pt idx="7">
                  <c:v>1.56</c:v>
                </c:pt>
                <c:pt idx="8">
                  <c:v>1.18</c:v>
                </c:pt>
                <c:pt idx="9">
                  <c:v>1.7</c:v>
                </c:pt>
                <c:pt idx="10">
                  <c:v>1.59</c:v>
                </c:pt>
                <c:pt idx="11">
                  <c:v>1.48</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ago-2025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0.46</c:v>
                </c:pt>
                <c:pt idx="4">
                  <c:v>0.55</c:v>
                </c:pt>
                <c:pt idx="5">
                  <c:v>0.55</c:v>
                </c:pt>
                <c:pt idx="6">
                  <c:v>1.61</c:v>
                </c:pt>
                <c:pt idx="7">
                  <c:v>1.35</c:v>
                </c:pt>
                <c:pt idx="8">
                  <c:v>2.47</c:v>
                </c:pt>
                <c:pt idx="9">
                  <c:v>2.26</c:v>
                </c:pt>
                <c:pt idx="10">
                  <c:v>3.04</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sep-2025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0.15</c:v>
                </c:pt>
                <c:pt idx="3">
                  <c:v>0.38</c:v>
                </c:pt>
                <c:pt idx="4">
                  <c:v>0.38</c:v>
                </c:pt>
                <c:pt idx="5">
                  <c:v>1.42</c:v>
                </c:pt>
                <c:pt idx="6">
                  <c:v>1.87</c:v>
                </c:pt>
                <c:pt idx="7">
                  <c:v>2.27</c:v>
                </c:pt>
                <c:pt idx="8">
                  <c:v>2.4</c:v>
                </c:pt>
                <c:pt idx="9">
                  <c:v>2.92</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oct-2025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c:v>
                </c:pt>
                <c:pt idx="4">
                  <c:v>0.38</c:v>
                </c:pt>
                <c:pt idx="5">
                  <c:v>0.41</c:v>
                </c:pt>
                <c:pt idx="6">
                  <c:v>0.63</c:v>
                </c:pt>
                <c:pt idx="7">
                  <c:v>0.77</c:v>
                </c:pt>
                <c:pt idx="8">
                  <c:v>0.46</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nov-2025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0.2</c:v>
                </c:pt>
                <c:pt idx="4">
                  <c:v>0.24</c:v>
                </c:pt>
                <c:pt idx="5">
                  <c:v>0.66</c:v>
                </c:pt>
                <c:pt idx="6">
                  <c:v>0.61</c:v>
                </c:pt>
                <c:pt idx="7">
                  <c:v>0.84</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dic-2025</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0.91</c:v>
                </c:pt>
                <c:pt idx="3">
                  <c:v>0.73</c:v>
                </c:pt>
                <c:pt idx="4">
                  <c:v>1.35</c:v>
                </c:pt>
                <c:pt idx="5">
                  <c:v>1.12</c:v>
                </c:pt>
                <c:pt idx="6">
                  <c:v>1.07</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ene-2026</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c:v>
                </c:pt>
                <c:pt idx="3">
                  <c:v>0.47</c:v>
                </c:pt>
                <c:pt idx="4">
                  <c:v>0.21</c:v>
                </c:pt>
                <c:pt idx="5">
                  <c:v>0.56</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feb-2026</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0.15</c:v>
                </c:pt>
                <c:pt idx="3">
                  <c:v>0.15</c:v>
                </c:pt>
                <c:pt idx="4">
                  <c:v>0.06</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mar-2026</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0.07</c:v>
                </c:pt>
                <c:pt idx="2">
                  <c:v>0.24</c:v>
                </c:pt>
                <c:pt idx="3">
                  <c:v>0.48</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Patrón 2024</c:v>
                </c:pt>
              </c:strCache>
            </c:strRef>
          </c:tx>
          <c:spPr>
            <a:solidFill>
              <a:srgbClr val="C8D2DC"/>
            </a:solidFill>
            <a:ln w="20320" cap="flat">
              <a:solidFill>
                <a:srgbClr val="C8D2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D2DC"/>
              </a:solidFill>
              <a:ln w="9525" cap="flat">
                <a:solidFill>
                  <a:srgbClr val="C8D2DC"/>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Sheet1!$B$2:$B$38</c:f>
              <c:numCache>
                <c:formatCode>General</c:formatCode>
                <c:ptCount val="37"/>
                <c:pt idx="0">
                  <c:v>0</c:v>
                </c:pt>
                <c:pt idx="1">
                  <c:v>0.015</c:v>
                </c:pt>
                <c:pt idx="2">
                  <c:v>0.212</c:v>
                </c:pt>
                <c:pt idx="3">
                  <c:v>0.231</c:v>
                </c:pt>
                <c:pt idx="4">
                  <c:v>0.621</c:v>
                </c:pt>
                <c:pt idx="5">
                  <c:v>0.839</c:v>
                </c:pt>
                <c:pt idx="6">
                  <c:v>1.163</c:v>
                </c:pt>
                <c:pt idx="7">
                  <c:v>1.238</c:v>
                </c:pt>
                <c:pt idx="8">
                  <c:v>1.423</c:v>
                </c:pt>
                <c:pt idx="9">
                  <c:v>1.684</c:v>
                </c:pt>
                <c:pt idx="10">
                  <c:v>1.818</c:v>
                </c:pt>
                <c:pt idx="11">
                  <c:v>2.017</c:v>
                </c:pt>
                <c:pt idx="12">
                  <c:v>2.281</c:v>
                </c:pt>
                <c:pt idx="13">
                  <c:v>2.33</c:v>
                </c:pt>
                <c:pt idx="14">
                  <c:v>2.19</c:v>
                </c:pt>
                <c:pt idx="15">
                  <c:v>2.521</c:v>
                </c:pt>
                <c:pt idx="16">
                  <c:v>2.729</c:v>
                </c:pt>
                <c:pt idx="17">
                  <c:v>2.907</c:v>
                </c:pt>
                <c:pt idx="18">
                  <c:v>2.894</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ser>
          <c:idx val="1"/>
          <c:order val="1"/>
          <c:tx>
            <c:strRef>
              <c:f>Sheet1!$C$1</c:f>
              <c:strCache>
                <c:ptCount val="1"/>
                <c:pt idx="0">
                  <c:v>abr-2026</c:v>
                </c:pt>
              </c:strCache>
            </c:strRef>
          </c:tx>
          <c:spPr>
            <a:solidFill>
              <a:srgbClr val="2A78D6"/>
            </a:solidFill>
            <a:ln w="2032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c:f>
              <c:multiLvlStrCache>
                <c:ptCount val="37"/>
                <c:lvl>
                  <c:pt idx="0">
                    <c:v>0</c:v>
                  </c:pt>
                  <c:pt idx="1">
                    <c:v> </c:v>
                  </c:pt>
                  <c:pt idx="2">
                    <c:v> </c:v>
                  </c:pt>
                  <c:pt idx="3">
                    <c:v> </c:v>
                  </c:pt>
                  <c:pt idx="4">
                    <c:v> </c:v>
                  </c:pt>
                  <c:pt idx="5">
                    <c:v> </c:v>
                  </c:pt>
                  <c:pt idx="6">
                    <c:v> </c:v>
                  </c:pt>
                  <c:pt idx="7">
                    <c:v> </c:v>
                  </c:pt>
                  <c:pt idx="8">
                    <c:v> </c:v>
                  </c:pt>
                  <c:pt idx="9">
                    <c:v> </c:v>
                  </c:pt>
                  <c:pt idx="10">
                    <c:v> </c:v>
                  </c:pt>
                  <c:pt idx="11">
                    <c:v> </c:v>
                  </c:pt>
                  <c:pt idx="12">
                    <c:v>12</c:v>
                  </c:pt>
                  <c:pt idx="13">
                    <c:v> </c:v>
                  </c:pt>
                  <c:pt idx="14">
                    <c:v> </c:v>
                  </c:pt>
                  <c:pt idx="15">
                    <c:v> </c:v>
                  </c:pt>
                  <c:pt idx="16">
                    <c:v> </c:v>
                  </c:pt>
                  <c:pt idx="17">
                    <c:v> </c:v>
                  </c:pt>
                  <c:pt idx="18">
                    <c:v> </c:v>
                  </c:pt>
                  <c:pt idx="19">
                    <c:v> </c:v>
                  </c:pt>
                  <c:pt idx="20">
                    <c:v> </c:v>
                  </c:pt>
                  <c:pt idx="21">
                    <c:v> </c:v>
                  </c:pt>
                  <c:pt idx="22">
                    <c:v> </c:v>
                  </c:pt>
                  <c:pt idx="23">
                    <c:v> </c:v>
                  </c:pt>
                  <c:pt idx="24">
                    <c:v>24</c:v>
                  </c:pt>
                  <c:pt idx="25">
                    <c:v> </c:v>
                  </c:pt>
                  <c:pt idx="26">
                    <c:v> </c:v>
                  </c:pt>
                  <c:pt idx="27">
                    <c:v> </c:v>
                  </c:pt>
                  <c:pt idx="28">
                    <c:v> </c:v>
                  </c:pt>
                  <c:pt idx="29">
                    <c:v> </c:v>
                  </c:pt>
                  <c:pt idx="30">
                    <c:v> </c:v>
                  </c:pt>
                  <c:pt idx="31">
                    <c:v> </c:v>
                  </c:pt>
                  <c:pt idx="32">
                    <c:v> </c:v>
                  </c:pt>
                  <c:pt idx="33">
                    <c:v> </c:v>
                  </c:pt>
                  <c:pt idx="34">
                    <c:v> </c:v>
                  </c:pt>
                  <c:pt idx="35">
                    <c:v> </c:v>
                  </c:pt>
                  <c:pt idx="36">
                    <c:v>36</c:v>
                  </c:pt>
                </c:lvl>
              </c:multiLvlStrCache>
            </c:multiLvlStrRef>
          </c:cat>
          <c:val>
            <c:numRef>
              <c:f>Sheet1!$C$2:$C$38</c:f>
              <c:numCache>
                <c:formatCode>General</c:formatCode>
                <c:ptCount val="37"/>
                <c:pt idx="0">
                  <c:v>0</c:v>
                </c:pt>
                <c:pt idx="1">
                  <c:v>0</c:v>
                </c:pt>
                <c:pt idx="2">
                  <c:v>0.18</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F0F3F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750" b="0" i="0" u="none" strike="noStrike">
                <a:solidFill>
                  <a:srgbClr val="62717F"/>
                </a:solidFill>
                <a:latin typeface="Arial"/>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Se pone al día</c:v>
                </c:pt>
              </c:strCache>
            </c:strRef>
          </c:tx>
          <c:spPr>
            <a:solidFill>
              <a:srgbClr val="0F7B3F"/>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61-90 días</c:v>
                  </c:pt>
                  <c:pt idx="1">
                    <c:v>31-60 días</c:v>
                  </c:pt>
                  <c:pt idx="2">
                    <c:v>1-30 días</c:v>
                  </c:pt>
                </c:lvl>
              </c:multiLvlStrCache>
            </c:multiLvlStrRef>
          </c:cat>
          <c:val>
            <c:numRef>
              <c:f>Sheet1!$B$2:$B$4</c:f>
              <c:numCache>
                <c:formatCode>General</c:formatCode>
                <c:ptCount val="3"/>
                <c:pt idx="0">
                  <c:v>9.4</c:v>
                </c:pt>
                <c:pt idx="1">
                  <c:v>9.2</c:v>
                </c:pt>
                <c:pt idx="2">
                  <c:v>40.9</c:v>
                </c:pt>
              </c:numCache>
            </c:numRef>
          </c:val>
        </c:ser>
        <c:ser>
          <c:idx val="1"/>
          <c:order val="1"/>
          <c:tx>
            <c:strRef>
              <c:f>Sheet1!$C$1</c:f>
              <c:strCache>
                <c:ptCount val="1"/>
                <c:pt idx="0">
                  <c:v>Sigue igual</c:v>
                </c:pt>
              </c:strCache>
            </c:strRef>
          </c:tx>
          <c:spPr>
            <a:solidFill>
              <a:srgbClr val="6E7D8C"/>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61-90 días</c:v>
                  </c:pt>
                  <c:pt idx="1">
                    <c:v>31-60 días</c:v>
                  </c:pt>
                  <c:pt idx="2">
                    <c:v>1-30 días</c:v>
                  </c:pt>
                </c:lvl>
              </c:multiLvlStrCache>
            </c:multiLvlStrRef>
          </c:cat>
          <c:val>
            <c:numRef>
              <c:f>Sheet1!$C$2:$C$4</c:f>
              <c:numCache>
                <c:formatCode>General</c:formatCode>
                <c:ptCount val="3"/>
                <c:pt idx="0">
                  <c:v>19.8</c:v>
                </c:pt>
                <c:pt idx="1">
                  <c:v>32.3</c:v>
                </c:pt>
                <c:pt idx="2">
                  <c:v>37.7</c:v>
                </c:pt>
              </c:numCache>
            </c:numRef>
          </c:val>
        </c:ser>
        <c:ser>
          <c:idx val="2"/>
          <c:order val="2"/>
          <c:tx>
            <c:strRef>
              <c:f>Sheet1!$D$1</c:f>
              <c:strCache>
                <c:ptCount val="1"/>
                <c:pt idx="0">
                  <c:v>Empeora</c:v>
                </c:pt>
              </c:strCache>
            </c:strRef>
          </c:tx>
          <c:spPr>
            <a:solidFill>
              <a:srgbClr val="C4342F"/>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61-90 días</c:v>
                  </c:pt>
                  <c:pt idx="1">
                    <c:v>31-60 días</c:v>
                  </c:pt>
                  <c:pt idx="2">
                    <c:v>1-30 días</c:v>
                  </c:pt>
                </c:lvl>
              </c:multiLvlStrCache>
            </c:multiLvlStrRef>
          </c:cat>
          <c:val>
            <c:numRef>
              <c:f>Sheet1!$D$2:$D$4</c:f>
              <c:numCache>
                <c:formatCode>General</c:formatCode>
                <c:ptCount val="3"/>
                <c:pt idx="0">
                  <c:v>52.6</c:v>
                </c:pt>
                <c:pt idx="1">
                  <c:v>30.6</c:v>
                </c:pt>
                <c:pt idx="2">
                  <c:v>19.8</c:v>
                </c:pt>
              </c:numCache>
            </c:numRef>
          </c:val>
        </c:ser>
        <c:ser>
          <c:idx val="3"/>
          <c:order val="3"/>
          <c:tx>
            <c:strRef>
              <c:f>Sheet1!$E$1</c:f>
              <c:strCache>
                <c:ptCount val="1"/>
                <c:pt idx="0">
                  <c:v>Se paga o sale</c:v>
                </c:pt>
              </c:strCache>
            </c:strRef>
          </c:tx>
          <c:spPr>
            <a:solidFill>
              <a:srgbClr val="B9C3CD"/>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61-90 días</c:v>
                  </c:pt>
                  <c:pt idx="1">
                    <c:v>31-60 días</c:v>
                  </c:pt>
                  <c:pt idx="2">
                    <c:v>1-30 días</c:v>
                  </c:pt>
                </c:lvl>
              </c:multiLvlStrCache>
            </c:multiLvlStrRef>
          </c:cat>
          <c:val>
            <c:numRef>
              <c:f>Sheet1!$E$2:$E$4</c:f>
              <c:numCache>
                <c:formatCode>General</c:formatCode>
                <c:ptCount val="3"/>
                <c:pt idx="0">
                  <c:v>18.2</c:v>
                </c:pt>
                <c:pt idx="1">
                  <c:v>27.9</c:v>
                </c:pt>
                <c:pt idx="2">
                  <c:v>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DF0F3"/>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62717F"/>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050">
              <a:solidFill>
                <a:srgbClr val="62717F"/>
              </a:solidFill>
            </a:defRPr>
          </a:pPr>
          <a:endParaRPr lang="en-US"/>
        </a:p>
      </c:txPr>
    </c:legend>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Saldo</c:v>
                </c:pt>
              </c:strCache>
            </c:strRef>
          </c:tx>
          <c:spPr>
            <a:solidFill>
              <a:srgbClr val="2A78D6"/>
            </a:solidFill>
            <a:ln w="12700" cap="flat">
              <a:solidFill>
                <a:srgbClr val="FFFFFF"/>
              </a:solidFill>
              <a:prstDash val="solid"/>
              <a:round/>
            </a:ln>
            <a:effectLst/>
          </c:spPr>
          <c:invertIfNegative val="0"/>
          <c:dLbls>
            <c:numFmt formatCode="0" sourceLinked="0"/>
            <c:txPr>
              <a:bodyPr/>
              <a:lstStyle/>
              <a:p>
                <a:pPr>
                  <a:defRPr b="0" i="0" strike="noStrike" sz="950" u="none">
                    <a:solidFill>
                      <a:srgbClr val="62717F"/>
                    </a:solidFill>
                    <a:latin typeface="Arial"/>
                  </a:defRPr>
                </a:pPr>
              </a:p>
            </c:txPr>
            <c:showLegendKey val="0"/>
            <c:showVal val="1"/>
            <c:showCatName val="0"/>
            <c:showSerName val="0"/>
            <c:showPercent val="0"/>
            <c:showBubbleSize val="0"/>
            <c:showLeaderLines val="0"/>
          </c:dLbls>
          <c:cat>
            <c:multiLvlStrRef>
              <c:f>Sheet1!$A$2:$A$8</c:f>
              <c:multiLvlStrCache>
                <c:ptCount val="7"/>
                <c:lvl>
                  <c:pt idx="0">
                    <c:v>Al día</c:v>
                  </c:pt>
                  <c:pt idx="1">
                    <c:v>1-30</c:v>
                  </c:pt>
                  <c:pt idx="2">
                    <c:v>31-60</c:v>
                  </c:pt>
                  <c:pt idx="3">
                    <c:v>61-90</c:v>
                  </c:pt>
                  <c:pt idx="4">
                    <c:v>91-180</c:v>
                  </c:pt>
                  <c:pt idx="5">
                    <c:v>181-360</c:v>
                  </c:pt>
                  <c:pt idx="6">
                    <c:v>+360 días</c:v>
                  </c:pt>
                </c:lvl>
              </c:multiLvlStrCache>
            </c:multiLvlStrRef>
          </c:cat>
          <c:val>
            <c:numRef>
              <c:f>Sheet1!$B$2:$B$8</c:f>
              <c:numCache>
                <c:formatCode>General</c:formatCode>
                <c:ptCount val="7"/>
                <c:pt idx="0">
                  <c:v>3094</c:v>
                </c:pt>
                <c:pt idx="1">
                  <c:v>607</c:v>
                </c:pt>
                <c:pt idx="2">
                  <c:v>245</c:v>
                </c:pt>
                <c:pt idx="3">
                  <c:v>109</c:v>
                </c:pt>
                <c:pt idx="4">
                  <c:v>115</c:v>
                </c:pt>
                <c:pt idx="5">
                  <c:v>114</c:v>
                </c:pt>
                <c:pt idx="6">
                  <c:v>146</c:v>
                </c:pt>
              </c:numCache>
            </c:numRef>
          </c:val>
        </c:ser>
        <c:dLbls>
          <c:numFmt formatCode="0" sourceLinked="0"/>
          <c:txPr>
            <a:bodyPr/>
            <a:lstStyle/>
            <a:p>
              <a:pPr>
                <a:defRPr b="0" i="0" strike="noStrike" sz="950" u="none">
                  <a:solidFill>
                    <a:srgbClr val="62717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DF0F3"/>
              </a:solidFill>
              <a:prstDash val="solid"/>
              <a:round/>
            </a:ln>
          </c:spPr>
        </c:majorGridlines>
        <c:numFmt formatCode="0" sourceLinked="0"/>
        <c:majorTickMark val="out"/>
        <c:minorTickMark val="none"/>
        <c:tickLblPos val="nextTo"/>
        <c:spPr>
          <a:ln w="12700" cap="flat">
            <a:noFill/>
            <a:prstDash val="solid"/>
            <a:round/>
          </a:ln>
        </c:spPr>
        <c:txPr>
          <a:bodyPr/>
          <a:lstStyle/>
          <a:p>
            <a:pPr>
              <a:defRPr sz="950" b="0" i="0" u="none" strike="noStrike">
                <a:solidFill>
                  <a:srgbClr val="6271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Mora 30+ al mes 6</c:v>
                </c:pt>
              </c:strCache>
            </c:strRef>
          </c:tx>
          <c:spPr>
            <a:solidFill>
              <a:srgbClr val="2A78D6"/>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Puerto Berrío · Suzuki   5,8%</c:v>
                  </c:pt>
                  <c:pt idx="1">
                    <c:v>Puerto Boyacá   6,1%</c:v>
                  </c:pt>
                  <c:pt idx="2">
                    <c:v>Puerto Berrío · Hero   8,1%</c:v>
                  </c:pt>
                  <c:pt idx="3">
                    <c:v>Valledupar · Suzuki   8,8%</c:v>
                  </c:pt>
                  <c:pt idx="4">
                    <c:v>Aguachica · Hero   9,6%</c:v>
                  </c:pt>
                  <c:pt idx="5">
                    <c:v>Puerto Berrío · AKT   12,0%</c:v>
                  </c:pt>
                  <c:pt idx="6">
                    <c:v>Cartagena · Suzuki   12,4%</c:v>
                  </c:pt>
                </c:lvl>
              </c:multiLvlStrCache>
            </c:multiLvlStrRef>
          </c:cat>
          <c:val>
            <c:numRef>
              <c:f>Sheet1!$B$2:$B$8</c:f>
              <c:numCache>
                <c:formatCode>General</c:formatCode>
                <c:ptCount val="7"/>
                <c:pt idx="0">
                  <c:v>5.8</c:v>
                </c:pt>
                <c:pt idx="1">
                  <c:v>6.1</c:v>
                </c:pt>
                <c:pt idx="2">
                  <c:v>8.1</c:v>
                </c:pt>
                <c:pt idx="3">
                  <c:v>8.8</c:v>
                </c:pt>
                <c:pt idx="4">
                  <c:v>9.6</c:v>
                </c:pt>
                <c:pt idx="5">
                  <c:v>12</c:v>
                </c:pt>
                <c:pt idx="6">
                  <c:v>12.4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9525" cap="flat">
              <a:solidFill>
                <a:srgbClr val="EDF0F3"/>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62717F"/>
                </a:solidFill>
                <a:latin typeface="Arial"/>
              </a:defRPr>
            </a:pPr>
            <a:endParaRPr lang="en-US"/>
          </a:p>
        </c:txPr>
        <c:crossAx val="2094734554"/>
        <c:crosses val="autoZero"/>
        <c:crossBetween val="between"/>
        <c:majorUnit val="3.5"/>
      </c:valAx>
      <c:spPr>
        <a:no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ICV</c:v>
                </c:pt>
              </c:strCache>
            </c:strRef>
          </c:tx>
          <c:spPr>
            <a:solidFill>
              <a:srgbClr val="EB6834"/>
            </a:solidFill>
            <a:ln w="12700" cap="flat">
              <a:solidFill>
                <a:srgbClr val="FFFFFF"/>
              </a:solidFill>
              <a:prstDash val="solid"/>
              <a:round/>
            </a:ln>
            <a:effectLst/>
          </c:spPr>
          <c:invertIfNegative val="0"/>
          <c:dLbls>
            <c:numFmt formatCode="0&quot;%&quot;" sourceLinked="0"/>
            <c:txPr>
              <a:bodyPr/>
              <a:lstStyle/>
              <a:p>
                <a:pPr>
                  <a:defRPr b="1" i="0" strike="noStrike" sz="1000" u="none">
                    <a:solidFill>
                      <a:srgbClr val="18242F"/>
                    </a:solidFill>
                    <a:latin typeface="Arial"/>
                  </a:defRPr>
                </a:pPr>
              </a:p>
            </c:txPr>
            <c:showLegendKey val="0"/>
            <c:showVal val="1"/>
            <c:showCatName val="0"/>
            <c:showSerName val="0"/>
            <c:showPercent val="0"/>
            <c:showBubbleSize val="0"/>
            <c:showLeaderLines val="0"/>
          </c:dLbls>
          <c:cat>
            <c:multiLvlStrRef>
              <c:f>Sheet1!$A$2:$A$5</c:f>
              <c:multiLvlStrCache>
                <c:ptCount val="4"/>
                <c:lvl>
                  <c:pt idx="0">
                    <c:v>Cosechas 2023</c:v>
                  </c:pt>
                  <c:pt idx="1">
                    <c:v>Cosechas 2024</c:v>
                  </c:pt>
                  <c:pt idx="2">
                    <c:v>Cosechas 2025</c:v>
                  </c:pt>
                  <c:pt idx="3">
                    <c:v>Cosechas 2026</c:v>
                  </c:pt>
                </c:lvl>
              </c:multiLvlStrCache>
            </c:multiLvlStrRef>
          </c:cat>
          <c:val>
            <c:numRef>
              <c:f>Sheet1!$B$2:$B$5</c:f>
              <c:numCache>
                <c:formatCode>General</c:formatCode>
                <c:ptCount val="4"/>
                <c:pt idx="0">
                  <c:v>98.9</c:v>
                </c:pt>
                <c:pt idx="1">
                  <c:v>55.5</c:v>
                </c:pt>
                <c:pt idx="2">
                  <c:v>30.4</c:v>
                </c:pt>
                <c:pt idx="3">
                  <c:v>5.4</c:v>
                </c:pt>
              </c:numCache>
            </c:numRef>
          </c:val>
        </c:ser>
        <c:dLbls>
          <c:numFmt formatCode="0&quot;%&quot;" sourceLinked="0"/>
          <c:txPr>
            <a:bodyPr/>
            <a:lstStyle/>
            <a:p>
              <a:pPr>
                <a:defRPr b="1" i="0" strike="noStrike" sz="1000" u="none">
                  <a:solidFill>
                    <a:srgbClr val="18242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DF0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50" b="0" i="0" u="none" strike="noStrike">
                <a:solidFill>
                  <a:srgbClr val="62717F"/>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Colocación</c:v>
                </c:pt>
              </c:strCache>
            </c:strRef>
          </c:tx>
          <c:spPr>
            <a:solidFill>
              <a:srgbClr val="2A78D6"/>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Sheet1!$A$2:$A$57</c:f>
              <c:multiLvlStrCache>
                <c:ptCount val="56"/>
                <c:lvl>
                  <c:pt idx="0">
                    <c:v>2022</c:v>
                  </c:pt>
                  <c:pt idx="1">
                    <c:v> </c:v>
                  </c:pt>
                  <c:pt idx="2">
                    <c:v> </c:v>
                  </c:pt>
                  <c:pt idx="3">
                    <c:v> </c:v>
                  </c:pt>
                  <c:pt idx="4">
                    <c:v> </c:v>
                  </c:pt>
                  <c:pt idx="5">
                    <c:v> </c:v>
                  </c:pt>
                  <c:pt idx="6">
                    <c:v> </c:v>
                  </c:pt>
                  <c:pt idx="7">
                    <c:v> </c:v>
                  </c:pt>
                  <c:pt idx="8">
                    <c:v> </c:v>
                  </c:pt>
                  <c:pt idx="9">
                    <c:v> </c:v>
                  </c:pt>
                  <c:pt idx="10">
                    <c:v> </c:v>
                  </c:pt>
                  <c:pt idx="11">
                    <c:v> </c:v>
                  </c:pt>
                  <c:pt idx="12">
                    <c:v>2023</c:v>
                  </c:pt>
                  <c:pt idx="13">
                    <c:v> </c:v>
                  </c:pt>
                  <c:pt idx="14">
                    <c:v> </c:v>
                  </c:pt>
                  <c:pt idx="15">
                    <c:v> </c:v>
                  </c:pt>
                  <c:pt idx="16">
                    <c:v> </c:v>
                  </c:pt>
                  <c:pt idx="17">
                    <c:v> </c:v>
                  </c:pt>
                  <c:pt idx="18">
                    <c:v> </c:v>
                  </c:pt>
                  <c:pt idx="19">
                    <c:v> </c:v>
                  </c:pt>
                  <c:pt idx="20">
                    <c:v> </c:v>
                  </c:pt>
                  <c:pt idx="21">
                    <c:v> </c:v>
                  </c:pt>
                  <c:pt idx="22">
                    <c:v> </c:v>
                  </c:pt>
                  <c:pt idx="23">
                    <c:v> </c:v>
                  </c:pt>
                  <c:pt idx="24">
                    <c:v>2024</c:v>
                  </c:pt>
                  <c:pt idx="25">
                    <c:v> </c:v>
                  </c:pt>
                  <c:pt idx="26">
                    <c:v> </c:v>
                  </c:pt>
                  <c:pt idx="27">
                    <c:v> </c:v>
                  </c:pt>
                  <c:pt idx="28">
                    <c:v> </c:v>
                  </c:pt>
                  <c:pt idx="29">
                    <c:v> </c:v>
                  </c:pt>
                  <c:pt idx="30">
                    <c:v> </c:v>
                  </c:pt>
                  <c:pt idx="31">
                    <c:v> </c:v>
                  </c:pt>
                  <c:pt idx="32">
                    <c:v> </c:v>
                  </c:pt>
                  <c:pt idx="33">
                    <c:v> </c:v>
                  </c:pt>
                  <c:pt idx="34">
                    <c:v> </c:v>
                  </c:pt>
                  <c:pt idx="35">
                    <c:v> </c:v>
                  </c:pt>
                  <c:pt idx="36">
                    <c:v>2025</c:v>
                  </c:pt>
                  <c:pt idx="37">
                    <c:v> </c:v>
                  </c:pt>
                  <c:pt idx="38">
                    <c:v> </c:v>
                  </c:pt>
                  <c:pt idx="39">
                    <c:v> </c:v>
                  </c:pt>
                  <c:pt idx="40">
                    <c:v> </c:v>
                  </c:pt>
                  <c:pt idx="41">
                    <c:v> </c:v>
                  </c:pt>
                  <c:pt idx="42">
                    <c:v> </c:v>
                  </c:pt>
                  <c:pt idx="43">
                    <c:v> </c:v>
                  </c:pt>
                  <c:pt idx="44">
                    <c:v> </c:v>
                  </c:pt>
                  <c:pt idx="45">
                    <c:v> </c:v>
                  </c:pt>
                  <c:pt idx="46">
                    <c:v> </c:v>
                  </c:pt>
                  <c:pt idx="47">
                    <c:v> </c:v>
                  </c:pt>
                  <c:pt idx="48">
                    <c:v>2026</c:v>
                  </c:pt>
                  <c:pt idx="49">
                    <c:v> </c:v>
                  </c:pt>
                  <c:pt idx="50">
                    <c:v> </c:v>
                  </c:pt>
                  <c:pt idx="51">
                    <c:v> </c:v>
                  </c:pt>
                  <c:pt idx="52">
                    <c:v> </c:v>
                  </c:pt>
                  <c:pt idx="53">
                    <c:v> </c:v>
                  </c:pt>
                  <c:pt idx="54">
                    <c:v> </c:v>
                  </c:pt>
                  <c:pt idx="55">
                    <c:v> </c:v>
                  </c:pt>
                </c:lvl>
              </c:multiLvlStrCache>
            </c:multiLvlStrRef>
          </c:cat>
          <c:val>
            <c:numRef>
              <c:f>Sheet1!$B$2:$B$57</c:f>
              <c:numCache>
                <c:formatCode>General</c:formatCode>
                <c:ptCount val="56"/>
                <c:pt idx="0">
                  <c:v>55</c:v>
                </c:pt>
                <c:pt idx="1">
                  <c:v>245</c:v>
                </c:pt>
                <c:pt idx="2">
                  <c:v>280</c:v>
                </c:pt>
                <c:pt idx="3">
                  <c:v>298</c:v>
                </c:pt>
                <c:pt idx="4">
                  <c:v>231</c:v>
                </c:pt>
                <c:pt idx="5">
                  <c:v>222</c:v>
                </c:pt>
                <c:pt idx="6">
                  <c:v>189</c:v>
                </c:pt>
                <c:pt idx="7">
                  <c:v>234</c:v>
                </c:pt>
                <c:pt idx="8">
                  <c:v>223</c:v>
                </c:pt>
                <c:pt idx="9">
                  <c:v>111</c:v>
                </c:pt>
                <c:pt idx="10">
                  <c:v>133</c:v>
                </c:pt>
                <c:pt idx="11">
                  <c:v>140</c:v>
                </c:pt>
                <c:pt idx="12">
                  <c:v>193</c:v>
                </c:pt>
                <c:pt idx="13">
                  <c:v>309</c:v>
                </c:pt>
                <c:pt idx="14">
                  <c:v>338</c:v>
                </c:pt>
                <c:pt idx="15">
                  <c:v>304</c:v>
                </c:pt>
                <c:pt idx="16">
                  <c:v>312</c:v>
                </c:pt>
                <c:pt idx="17">
                  <c:v>211</c:v>
                </c:pt>
                <c:pt idx="18">
                  <c:v>226</c:v>
                </c:pt>
                <c:pt idx="19">
                  <c:v>480</c:v>
                </c:pt>
                <c:pt idx="20">
                  <c:v>273</c:v>
                </c:pt>
                <c:pt idx="21">
                  <c:v>160</c:v>
                </c:pt>
                <c:pt idx="22">
                  <c:v>183</c:v>
                </c:pt>
                <c:pt idx="23">
                  <c:v>298</c:v>
                </c:pt>
                <c:pt idx="24">
                  <c:v>218</c:v>
                </c:pt>
                <c:pt idx="25">
                  <c:v>291</c:v>
                </c:pt>
                <c:pt idx="26">
                  <c:v>253</c:v>
                </c:pt>
                <c:pt idx="27">
                  <c:v>153</c:v>
                </c:pt>
                <c:pt idx="28">
                  <c:v>238</c:v>
                </c:pt>
                <c:pt idx="29">
                  <c:v>232</c:v>
                </c:pt>
                <c:pt idx="30">
                  <c:v>249</c:v>
                </c:pt>
                <c:pt idx="31">
                  <c:v>226</c:v>
                </c:pt>
                <c:pt idx="32">
                  <c:v>239</c:v>
                </c:pt>
                <c:pt idx="33">
                  <c:v>261</c:v>
                </c:pt>
                <c:pt idx="34">
                  <c:v>251</c:v>
                </c:pt>
                <c:pt idx="35">
                  <c:v>397</c:v>
                </c:pt>
                <c:pt idx="36">
                  <c:v>308</c:v>
                </c:pt>
                <c:pt idx="37">
                  <c:v>297</c:v>
                </c:pt>
                <c:pt idx="38">
                  <c:v>395</c:v>
                </c:pt>
                <c:pt idx="39">
                  <c:v>321</c:v>
                </c:pt>
                <c:pt idx="40">
                  <c:v>370</c:v>
                </c:pt>
                <c:pt idx="41">
                  <c:v>280</c:v>
                </c:pt>
                <c:pt idx="42">
                  <c:v>367</c:v>
                </c:pt>
                <c:pt idx="43">
                  <c:v>292</c:v>
                </c:pt>
                <c:pt idx="44">
                  <c:v>303</c:v>
                </c:pt>
                <c:pt idx="45">
                  <c:v>378</c:v>
                </c:pt>
                <c:pt idx="46">
                  <c:v>401</c:v>
                </c:pt>
                <c:pt idx="47">
                  <c:v>477</c:v>
                </c:pt>
                <c:pt idx="48">
                  <c:v>416</c:v>
                </c:pt>
                <c:pt idx="49">
                  <c:v>486</c:v>
                </c:pt>
                <c:pt idx="50">
                  <c:v>432</c:v>
                </c:pt>
                <c:pt idx="51">
                  <c:v>507</c:v>
                </c:pt>
                <c:pt idx="52">
                  <c:v>458</c:v>
                </c:pt>
                <c:pt idx="53">
                  <c:v>355</c:v>
                </c:pt>
                <c:pt idx="54">
                  <c:v>548</c:v>
                </c:pt>
                <c:pt idx="55">
                  <c:v>398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2717F"/>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DF0F3"/>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271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 de cosechas de la cartera de crédito de motos. El mensaje central: la originación mejoró desde 2024. Pero hay una salvedad contable de julio que hay que explicar antes de mostrar resultados — lámina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por aquí. Los tres números de arriba son el informe entero. Las tres decisiones de abajo son lo que se somete a aprobación.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va antes de los resultados a propósito. Si la junta se entera del castigo después de ver las mejoras, se pierde la credibilidad de todo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Treinta segundos. Si la junta ya maneja el concepto, saltar directo a la lámina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del informe. Si hay una sola lámina que discutir, es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a edad constante: todas las cosechas medidas en el mes 12. Es la única comparación limpia entre cosechas.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multiples: misma escala en los 12 cuadros, así que las formas se comparan directamente. La línea gris es idéntica en todos: el patrón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multiples: misma escala en los 12 cuadros, así que las formas se comparan directamente. La línea gris es idéntica en todos: el patrón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multiples: misma escala en los 12 cuadros, así que las formas se comparan directamente. La línea gris es idéntica en todos: el patrón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multiples: misma escala en los 12 cuadros, así que las formas se comparan directamente. La línea gris es idéntica en todos: el patrón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multiples: misma escala en los 4 cuadros, así que las formas se comparan directamente. La línea gris es idéntica en todos: el patrón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justifica presupuesto de cobranza temprana. El 41% de cura en el primer balde contra 9% en el segundo es el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por qué el número de este informe no coincide con el de contabilidad, esta es la lámina: son denominadores y numeradores distintos, y ambos son correctos.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comparación es a edad constante, que es lo que la hace defendible. Si preguntan por qué no se ven todas las cosechas: a los 6 meses la cobertura es del 81%, más allá el sesgo de supervivencia la arruina.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concentración es el argumento para focalizar cobranza: 122 créditos, no 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Nunca cerrar un informe sin decir qué no se pudo responder. Es lo que evita que la junta asuma que lo que no se mencionó está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decisión tiene dueño, fecha y monto. Si la junta quiere aprobar solo una, la número 2 es la urgente: sin ella no se puede reportar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chart" Target="/ppt/charts/chart7.xml"/><Relationship Id="rId6" Type="http://schemas.openxmlformats.org/officeDocument/2006/relationships/chart" Target="/ppt/charts/chart8.xml"/><Relationship Id="rId7" Type="http://schemas.openxmlformats.org/officeDocument/2006/relationships/chart" Target="/ppt/charts/chart9.xml"/><Relationship Id="rId8" Type="http://schemas.openxmlformats.org/officeDocument/2006/relationships/chart" Target="/ppt/charts/chart10.xml"/><Relationship Id="rId9" Type="http://schemas.openxmlformats.org/officeDocument/2006/relationships/chart" Target="/ppt/charts/chart11.xml"/><Relationship Id="rId10" Type="http://schemas.openxmlformats.org/officeDocument/2006/relationships/chart" Target="/ppt/charts/chart12.xml"/><Relationship Id="rId11" Type="http://schemas.openxmlformats.org/officeDocument/2006/relationships/chart" Target="/ppt/charts/chart13.xml"/><Relationship Id="rId12" Type="http://schemas.openxmlformats.org/officeDocument/2006/relationships/chart" Target="/ppt/charts/chart14.xml"/><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chart" Target="/ppt/charts/chart17.xml"/><Relationship Id="rId4" Type="http://schemas.openxmlformats.org/officeDocument/2006/relationships/chart" Target="/ppt/charts/chart18.xml"/><Relationship Id="rId5" Type="http://schemas.openxmlformats.org/officeDocument/2006/relationships/chart" Target="/ppt/charts/chart19.xml"/><Relationship Id="rId6" Type="http://schemas.openxmlformats.org/officeDocument/2006/relationships/chart" Target="/ppt/charts/chart20.xml"/><Relationship Id="rId7" Type="http://schemas.openxmlformats.org/officeDocument/2006/relationships/chart" Target="/ppt/charts/chart21.xml"/><Relationship Id="rId8" Type="http://schemas.openxmlformats.org/officeDocument/2006/relationships/chart" Target="/ppt/charts/chart22.xml"/><Relationship Id="rId9" Type="http://schemas.openxmlformats.org/officeDocument/2006/relationships/chart" Target="/ppt/charts/chart23.xml"/><Relationship Id="rId10" Type="http://schemas.openxmlformats.org/officeDocument/2006/relationships/chart" Target="/ppt/charts/chart24.xml"/><Relationship Id="rId11" Type="http://schemas.openxmlformats.org/officeDocument/2006/relationships/chart" Target="/ppt/charts/chart25.xml"/><Relationship Id="rId12" Type="http://schemas.openxmlformats.org/officeDocument/2006/relationships/chart" Target="/ppt/charts/chart26.xml"/><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chart" Target="/ppt/charts/chart28.xml"/><Relationship Id="rId3" Type="http://schemas.openxmlformats.org/officeDocument/2006/relationships/chart" Target="/ppt/charts/chart29.xml"/><Relationship Id="rId4" Type="http://schemas.openxmlformats.org/officeDocument/2006/relationships/chart" Target="/ppt/charts/chart30.xml"/><Relationship Id="rId5" Type="http://schemas.openxmlformats.org/officeDocument/2006/relationships/chart" Target="/ppt/charts/chart31.xml"/><Relationship Id="rId6" Type="http://schemas.openxmlformats.org/officeDocument/2006/relationships/chart" Target="/ppt/charts/chart32.xml"/><Relationship Id="rId7" Type="http://schemas.openxmlformats.org/officeDocument/2006/relationships/chart" Target="/ppt/charts/chart33.xml"/><Relationship Id="rId8" Type="http://schemas.openxmlformats.org/officeDocument/2006/relationships/chart" Target="/ppt/charts/chart34.xml"/><Relationship Id="rId9" Type="http://schemas.openxmlformats.org/officeDocument/2006/relationships/chart" Target="/ppt/charts/chart35.xml"/><Relationship Id="rId10" Type="http://schemas.openxmlformats.org/officeDocument/2006/relationships/chart" Target="/ppt/charts/chart36.xml"/><Relationship Id="rId11" Type="http://schemas.openxmlformats.org/officeDocument/2006/relationships/chart" Target="/ppt/charts/chart37.xml"/><Relationship Id="rId12" Type="http://schemas.openxmlformats.org/officeDocument/2006/relationships/chart" Target="/ppt/charts/chart38.xml"/><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chart" Target="/ppt/charts/chart40.xml"/><Relationship Id="rId3" Type="http://schemas.openxmlformats.org/officeDocument/2006/relationships/chart" Target="/ppt/charts/chart41.xml"/><Relationship Id="rId4" Type="http://schemas.openxmlformats.org/officeDocument/2006/relationships/chart" Target="/ppt/charts/chart42.xml"/><Relationship Id="rId5" Type="http://schemas.openxmlformats.org/officeDocument/2006/relationships/chart" Target="/ppt/charts/chart43.xml"/><Relationship Id="rId6" Type="http://schemas.openxmlformats.org/officeDocument/2006/relationships/chart" Target="/ppt/charts/chart44.xml"/><Relationship Id="rId7" Type="http://schemas.openxmlformats.org/officeDocument/2006/relationships/chart" Target="/ppt/charts/chart45.xml"/><Relationship Id="rId8" Type="http://schemas.openxmlformats.org/officeDocument/2006/relationships/chart" Target="/ppt/charts/chart46.xml"/><Relationship Id="rId9" Type="http://schemas.openxmlformats.org/officeDocument/2006/relationships/chart" Target="/ppt/charts/chart47.xml"/><Relationship Id="rId10" Type="http://schemas.openxmlformats.org/officeDocument/2006/relationships/chart" Target="/ppt/charts/chart48.xml"/><Relationship Id="rId11" Type="http://schemas.openxmlformats.org/officeDocument/2006/relationships/chart" Target="/ppt/charts/chart49.xml"/><Relationship Id="rId12" Type="http://schemas.openxmlformats.org/officeDocument/2006/relationships/chart" Target="/ppt/charts/chart50.xml"/><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chart" Target="/ppt/charts/chart52.xml"/><Relationship Id="rId3" Type="http://schemas.openxmlformats.org/officeDocument/2006/relationships/chart" Target="/ppt/charts/chart53.xml"/><Relationship Id="rId4" Type="http://schemas.openxmlformats.org/officeDocument/2006/relationships/chart" Target="/ppt/charts/chart54.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566928" y="1371600"/>
            <a:ext cx="10058400" cy="274320"/>
          </a:xfrm>
          <a:prstGeom prst="rect">
            <a:avLst/>
          </a:prstGeom>
          <a:noFill/>
          <a:ln/>
        </p:spPr>
        <p:txBody>
          <a:bodyPr wrap="square" lIns="0" tIns="0" rIns="0" bIns="0" rtlCol="0" anchor="ctr"/>
          <a:lstStyle/>
          <a:p>
            <a:pPr indent="0" marL="0">
              <a:buNone/>
            </a:pPr>
            <a:r>
              <a:rPr lang="en-US" sz="1100" b="1" spc="200" kern="0" dirty="0">
                <a:solidFill>
                  <a:srgbClr val="7FA9DC"/>
                </a:solidFill>
                <a:latin typeface="Calibri" pitchFamily="34" charset="0"/>
                <a:ea typeface="Calibri" pitchFamily="34" charset="-122"/>
                <a:cs typeface="Calibri" pitchFamily="34" charset="-120"/>
              </a:rPr>
              <a:t>INFORME A JUNTA DIRECTIVA · SEPTIEMBRE DE 2026</a:t>
            </a:r>
            <a:endParaRPr lang="en-US" sz="1100" dirty="0"/>
          </a:p>
        </p:txBody>
      </p:sp>
      <p:sp>
        <p:nvSpPr>
          <p:cNvPr id="3" name="Text 1"/>
          <p:cNvSpPr txBox="1"/>
          <p:nvPr/>
        </p:nvSpPr>
        <p:spPr>
          <a:xfrm>
            <a:off x="566928" y="1828800"/>
            <a:ext cx="10241280" cy="1554480"/>
          </a:xfrm>
          <a:prstGeom prst="rect">
            <a:avLst/>
          </a:prstGeom>
          <a:noFill/>
          <a:ln/>
        </p:spPr>
        <p:txBody>
          <a:bodyPr wrap="square" lIns="0" tIns="0" rIns="0" bIns="0" rtlCol="0" anchor="t"/>
          <a:lstStyle/>
          <a:p>
            <a:pPr indent="0" marL="0">
              <a:lnSpc>
                <a:spcPts val="4500"/>
              </a:lnSpc>
              <a:buNone/>
            </a:pPr>
            <a:r>
              <a:rPr lang="en-US" sz="3400" b="1" dirty="0">
                <a:solidFill>
                  <a:srgbClr val="FFFFFF"/>
                </a:solidFill>
                <a:latin typeface="Cambria" pitchFamily="34" charset="0"/>
                <a:ea typeface="Cambria" pitchFamily="34" charset="-122"/>
                <a:cs typeface="Cambria" pitchFamily="34" charset="-120"/>
              </a:rPr>
              <a:t>Desde 2024 la originación mejoró:</a:t>
            </a:r>
            <a:endParaRPr lang="en-US" sz="3400" dirty="0"/>
          </a:p>
          <a:p>
            <a:pPr indent="0" marL="0">
              <a:lnSpc>
                <a:spcPts val="4500"/>
              </a:lnSpc>
              <a:buNone/>
            </a:pPr>
            <a:r>
              <a:rPr lang="en-US" sz="3400" b="1" dirty="0">
                <a:solidFill>
                  <a:srgbClr val="FFFFFF"/>
                </a:solidFill>
                <a:latin typeface="Cambria" pitchFamily="34" charset="0"/>
                <a:ea typeface="Cambria" pitchFamily="34" charset="-122"/>
                <a:cs typeface="Cambria" pitchFamily="34" charset="-120"/>
              </a:rPr>
              <a:t>al mes 18, la mitad de la mora de 2022 y 2023</a:t>
            </a:r>
            <a:endParaRPr lang="en-US" sz="3400" dirty="0"/>
          </a:p>
        </p:txBody>
      </p:sp>
      <p:sp>
        <p:nvSpPr>
          <p:cNvPr id="4" name="Text 2"/>
          <p:cNvSpPr txBox="1"/>
          <p:nvPr/>
        </p:nvSpPr>
        <p:spPr>
          <a:xfrm>
            <a:off x="566928" y="3520440"/>
            <a:ext cx="9144000" cy="329184"/>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Análisis de cosechas de la originación de crédito de motocicletas</a:t>
            </a:r>
            <a:endParaRPr lang="en-US" sz="1500" dirty="0"/>
          </a:p>
        </p:txBody>
      </p:sp>
      <p:sp>
        <p:nvSpPr>
          <p:cNvPr id="5" name="Text 3"/>
          <p:cNvSpPr txBox="1"/>
          <p:nvPr/>
        </p:nvSpPr>
        <p:spPr>
          <a:xfrm>
            <a:off x="566928" y="4343400"/>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56 cosechas</a:t>
            </a:r>
            <a:endParaRPr lang="en-US" sz="1900" dirty="0"/>
          </a:p>
        </p:txBody>
      </p:sp>
      <p:sp>
        <p:nvSpPr>
          <p:cNvPr id="6" name="Text 4"/>
          <p:cNvSpPr txBox="1"/>
          <p:nvPr/>
        </p:nvSpPr>
        <p:spPr>
          <a:xfrm>
            <a:off x="566928" y="4718304"/>
            <a:ext cx="2926080" cy="274320"/>
          </a:xfrm>
          <a:prstGeom prst="rect">
            <a:avLst/>
          </a:prstGeom>
          <a:noFill/>
          <a:ln/>
        </p:spPr>
        <p:txBody>
          <a:bodyPr wrap="square" lIns="0" tIns="0" rIns="0" bIns="0" rtlCol="0" anchor="ctr"/>
          <a:lstStyle/>
          <a:p>
            <a:pPr indent="0" marL="0">
              <a:buNone/>
            </a:pPr>
            <a:r>
              <a:rPr lang="en-US" sz="1050" dirty="0">
                <a:solidFill>
                  <a:srgbClr val="9FB6D4"/>
                </a:solidFill>
                <a:latin typeface="Calibri" pitchFamily="34" charset="0"/>
                <a:ea typeface="Calibri" pitchFamily="34" charset="-122"/>
                <a:cs typeface="Calibri" pitchFamily="34" charset="-120"/>
              </a:rPr>
              <a:t>enero 2022 – agosto 2026</a:t>
            </a:r>
            <a:endParaRPr lang="en-US" sz="1050" dirty="0"/>
          </a:p>
        </p:txBody>
      </p:sp>
      <p:sp>
        <p:nvSpPr>
          <p:cNvPr id="7" name="Text 5"/>
          <p:cNvSpPr txBox="1"/>
          <p:nvPr/>
        </p:nvSpPr>
        <p:spPr>
          <a:xfrm>
            <a:off x="3767328" y="4343400"/>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COP 16.448 M</a:t>
            </a:r>
            <a:endParaRPr lang="en-US" sz="1900" dirty="0"/>
          </a:p>
        </p:txBody>
      </p:sp>
      <p:sp>
        <p:nvSpPr>
          <p:cNvPr id="8" name="Text 6"/>
          <p:cNvSpPr txBox="1"/>
          <p:nvPr/>
        </p:nvSpPr>
        <p:spPr>
          <a:xfrm>
            <a:off x="3767328" y="4718304"/>
            <a:ext cx="2926080" cy="274320"/>
          </a:xfrm>
          <a:prstGeom prst="rect">
            <a:avLst/>
          </a:prstGeom>
          <a:noFill/>
          <a:ln/>
        </p:spPr>
        <p:txBody>
          <a:bodyPr wrap="square" lIns="0" tIns="0" rIns="0" bIns="0" rtlCol="0" anchor="ctr"/>
          <a:lstStyle/>
          <a:p>
            <a:pPr indent="0" marL="0">
              <a:buNone/>
            </a:pPr>
            <a:r>
              <a:rPr lang="en-US" sz="1050" dirty="0">
                <a:solidFill>
                  <a:srgbClr val="9FB6D4"/>
                </a:solidFill>
                <a:latin typeface="Calibri" pitchFamily="34" charset="0"/>
                <a:ea typeface="Calibri" pitchFamily="34" charset="-122"/>
                <a:cs typeface="Calibri" pitchFamily="34" charset="-120"/>
              </a:rPr>
              <a:t>colocación analizada</a:t>
            </a:r>
            <a:endParaRPr lang="en-US" sz="1050" dirty="0"/>
          </a:p>
        </p:txBody>
      </p:sp>
      <p:sp>
        <p:nvSpPr>
          <p:cNvPr id="9" name="Text 7"/>
          <p:cNvSpPr txBox="1"/>
          <p:nvPr/>
        </p:nvSpPr>
        <p:spPr>
          <a:xfrm>
            <a:off x="6967728" y="4343400"/>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31-ago-2026</a:t>
            </a:r>
            <a:endParaRPr lang="en-US" sz="1900" dirty="0"/>
          </a:p>
        </p:txBody>
      </p:sp>
      <p:sp>
        <p:nvSpPr>
          <p:cNvPr id="10" name="Text 8"/>
          <p:cNvSpPr txBox="1"/>
          <p:nvPr/>
        </p:nvSpPr>
        <p:spPr>
          <a:xfrm>
            <a:off x="6967728" y="4718304"/>
            <a:ext cx="2926080" cy="274320"/>
          </a:xfrm>
          <a:prstGeom prst="rect">
            <a:avLst/>
          </a:prstGeom>
          <a:noFill/>
          <a:ln/>
        </p:spPr>
        <p:txBody>
          <a:bodyPr wrap="square" lIns="0" tIns="0" rIns="0" bIns="0" rtlCol="0" anchor="ctr"/>
          <a:lstStyle/>
          <a:p>
            <a:pPr indent="0" marL="0">
              <a:buNone/>
            </a:pPr>
            <a:r>
              <a:rPr lang="en-US" sz="1050" dirty="0">
                <a:solidFill>
                  <a:srgbClr val="9FB6D4"/>
                </a:solidFill>
                <a:latin typeface="Calibri" pitchFamily="34" charset="0"/>
                <a:ea typeface="Calibri" pitchFamily="34" charset="-122"/>
                <a:cs typeface="Calibri" pitchFamily="34" charset="-120"/>
              </a:rPr>
              <a:t>fecha de corte</a:t>
            </a:r>
            <a:endParaRPr lang="en-US" sz="1050" dirty="0"/>
          </a:p>
        </p:txBody>
      </p:sp>
      <p:sp>
        <p:nvSpPr>
          <p:cNvPr id="11" name="Text 9"/>
          <p:cNvSpPr txBox="1"/>
          <p:nvPr/>
        </p:nvSpPr>
        <p:spPr>
          <a:xfrm>
            <a:off x="566928" y="6035040"/>
            <a:ext cx="10515600" cy="365760"/>
          </a:xfrm>
          <a:prstGeom prst="rect">
            <a:avLst/>
          </a:prstGeom>
          <a:noFill/>
          <a:ln/>
        </p:spPr>
        <p:txBody>
          <a:bodyPr wrap="square" lIns="0" tIns="0" rIns="0" bIns="0" rtlCol="0" anchor="ctr"/>
          <a:lstStyle/>
          <a:p>
            <a:pPr indent="0" marL="0">
              <a:buNone/>
            </a:pPr>
            <a:r>
              <a:rPr lang="en-US" sz="950" dirty="0">
                <a:solidFill>
                  <a:srgbClr val="7189A5"/>
                </a:solidFill>
                <a:latin typeface="Calibri" pitchFamily="34" charset="0"/>
                <a:ea typeface="Calibri" pitchFamily="34" charset="-122"/>
                <a:cs typeface="Calibri" pitchFamily="34" charset="-120"/>
              </a:rPr>
              <a:t>Fuente: Cosechas_2026.xlsx — hojas Consolidado y Cosechas, y los siete cortes mensuales de cartera de feb a ago de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RESUMEN EJECUTIVO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Tres mensajes y tres decisiones</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Si solo se lee una lámina de este informe, que sea esta.</a:t>
            </a:r>
            <a:endParaRPr lang="en-US" sz="1150" dirty="0"/>
          </a:p>
        </p:txBody>
      </p:sp>
      <p:sp>
        <p:nvSpPr>
          <p:cNvPr id="5" name="Shape 3"/>
          <p:cNvSpPr/>
          <p:nvPr/>
        </p:nvSpPr>
        <p:spPr>
          <a:xfrm>
            <a:off x="566928" y="1828800"/>
            <a:ext cx="3520440" cy="1481328"/>
          </a:xfrm>
          <a:prstGeom prst="roundRect">
            <a:avLst>
              <a:gd name="adj" fmla="val 3704"/>
            </a:avLst>
          </a:prstGeom>
          <a:solidFill>
            <a:srgbClr val="F2F5F8"/>
          </a:solidFill>
          <a:ln w="9525">
            <a:solidFill>
              <a:srgbClr val="DDE3EA"/>
            </a:solidFill>
            <a:prstDash val="solid"/>
          </a:ln>
        </p:spPr>
      </p:sp>
      <p:sp>
        <p:nvSpPr>
          <p:cNvPr id="6" name="Text 4"/>
          <p:cNvSpPr txBox="1"/>
          <p:nvPr/>
        </p:nvSpPr>
        <p:spPr>
          <a:xfrm>
            <a:off x="786384" y="1993392"/>
            <a:ext cx="3154680" cy="566928"/>
          </a:xfrm>
          <a:prstGeom prst="rect">
            <a:avLst/>
          </a:prstGeom>
          <a:noFill/>
          <a:ln/>
        </p:spPr>
        <p:txBody>
          <a:bodyPr wrap="square" lIns="0" tIns="0" rIns="0" bIns="0" rtlCol="0" anchor="ctr"/>
          <a:lstStyle/>
          <a:p>
            <a:pPr indent="0" marL="0">
              <a:buNone/>
            </a:pPr>
            <a:r>
              <a:rPr lang="en-US" sz="3200" b="1" dirty="0">
                <a:solidFill>
                  <a:srgbClr val="C4342F"/>
                </a:solidFill>
                <a:latin typeface="Cambria" pitchFamily="34" charset="0"/>
                <a:ea typeface="Cambria" pitchFamily="34" charset="-122"/>
                <a:cs typeface="Cambria" pitchFamily="34" charset="-120"/>
              </a:rPr>
              <a:t>4,4%</a:t>
            </a:r>
            <a:endParaRPr lang="en-US" sz="3200" dirty="0"/>
          </a:p>
        </p:txBody>
      </p:sp>
      <p:sp>
        <p:nvSpPr>
          <p:cNvPr id="7" name="Text 5"/>
          <p:cNvSpPr txBox="1"/>
          <p:nvPr/>
        </p:nvSpPr>
        <p:spPr>
          <a:xfrm>
            <a:off x="78638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Mora de las cosechas 2023 al mes 12</a:t>
            </a:r>
            <a:endParaRPr lang="en-US" sz="1150" dirty="0"/>
          </a:p>
        </p:txBody>
      </p:sp>
      <p:sp>
        <p:nvSpPr>
          <p:cNvPr id="8" name="Text 6"/>
          <p:cNvSpPr txBox="1"/>
          <p:nvPr/>
        </p:nvSpPr>
        <p:spPr>
          <a:xfrm>
            <a:off x="78638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El peor año. 2022 iba en 2,5% en el mismo punto de la vida del crédito.</a:t>
            </a:r>
            <a:endParaRPr lang="en-US" sz="980" dirty="0"/>
          </a:p>
        </p:txBody>
      </p:sp>
      <p:sp>
        <p:nvSpPr>
          <p:cNvPr id="9" name="Shape 7"/>
          <p:cNvSpPr/>
          <p:nvPr/>
        </p:nvSpPr>
        <p:spPr>
          <a:xfrm>
            <a:off x="4270248" y="1828800"/>
            <a:ext cx="3520440" cy="1481328"/>
          </a:xfrm>
          <a:prstGeom prst="roundRect">
            <a:avLst>
              <a:gd name="adj" fmla="val 3704"/>
            </a:avLst>
          </a:prstGeom>
          <a:solidFill>
            <a:srgbClr val="F2F5F8"/>
          </a:solidFill>
          <a:ln w="9525">
            <a:solidFill>
              <a:srgbClr val="DDE3EA"/>
            </a:solidFill>
            <a:prstDash val="solid"/>
          </a:ln>
        </p:spPr>
      </p:sp>
      <p:sp>
        <p:nvSpPr>
          <p:cNvPr id="10" name="Text 8"/>
          <p:cNvSpPr txBox="1"/>
          <p:nvPr/>
        </p:nvSpPr>
        <p:spPr>
          <a:xfrm>
            <a:off x="4489704" y="1993392"/>
            <a:ext cx="3154680" cy="566928"/>
          </a:xfrm>
          <a:prstGeom prst="rect">
            <a:avLst/>
          </a:prstGeom>
          <a:noFill/>
          <a:ln/>
        </p:spPr>
        <p:txBody>
          <a:bodyPr wrap="square" lIns="0" tIns="0" rIns="0" bIns="0" rtlCol="0" anchor="ctr"/>
          <a:lstStyle/>
          <a:p>
            <a:pPr indent="0" marL="0">
              <a:buNone/>
            </a:pPr>
            <a:r>
              <a:rPr lang="en-US" sz="3200" b="1" dirty="0">
                <a:solidFill>
                  <a:srgbClr val="0F7B3F"/>
                </a:solidFill>
                <a:latin typeface="Cambria" pitchFamily="34" charset="0"/>
                <a:ea typeface="Cambria" pitchFamily="34" charset="-122"/>
                <a:cs typeface="Cambria" pitchFamily="34" charset="-120"/>
              </a:rPr>
              <a:t>2,9%</a:t>
            </a:r>
            <a:endParaRPr lang="en-US" sz="3200" dirty="0"/>
          </a:p>
        </p:txBody>
      </p:sp>
      <p:sp>
        <p:nvSpPr>
          <p:cNvPr id="11" name="Text 9"/>
          <p:cNvSpPr txBox="1"/>
          <p:nvPr/>
        </p:nvSpPr>
        <p:spPr>
          <a:xfrm>
            <a:off x="448970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Mora de las cosechas 2024 al mes 18</a:t>
            </a:r>
            <a:endParaRPr lang="en-US" sz="1150" dirty="0"/>
          </a:p>
        </p:txBody>
      </p:sp>
      <p:sp>
        <p:nvSpPr>
          <p:cNvPr id="12" name="Text 10"/>
          <p:cNvSpPr txBox="1"/>
          <p:nvPr/>
        </p:nvSpPr>
        <p:spPr>
          <a:xfrm>
            <a:off x="448970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Contra 5,6% de 2023 y 4,7% de 2022. La corrección funcionó.</a:t>
            </a:r>
            <a:endParaRPr lang="en-US" sz="980" dirty="0"/>
          </a:p>
        </p:txBody>
      </p:sp>
      <p:sp>
        <p:nvSpPr>
          <p:cNvPr id="13" name="Shape 11"/>
          <p:cNvSpPr/>
          <p:nvPr/>
        </p:nvSpPr>
        <p:spPr>
          <a:xfrm>
            <a:off x="7973568" y="1828800"/>
            <a:ext cx="3520440" cy="1481328"/>
          </a:xfrm>
          <a:prstGeom prst="roundRect">
            <a:avLst>
              <a:gd name="adj" fmla="val 3704"/>
            </a:avLst>
          </a:prstGeom>
          <a:solidFill>
            <a:srgbClr val="F2F5F8"/>
          </a:solidFill>
          <a:ln w="9525">
            <a:solidFill>
              <a:srgbClr val="DDE3EA"/>
            </a:solidFill>
            <a:prstDash val="solid"/>
          </a:ln>
        </p:spPr>
      </p:sp>
      <p:sp>
        <p:nvSpPr>
          <p:cNvPr id="14" name="Text 12"/>
          <p:cNvSpPr txBox="1"/>
          <p:nvPr/>
        </p:nvSpPr>
        <p:spPr>
          <a:xfrm>
            <a:off x="8193024" y="1993392"/>
            <a:ext cx="3154680" cy="566928"/>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COP 549 M</a:t>
            </a:r>
            <a:endParaRPr lang="en-US" sz="3200" dirty="0"/>
          </a:p>
        </p:txBody>
      </p:sp>
      <p:sp>
        <p:nvSpPr>
          <p:cNvPr id="15" name="Text 13"/>
          <p:cNvSpPr txBox="1"/>
          <p:nvPr/>
        </p:nvSpPr>
        <p:spPr>
          <a:xfrm>
            <a:off x="819302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Salieron del reporte en julio de 2026</a:t>
            </a:r>
            <a:endParaRPr lang="en-US" sz="1150" dirty="0"/>
          </a:p>
        </p:txBody>
      </p:sp>
      <p:sp>
        <p:nvSpPr>
          <p:cNvPr id="16" name="Text 14"/>
          <p:cNvSpPr txBox="1"/>
          <p:nvPr/>
        </p:nvSpPr>
        <p:spPr>
          <a:xfrm>
            <a:off x="819302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Castigo o depuración, no recuperación. Invalida el dato del último mes.</a:t>
            </a:r>
            <a:endParaRPr lang="en-US" sz="980" dirty="0"/>
          </a:p>
        </p:txBody>
      </p:sp>
      <p:sp>
        <p:nvSpPr>
          <p:cNvPr id="17" name="Text 15"/>
          <p:cNvSpPr txBox="1"/>
          <p:nvPr/>
        </p:nvSpPr>
        <p:spPr>
          <a:xfrm>
            <a:off x="566928" y="3749040"/>
            <a:ext cx="5486400" cy="274320"/>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Lo que se pide aprobar</a:t>
            </a:r>
            <a:endParaRPr lang="en-US" sz="1300" dirty="0"/>
          </a:p>
        </p:txBody>
      </p:sp>
      <p:sp>
        <p:nvSpPr>
          <p:cNvPr id="18" name="Shape 16"/>
          <p:cNvSpPr/>
          <p:nvPr/>
        </p:nvSpPr>
        <p:spPr>
          <a:xfrm>
            <a:off x="566928" y="4361688"/>
            <a:ext cx="310896" cy="310896"/>
          </a:xfrm>
          <a:prstGeom prst="ellipse">
            <a:avLst/>
          </a:prstGeom>
          <a:solidFill>
            <a:srgbClr val="12263A"/>
          </a:solidFill>
          <a:ln w="12700">
            <a:solidFill>
              <a:srgbClr val="12263A"/>
            </a:solidFill>
            <a:prstDash val="solid"/>
          </a:ln>
        </p:spPr>
      </p:sp>
      <p:sp>
        <p:nvSpPr>
          <p:cNvPr id="19" name="Text 17"/>
          <p:cNvSpPr txBox="1"/>
          <p:nvPr/>
        </p:nvSpPr>
        <p:spPr>
          <a:xfrm>
            <a:off x="566928" y="4361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txBox="1"/>
          <p:nvPr/>
        </p:nvSpPr>
        <p:spPr>
          <a:xfrm>
            <a:off x="1024128" y="4325112"/>
            <a:ext cx="306324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Intervenir los dos puntos que pierden</a:t>
            </a:r>
            <a:endParaRPr lang="en-US" sz="1300" dirty="0"/>
          </a:p>
        </p:txBody>
      </p:sp>
      <p:sp>
        <p:nvSpPr>
          <p:cNvPr id="21" name="Text 19"/>
          <p:cNvSpPr txBox="1"/>
          <p:nvPr/>
        </p:nvSpPr>
        <p:spPr>
          <a:xfrm>
            <a:off x="1024128" y="4837176"/>
            <a:ext cx="306324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Cartagena-Suzuki y Puerto Berrío AKT llegan al mes 6 con 12,4% y 12,0% de mora, contra 5,8% del mejor punto. Cerrar esa brecha vale unos COP 71 millones al año.</a:t>
            </a:r>
            <a:endParaRPr lang="en-US" sz="1100" dirty="0"/>
          </a:p>
        </p:txBody>
      </p:sp>
      <p:sp>
        <p:nvSpPr>
          <p:cNvPr id="22" name="Shape 20"/>
          <p:cNvSpPr/>
          <p:nvPr/>
        </p:nvSpPr>
        <p:spPr>
          <a:xfrm>
            <a:off x="4270248" y="4361688"/>
            <a:ext cx="310896" cy="310896"/>
          </a:xfrm>
          <a:prstGeom prst="ellipse">
            <a:avLst/>
          </a:prstGeom>
          <a:solidFill>
            <a:srgbClr val="12263A"/>
          </a:solidFill>
          <a:ln w="12700">
            <a:solidFill>
              <a:srgbClr val="12263A"/>
            </a:solidFill>
            <a:prstDash val="solid"/>
          </a:ln>
        </p:spPr>
      </p:sp>
      <p:sp>
        <p:nvSpPr>
          <p:cNvPr id="23" name="Text 21"/>
          <p:cNvSpPr txBox="1"/>
          <p:nvPr/>
        </p:nvSpPr>
        <p:spPr>
          <a:xfrm>
            <a:off x="4270248" y="4361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txBox="1"/>
          <p:nvPr/>
        </p:nvSpPr>
        <p:spPr>
          <a:xfrm>
            <a:off x="4727448" y="4325112"/>
            <a:ext cx="306324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Cuadrar el castigo con contabilidad</a:t>
            </a:r>
            <a:endParaRPr lang="en-US" sz="1300" dirty="0"/>
          </a:p>
        </p:txBody>
      </p:sp>
      <p:sp>
        <p:nvSpPr>
          <p:cNvPr id="25" name="Text 23"/>
          <p:cNvSpPr txBox="1"/>
          <p:nvPr/>
        </p:nvSpPr>
        <p:spPr>
          <a:xfrm>
            <a:off x="4727448" y="4837176"/>
            <a:ext cx="306324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Confirmar qué se castigó, contra qué provisión y con qué efecto en el P&amp;G, antes de reportar cualquier mejora de la mora.</a:t>
            </a:r>
            <a:endParaRPr lang="en-US" sz="1100" dirty="0"/>
          </a:p>
        </p:txBody>
      </p:sp>
      <p:sp>
        <p:nvSpPr>
          <p:cNvPr id="26" name="Shape 24"/>
          <p:cNvSpPr/>
          <p:nvPr/>
        </p:nvSpPr>
        <p:spPr>
          <a:xfrm>
            <a:off x="7973568" y="4361688"/>
            <a:ext cx="310896" cy="310896"/>
          </a:xfrm>
          <a:prstGeom prst="ellipse">
            <a:avLst/>
          </a:prstGeom>
          <a:solidFill>
            <a:srgbClr val="12263A"/>
          </a:solidFill>
          <a:ln w="12700">
            <a:solidFill>
              <a:srgbClr val="12263A"/>
            </a:solidFill>
            <a:prstDash val="solid"/>
          </a:ln>
        </p:spPr>
      </p:sp>
      <p:sp>
        <p:nvSpPr>
          <p:cNvPr id="27" name="Text 25"/>
          <p:cNvSpPr txBox="1"/>
          <p:nvPr/>
        </p:nvSpPr>
        <p:spPr>
          <a:xfrm>
            <a:off x="7973568" y="4361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8430768" y="4325112"/>
            <a:ext cx="306324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Pedir tres campos que hoy no existen</a:t>
            </a:r>
            <a:endParaRPr lang="en-US" sz="1300" dirty="0"/>
          </a:p>
        </p:txBody>
      </p:sp>
      <p:sp>
        <p:nvSpPr>
          <p:cNvPr id="29" name="Text 27"/>
          <p:cNvSpPr txBox="1"/>
          <p:nvPr/>
        </p:nvSpPr>
        <p:spPr>
          <a:xfrm>
            <a:off x="8430768" y="4837176"/>
            <a:ext cx="306324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Cuota inicial, score de buró y asesor comercial. Sin ellos no se puede fijar el punto de corte de aprobación.</a:t>
            </a:r>
            <a:endParaRPr lang="en-US" sz="1100" dirty="0"/>
          </a:p>
        </p:txBody>
      </p:sp>
      <p:sp>
        <p:nvSpPr>
          <p:cNvPr id="30" name="Text 28"/>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Indicador: capital vencido de los créditos con más de 30 días de mora, sobre la colocación original de cada cosecha. Series cortadas en jun-2026.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566928" y="566928"/>
            <a:ext cx="10058400" cy="237744"/>
          </a:xfrm>
          <a:prstGeom prst="rect">
            <a:avLst/>
          </a:prstGeom>
          <a:noFill/>
          <a:ln/>
        </p:spPr>
        <p:txBody>
          <a:bodyPr wrap="square" lIns="0" tIns="0" rIns="0" bIns="0" rtlCol="0" anchor="ctr"/>
          <a:lstStyle/>
          <a:p>
            <a:pPr indent="0" marL="0">
              <a:buNone/>
            </a:pPr>
            <a:r>
              <a:rPr lang="en-US" sz="1100" b="1" spc="180" kern="0" dirty="0">
                <a:solidFill>
                  <a:srgbClr val="F0A17A"/>
                </a:solidFill>
                <a:latin typeface="Calibri" pitchFamily="34" charset="0"/>
                <a:ea typeface="Calibri" pitchFamily="34" charset="-122"/>
                <a:cs typeface="Calibri" pitchFamily="34" charset="-120"/>
              </a:rPr>
              <a:t>LEER ANTES DE INTERPRETAR CUALQUIER CIFRA</a:t>
            </a:r>
            <a:endParaRPr lang="en-US" sz="1100" dirty="0"/>
          </a:p>
        </p:txBody>
      </p:sp>
      <p:sp>
        <p:nvSpPr>
          <p:cNvPr id="3" name="Text 1"/>
          <p:cNvSpPr txBox="1"/>
          <p:nvPr/>
        </p:nvSpPr>
        <p:spPr>
          <a:xfrm>
            <a:off x="566928" y="868680"/>
            <a:ext cx="10607040" cy="822960"/>
          </a:xfrm>
          <a:prstGeom prst="rect">
            <a:avLst/>
          </a:prstGeom>
          <a:noFill/>
          <a:ln/>
        </p:spPr>
        <p:txBody>
          <a:bodyPr wrap="square" lIns="0" tIns="0" rIns="0" bIns="0" rtlCol="0" anchor="ctr"/>
          <a:lstStyle/>
          <a:p>
            <a:pPr indent="0" marL="0">
              <a:lnSpc>
                <a:spcPts val="3200"/>
              </a:lnSpc>
              <a:buNone/>
            </a:pPr>
            <a:r>
              <a:rPr lang="en-US" sz="2600" b="1" dirty="0">
                <a:solidFill>
                  <a:srgbClr val="FFFFFF"/>
                </a:solidFill>
                <a:latin typeface="Cambria" pitchFamily="34" charset="0"/>
                <a:ea typeface="Cambria" pitchFamily="34" charset="-122"/>
                <a:cs typeface="Cambria" pitchFamily="34" charset="-120"/>
              </a:rPr>
              <a:t>La mora cayó 64% en un mes, y no fue por recuperación de cartera</a:t>
            </a:r>
            <a:endParaRPr lang="en-US" sz="2600" dirty="0"/>
          </a:p>
        </p:txBody>
      </p:sp>
      <p:sp>
        <p:nvSpPr>
          <p:cNvPr id="4" name="Text 2"/>
          <p:cNvSpPr txBox="1"/>
          <p:nvPr/>
        </p:nvSpPr>
        <p:spPr>
          <a:xfrm>
            <a:off x="566928" y="1965960"/>
            <a:ext cx="5212080" cy="420624"/>
          </a:xfrm>
          <a:prstGeom prst="rect">
            <a:avLst/>
          </a:prstGeom>
          <a:noFill/>
          <a:ln/>
        </p:spPr>
        <p:txBody>
          <a:bodyPr wrap="square" lIns="0" tIns="0" rIns="0" bIns="0" rtlCol="0" anchor="ctr"/>
          <a:lstStyle/>
          <a:p>
            <a:pPr indent="0" marL="0">
              <a:buNone/>
            </a:pPr>
            <a:r>
              <a:rPr lang="en-US" sz="2200" b="1" dirty="0">
                <a:solidFill>
                  <a:srgbClr val="F3B08C"/>
                </a:solidFill>
                <a:latin typeface="Cambria" pitchFamily="34" charset="0"/>
                <a:ea typeface="Cambria" pitchFamily="34" charset="-122"/>
                <a:cs typeface="Cambria" pitchFamily="34" charset="-120"/>
              </a:rPr>
              <a:t>COP 549 M</a:t>
            </a:r>
            <a:endParaRPr lang="en-US" sz="2200" dirty="0"/>
          </a:p>
        </p:txBody>
      </p:sp>
      <p:sp>
        <p:nvSpPr>
          <p:cNvPr id="5" name="Text 3"/>
          <p:cNvSpPr txBox="1"/>
          <p:nvPr/>
        </p:nvSpPr>
        <p:spPr>
          <a:xfrm>
            <a:off x="566928" y="2404872"/>
            <a:ext cx="5212080" cy="54864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de mora salieron del reporte entre junio y julio de 2026</a:t>
            </a:r>
            <a:endParaRPr lang="en-US" sz="1250" dirty="0"/>
          </a:p>
        </p:txBody>
      </p:sp>
      <p:sp>
        <p:nvSpPr>
          <p:cNvPr id="6" name="Text 4"/>
          <p:cNvSpPr txBox="1"/>
          <p:nvPr/>
        </p:nvSpPr>
        <p:spPr>
          <a:xfrm>
            <a:off x="6144768" y="1965960"/>
            <a:ext cx="5212080" cy="420624"/>
          </a:xfrm>
          <a:prstGeom prst="rect">
            <a:avLst/>
          </a:prstGeom>
          <a:noFill/>
          <a:ln/>
        </p:spPr>
        <p:txBody>
          <a:bodyPr wrap="square" lIns="0" tIns="0" rIns="0" bIns="0" rtlCol="0" anchor="ctr"/>
          <a:lstStyle/>
          <a:p>
            <a:pPr indent="0" marL="0">
              <a:buNone/>
            </a:pPr>
            <a:r>
              <a:rPr lang="en-US" sz="2200" b="1" dirty="0">
                <a:solidFill>
                  <a:srgbClr val="F3B08C"/>
                </a:solidFill>
                <a:latin typeface="Cambria" pitchFamily="34" charset="0"/>
                <a:ea typeface="Cambria" pitchFamily="34" charset="-122"/>
                <a:cs typeface="Cambria" pitchFamily="34" charset="-120"/>
              </a:rPr>
              <a:t>242</a:t>
            </a:r>
            <a:endParaRPr lang="en-US" sz="2200" dirty="0"/>
          </a:p>
        </p:txBody>
      </p:sp>
      <p:sp>
        <p:nvSpPr>
          <p:cNvPr id="7" name="Text 5"/>
          <p:cNvSpPr txBox="1"/>
          <p:nvPr/>
        </p:nvSpPr>
        <p:spPr>
          <a:xfrm>
            <a:off x="6144768" y="2404872"/>
            <a:ext cx="5212080" cy="54864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créditos desaparecieron del archivo de un mes a otro</a:t>
            </a:r>
            <a:endParaRPr lang="en-US" sz="1250" dirty="0"/>
          </a:p>
        </p:txBody>
      </p:sp>
      <p:sp>
        <p:nvSpPr>
          <p:cNvPr id="8" name="Text 6"/>
          <p:cNvSpPr txBox="1"/>
          <p:nvPr/>
        </p:nvSpPr>
        <p:spPr>
          <a:xfrm>
            <a:off x="566928" y="3200400"/>
            <a:ext cx="5212080" cy="420624"/>
          </a:xfrm>
          <a:prstGeom prst="rect">
            <a:avLst/>
          </a:prstGeom>
          <a:noFill/>
          <a:ln/>
        </p:spPr>
        <p:txBody>
          <a:bodyPr wrap="square" lIns="0" tIns="0" rIns="0" bIns="0" rtlCol="0" anchor="ctr"/>
          <a:lstStyle/>
          <a:p>
            <a:pPr indent="0" marL="0">
              <a:buNone/>
            </a:pPr>
            <a:r>
              <a:rPr lang="en-US" sz="2200" b="1" dirty="0">
                <a:solidFill>
                  <a:srgbClr val="F3B08C"/>
                </a:solidFill>
                <a:latin typeface="Cambria" pitchFamily="34" charset="0"/>
                <a:ea typeface="Cambria" pitchFamily="34" charset="-122"/>
                <a:cs typeface="Cambria" pitchFamily="34" charset="-120"/>
              </a:rPr>
              <a:t>22</a:t>
            </a:r>
            <a:endParaRPr lang="en-US" sz="2200" dirty="0"/>
          </a:p>
        </p:txBody>
      </p:sp>
      <p:sp>
        <p:nvSpPr>
          <p:cNvPr id="9" name="Text 7"/>
          <p:cNvSpPr txBox="1"/>
          <p:nvPr/>
        </p:nvSpPr>
        <p:spPr>
          <a:xfrm>
            <a:off x="566928" y="3639312"/>
            <a:ext cx="5212080" cy="54864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cosechas bajaron de golpe; doce quedaron en 0,00% exacto</a:t>
            </a:r>
            <a:endParaRPr lang="en-US" sz="1250" dirty="0"/>
          </a:p>
        </p:txBody>
      </p:sp>
      <p:sp>
        <p:nvSpPr>
          <p:cNvPr id="10" name="Text 8"/>
          <p:cNvSpPr txBox="1"/>
          <p:nvPr/>
        </p:nvSpPr>
        <p:spPr>
          <a:xfrm>
            <a:off x="6144768" y="3200400"/>
            <a:ext cx="5212080" cy="420624"/>
          </a:xfrm>
          <a:prstGeom prst="rect">
            <a:avLst/>
          </a:prstGeom>
          <a:noFill/>
          <a:ln/>
        </p:spPr>
        <p:txBody>
          <a:bodyPr wrap="square" lIns="0" tIns="0" rIns="0" bIns="0" rtlCol="0" anchor="ctr"/>
          <a:lstStyle/>
          <a:p>
            <a:pPr indent="0" marL="0">
              <a:buNone/>
            </a:pPr>
            <a:r>
              <a:rPr lang="en-US" sz="2200" b="1" dirty="0">
                <a:solidFill>
                  <a:srgbClr val="F3B08C"/>
                </a:solidFill>
                <a:latin typeface="Cambria" pitchFamily="34" charset="0"/>
                <a:ea typeface="Cambria" pitchFamily="34" charset="-122"/>
                <a:cs typeface="Cambria" pitchFamily="34" charset="-120"/>
              </a:rPr>
              <a:t>jun-2016 → oct-2021</a:t>
            </a:r>
            <a:endParaRPr lang="en-US" sz="2200" dirty="0"/>
          </a:p>
        </p:txBody>
      </p:sp>
      <p:sp>
        <p:nvSpPr>
          <p:cNvPr id="11" name="Text 9"/>
          <p:cNvSpPr txBox="1"/>
          <p:nvPr/>
        </p:nvSpPr>
        <p:spPr>
          <a:xfrm>
            <a:off x="6144768" y="3639312"/>
            <a:ext cx="5212080" cy="54864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saltó la fecha de desembolso más antigua del reporte</a:t>
            </a:r>
            <a:endParaRPr lang="en-US" sz="1250" dirty="0"/>
          </a:p>
        </p:txBody>
      </p:sp>
      <p:sp>
        <p:nvSpPr>
          <p:cNvPr id="12" name="Shape 10"/>
          <p:cNvSpPr/>
          <p:nvPr/>
        </p:nvSpPr>
        <p:spPr>
          <a:xfrm>
            <a:off x="566928" y="4800600"/>
            <a:ext cx="11057839" cy="1143000"/>
          </a:xfrm>
          <a:prstGeom prst="roundRect">
            <a:avLst>
              <a:gd name="adj" fmla="val 4800"/>
            </a:avLst>
          </a:prstGeom>
          <a:solidFill>
            <a:srgbClr val="1B3450"/>
          </a:solidFill>
          <a:ln w="9525">
            <a:solidFill>
              <a:srgbClr val="1B3450"/>
            </a:solidFill>
            <a:prstDash val="solid"/>
          </a:ln>
        </p:spPr>
      </p:sp>
      <p:sp>
        <p:nvSpPr>
          <p:cNvPr id="13" name="Text 11"/>
          <p:cNvSpPr txBox="1"/>
          <p:nvPr/>
        </p:nvSpPr>
        <p:spPr>
          <a:xfrm>
            <a:off x="841248" y="4956048"/>
            <a:ext cx="1005840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Qué hicimos con eso</a:t>
            </a:r>
            <a:endParaRPr lang="en-US" sz="1250" dirty="0"/>
          </a:p>
        </p:txBody>
      </p:sp>
      <p:sp>
        <p:nvSpPr>
          <p:cNvPr id="14" name="Text 12"/>
          <p:cNvSpPr txBox="1"/>
          <p:nvPr/>
        </p:nvSpPr>
        <p:spPr>
          <a:xfrm>
            <a:off x="841248" y="5230368"/>
            <a:ext cx="10515600" cy="658368"/>
          </a:xfrm>
          <a:prstGeom prst="rect">
            <a:avLst/>
          </a:prstGeom>
          <a:noFill/>
          <a:ln/>
        </p:spPr>
        <p:txBody>
          <a:bodyPr wrap="square" lIns="0" tIns="0" rIns="0" bIns="0" rtlCol="0" anchor="t"/>
          <a:lstStyle/>
          <a:p>
            <a:pPr indent="0" marL="0">
              <a:lnSpc>
                <a:spcPts val="1600"/>
              </a:lnSpc>
              <a:buNone/>
            </a:pPr>
            <a:r>
              <a:rPr lang="en-US" sz="1150" dirty="0">
                <a:solidFill>
                  <a:srgbClr val="A8C0DC"/>
                </a:solidFill>
                <a:latin typeface="Calibri" pitchFamily="34" charset="0"/>
                <a:ea typeface="Calibri" pitchFamily="34" charset="-122"/>
                <a:cs typeface="Calibri" pitchFamily="34" charset="-120"/>
              </a:rPr>
              <a:t>Todas las series de este informe se cortan en junio de 2026. El dato de julio y agosto existe en el archivo, pero no es comparable hacia atrás: quien lo lea sin esta advertencia va a concluir que la cartera mejoró un 64% en treinta días.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CÓMO SE LEE</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Una cosecha es lo prestado en un mes, seguido a lo largo de su vida</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Comparar cosechas solo tiene sentido si se miden a la misma edad, no en la misma fecha.</a:t>
            </a:r>
            <a:endParaRPr lang="en-US" sz="1150" dirty="0"/>
          </a:p>
        </p:txBody>
      </p:sp>
      <p:sp>
        <p:nvSpPr>
          <p:cNvPr id="5" name="Shape 3"/>
          <p:cNvSpPr/>
          <p:nvPr/>
        </p:nvSpPr>
        <p:spPr>
          <a:xfrm>
            <a:off x="566928" y="1874520"/>
            <a:ext cx="3520440" cy="1627632"/>
          </a:xfrm>
          <a:prstGeom prst="roundRect">
            <a:avLst>
              <a:gd name="adj" fmla="val 3371"/>
            </a:avLst>
          </a:prstGeom>
          <a:solidFill>
            <a:srgbClr val="F2F5F8"/>
          </a:solidFill>
          <a:ln w="9525">
            <a:solidFill>
              <a:srgbClr val="DDE3EA"/>
            </a:solidFill>
            <a:prstDash val="solid"/>
          </a:ln>
        </p:spPr>
      </p:sp>
      <p:sp>
        <p:nvSpPr>
          <p:cNvPr id="6" name="Shape 4"/>
          <p:cNvSpPr/>
          <p:nvPr/>
        </p:nvSpPr>
        <p:spPr>
          <a:xfrm>
            <a:off x="822960" y="2066544"/>
            <a:ext cx="310896" cy="310896"/>
          </a:xfrm>
          <a:prstGeom prst="ellipse">
            <a:avLst/>
          </a:prstGeom>
          <a:solidFill>
            <a:srgbClr val="12263A"/>
          </a:solidFill>
          <a:ln w="12700">
            <a:solidFill>
              <a:srgbClr val="12263A"/>
            </a:solidFill>
            <a:prstDash val="solid"/>
          </a:ln>
        </p:spPr>
      </p:sp>
      <p:sp>
        <p:nvSpPr>
          <p:cNvPr id="7" name="Text 5"/>
          <p:cNvSpPr txBox="1"/>
          <p:nvPr/>
        </p:nvSpPr>
        <p:spPr>
          <a:xfrm>
            <a:off x="822960"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80160" y="2029968"/>
            <a:ext cx="251460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Se agrupa por mes de desembolso</a:t>
            </a:r>
            <a:endParaRPr lang="en-US" sz="1300" dirty="0"/>
          </a:p>
        </p:txBody>
      </p:sp>
      <p:sp>
        <p:nvSpPr>
          <p:cNvPr id="9" name="Text 7"/>
          <p:cNvSpPr txBox="1"/>
          <p:nvPr/>
        </p:nvSpPr>
        <p:spPr>
          <a:xfrm>
            <a:off x="1280160" y="2542032"/>
            <a:ext cx="251460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Todo lo desembolsado en, por ejemplo, mayo de 2023 es una sola cosecha: COP 312 millones.</a:t>
            </a:r>
            <a:endParaRPr lang="en-US" sz="1100" dirty="0"/>
          </a:p>
        </p:txBody>
      </p:sp>
      <p:sp>
        <p:nvSpPr>
          <p:cNvPr id="10" name="Shape 8"/>
          <p:cNvSpPr/>
          <p:nvPr/>
        </p:nvSpPr>
        <p:spPr>
          <a:xfrm>
            <a:off x="4270248" y="1874520"/>
            <a:ext cx="3520440" cy="1627632"/>
          </a:xfrm>
          <a:prstGeom prst="roundRect">
            <a:avLst>
              <a:gd name="adj" fmla="val 3371"/>
            </a:avLst>
          </a:prstGeom>
          <a:solidFill>
            <a:srgbClr val="F2F5F8"/>
          </a:solidFill>
          <a:ln w="9525">
            <a:solidFill>
              <a:srgbClr val="DDE3EA"/>
            </a:solidFill>
            <a:prstDash val="solid"/>
          </a:ln>
        </p:spPr>
      </p:sp>
      <p:sp>
        <p:nvSpPr>
          <p:cNvPr id="11" name="Shape 9"/>
          <p:cNvSpPr/>
          <p:nvPr/>
        </p:nvSpPr>
        <p:spPr>
          <a:xfrm>
            <a:off x="4526280" y="2066544"/>
            <a:ext cx="310896" cy="310896"/>
          </a:xfrm>
          <a:prstGeom prst="ellipse">
            <a:avLst/>
          </a:prstGeom>
          <a:solidFill>
            <a:srgbClr val="12263A"/>
          </a:solidFill>
          <a:ln w="12700">
            <a:solidFill>
              <a:srgbClr val="12263A"/>
            </a:solidFill>
            <a:prstDash val="solid"/>
          </a:ln>
        </p:spPr>
      </p:sp>
      <p:sp>
        <p:nvSpPr>
          <p:cNvPr id="12" name="Text 10"/>
          <p:cNvSpPr txBox="1"/>
          <p:nvPr/>
        </p:nvSpPr>
        <p:spPr>
          <a:xfrm>
            <a:off x="4526280"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983480" y="2029968"/>
            <a:ext cx="251460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Se sigue mes a mes de su vida</a:t>
            </a:r>
            <a:endParaRPr lang="en-US" sz="1300" dirty="0"/>
          </a:p>
        </p:txBody>
      </p:sp>
      <p:sp>
        <p:nvSpPr>
          <p:cNvPr id="14" name="Text 12"/>
          <p:cNvSpPr txBox="1"/>
          <p:nvPr/>
        </p:nvSpPr>
        <p:spPr>
          <a:xfrm>
            <a:off x="4983480" y="2542032"/>
            <a:ext cx="251460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El mes 0 es el desembolso, el mes 12 es un año después. A eso lo llamamos MOB (meses en libros).</a:t>
            </a:r>
            <a:endParaRPr lang="en-US" sz="1100" dirty="0"/>
          </a:p>
        </p:txBody>
      </p:sp>
      <p:sp>
        <p:nvSpPr>
          <p:cNvPr id="15" name="Shape 13"/>
          <p:cNvSpPr/>
          <p:nvPr/>
        </p:nvSpPr>
        <p:spPr>
          <a:xfrm>
            <a:off x="7973568" y="1874520"/>
            <a:ext cx="3520440" cy="1627632"/>
          </a:xfrm>
          <a:prstGeom prst="roundRect">
            <a:avLst>
              <a:gd name="adj" fmla="val 3371"/>
            </a:avLst>
          </a:prstGeom>
          <a:solidFill>
            <a:srgbClr val="F2F5F8"/>
          </a:solidFill>
          <a:ln w="9525">
            <a:solidFill>
              <a:srgbClr val="DDE3EA"/>
            </a:solidFill>
            <a:prstDash val="solid"/>
          </a:ln>
        </p:spPr>
      </p:sp>
      <p:sp>
        <p:nvSpPr>
          <p:cNvPr id="16" name="Shape 14"/>
          <p:cNvSpPr/>
          <p:nvPr/>
        </p:nvSpPr>
        <p:spPr>
          <a:xfrm>
            <a:off x="8229600" y="2066544"/>
            <a:ext cx="310896" cy="310896"/>
          </a:xfrm>
          <a:prstGeom prst="ellipse">
            <a:avLst/>
          </a:prstGeom>
          <a:solidFill>
            <a:srgbClr val="12263A"/>
          </a:solidFill>
          <a:ln w="12700">
            <a:solidFill>
              <a:srgbClr val="12263A"/>
            </a:solidFill>
            <a:prstDash val="solid"/>
          </a:ln>
        </p:spPr>
      </p:sp>
      <p:sp>
        <p:nvSpPr>
          <p:cNvPr id="17" name="Text 15"/>
          <p:cNvSpPr txBox="1"/>
          <p:nvPr/>
        </p:nvSpPr>
        <p:spPr>
          <a:xfrm>
            <a:off x="8229600"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686800" y="2029968"/>
            <a:ext cx="2514600" cy="475488"/>
          </a:xfrm>
          <a:prstGeom prst="rect">
            <a:avLst/>
          </a:prstGeom>
          <a:noFill/>
          <a:ln/>
        </p:spPr>
        <p:txBody>
          <a:bodyPr wrap="square" lIns="0" tIns="0" rIns="0" bIns="0" rtlCol="0" anchor="t"/>
          <a:lstStyle/>
          <a:p>
            <a:pPr indent="0" marL="0">
              <a:lnSpc>
                <a:spcPts val="1700"/>
              </a:lnSpc>
              <a:buNone/>
            </a:pPr>
            <a:r>
              <a:rPr lang="en-US" sz="1300" b="1" dirty="0">
                <a:solidFill>
                  <a:srgbClr val="18242F"/>
                </a:solidFill>
                <a:latin typeface="Calibri" pitchFamily="34" charset="0"/>
                <a:ea typeface="Calibri" pitchFamily="34" charset="-122"/>
                <a:cs typeface="Calibri" pitchFamily="34" charset="-120"/>
              </a:rPr>
              <a:t>Se mide siempre sobre lo colocado</a:t>
            </a:r>
            <a:endParaRPr lang="en-US" sz="1300" dirty="0"/>
          </a:p>
        </p:txBody>
      </p:sp>
      <p:sp>
        <p:nvSpPr>
          <p:cNvPr id="19" name="Text 17"/>
          <p:cNvSpPr txBox="1"/>
          <p:nvPr/>
        </p:nvSpPr>
        <p:spPr>
          <a:xfrm>
            <a:off x="8686800" y="2542032"/>
            <a:ext cx="2514600" cy="114300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La mora se divide por la colocación original de esa cosecha, que nunca cambia. Por eso son comparables.</a:t>
            </a:r>
            <a:endParaRPr lang="en-US" sz="1100" dirty="0"/>
          </a:p>
        </p:txBody>
      </p:sp>
      <p:sp>
        <p:nvSpPr>
          <p:cNvPr id="20" name="Shape 18"/>
          <p:cNvSpPr/>
          <p:nvPr/>
        </p:nvSpPr>
        <p:spPr>
          <a:xfrm>
            <a:off x="566928" y="3794760"/>
            <a:ext cx="11057839" cy="2103120"/>
          </a:xfrm>
          <a:prstGeom prst="roundRect">
            <a:avLst>
              <a:gd name="adj" fmla="val 2609"/>
            </a:avLst>
          </a:prstGeom>
          <a:solidFill>
            <a:srgbClr val="FBF2EC"/>
          </a:solidFill>
          <a:ln w="9525">
            <a:solidFill>
              <a:srgbClr val="FBF2EC"/>
            </a:solidFill>
            <a:prstDash val="solid"/>
          </a:ln>
        </p:spPr>
      </p:sp>
      <p:sp>
        <p:nvSpPr>
          <p:cNvPr id="21" name="Text 19"/>
          <p:cNvSpPr txBox="1"/>
          <p:nvPr/>
        </p:nvSpPr>
        <p:spPr>
          <a:xfrm>
            <a:off x="886968" y="4023360"/>
            <a:ext cx="10058400" cy="274320"/>
          </a:xfrm>
          <a:prstGeom prst="rect">
            <a:avLst/>
          </a:prstGeom>
          <a:noFill/>
          <a:ln/>
        </p:spPr>
        <p:txBody>
          <a:bodyPr wrap="square" lIns="0" tIns="0" rIns="0" bIns="0" rtlCol="0" anchor="ctr"/>
          <a:lstStyle/>
          <a:p>
            <a:pPr indent="0" marL="0">
              <a:buNone/>
            </a:pPr>
            <a:r>
              <a:rPr lang="en-US" sz="1400" b="1" dirty="0">
                <a:solidFill>
                  <a:srgbClr val="9A4520"/>
                </a:solidFill>
                <a:latin typeface="Calibri" pitchFamily="34" charset="0"/>
                <a:ea typeface="Calibri" pitchFamily="34" charset="-122"/>
                <a:cs typeface="Calibri" pitchFamily="34" charset="-120"/>
              </a:rPr>
              <a:t>El error que hay que evitar</a:t>
            </a:r>
            <a:endParaRPr lang="en-US" sz="1400" dirty="0"/>
          </a:p>
        </p:txBody>
      </p:sp>
      <p:sp>
        <p:nvSpPr>
          <p:cNvPr id="22" name="Text 20"/>
          <p:cNvSpPr txBox="1"/>
          <p:nvPr/>
        </p:nvSpPr>
        <p:spPr>
          <a:xfrm>
            <a:off x="886968" y="4343400"/>
            <a:ext cx="10378440" cy="960120"/>
          </a:xfrm>
          <a:prstGeom prst="rect">
            <a:avLst/>
          </a:prstGeom>
          <a:noFill/>
          <a:ln/>
        </p:spPr>
        <p:txBody>
          <a:bodyPr wrap="square" lIns="0" tIns="0" rIns="0" bIns="0" rtlCol="0" anchor="t"/>
          <a:lstStyle/>
          <a:p>
            <a:pPr indent="0" marL="0">
              <a:lnSpc>
                <a:spcPts val="1800"/>
              </a:lnSpc>
              <a:buNone/>
            </a:pPr>
            <a:r>
              <a:rPr lang="en-US" sz="1250" dirty="0">
                <a:solidFill>
                  <a:srgbClr val="6E4130"/>
                </a:solidFill>
                <a:latin typeface="Calibri" pitchFamily="34" charset="0"/>
                <a:ea typeface="Calibri" pitchFamily="34" charset="-122"/>
                <a:cs typeface="Calibri" pitchFamily="34" charset="-120"/>
              </a:rPr>
              <a:t>Comparar la cosecha de hace tres meses con la de hace dos años y concluir que la nueva es mejor. La nueva SIEMPRE se ve mejor: todavía no ha tenido tiempo de deteriorarse. Toda comparación de este informe se hace a la misma edad — la mora al mes 6 contra la mora al mes 6, la del mes 12 contra la del mes 12.</a:t>
            </a:r>
            <a:endParaRPr lang="en-US" sz="1250" dirty="0"/>
          </a:p>
        </p:txBody>
      </p:sp>
      <p:sp>
        <p:nvSpPr>
          <p:cNvPr id="23" name="Text 21"/>
          <p:cNvSpPr txBox="1"/>
          <p:nvPr/>
        </p:nvSpPr>
        <p:spPr>
          <a:xfrm>
            <a:off x="886968" y="5349240"/>
            <a:ext cx="10378440" cy="457200"/>
          </a:xfrm>
          <a:prstGeom prst="rect">
            <a:avLst/>
          </a:prstGeom>
          <a:noFill/>
          <a:ln/>
        </p:spPr>
        <p:txBody>
          <a:bodyPr wrap="square" lIns="0" tIns="0" rIns="0" bIns="0" rtlCol="0" anchor="t"/>
          <a:lstStyle/>
          <a:p>
            <a:pPr indent="0" marL="0">
              <a:buNone/>
            </a:pPr>
            <a:r>
              <a:rPr lang="en-US" sz="1100" i="1" dirty="0">
                <a:solidFill>
                  <a:srgbClr val="8A6552"/>
                </a:solidFill>
                <a:latin typeface="Calibri" pitchFamily="34" charset="0"/>
                <a:ea typeface="Calibri" pitchFamily="34" charset="-122"/>
                <a:cs typeface="Calibri" pitchFamily="34" charset="-120"/>
              </a:rPr>
              <a:t>Por la misma razón, las cosechas jóvenes aparecen con la curva más corta en las láminas siguientes: no es que falte el dato, es que todavía no ha pasado el tiempo.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EL MENSAJE CENTRAL</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2024 y 2025 maduran a la mitad del ritmo de 2022 y 2023</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Capital vencido con mora 30+, como % de la colocación original de cada cosecha. Agrupadas por año y ponderadas por monto colocado. Observaciones hasta jun-2026.</a:t>
            </a:r>
            <a:endParaRPr lang="en-US" sz="1150" dirty="0"/>
          </a:p>
        </p:txBody>
      </p:sp>
      <p:graphicFrame>
        <p:nvGraphicFramePr>
          <p:cNvPr id="5" name="Chart 0" descr=""/>
          <p:cNvGraphicFramePr/>
          <p:nvPr/>
        </p:nvGraphicFramePr>
        <p:xfrm>
          <a:off x="566928" y="1847088"/>
          <a:ext cx="777240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686800" y="1874520"/>
            <a:ext cx="3017520" cy="237744"/>
          </a:xfrm>
          <a:prstGeom prst="rect">
            <a:avLst/>
          </a:prstGeom>
          <a:noFill/>
          <a:ln/>
        </p:spPr>
        <p:txBody>
          <a:bodyPr wrap="square" lIns="0" tIns="0" rIns="0" bIns="0" rtlCol="0" anchor="ctr"/>
          <a:lstStyle/>
          <a:p>
            <a:pPr indent="0" marL="0">
              <a:buNone/>
            </a:pPr>
            <a:r>
              <a:rPr lang="en-US" sz="1200" b="1" dirty="0">
                <a:solidFill>
                  <a:srgbClr val="18242F"/>
                </a:solidFill>
                <a:latin typeface="Calibri" pitchFamily="34" charset="0"/>
                <a:ea typeface="Calibri" pitchFamily="34" charset="-122"/>
                <a:cs typeface="Calibri" pitchFamily="34" charset="-120"/>
              </a:rPr>
              <a:t>Al mes 12</a:t>
            </a:r>
            <a:endParaRPr lang="en-US" sz="1200" dirty="0"/>
          </a:p>
        </p:txBody>
      </p:sp>
      <p:sp>
        <p:nvSpPr>
          <p:cNvPr id="7" name="Text 4"/>
          <p:cNvSpPr txBox="1"/>
          <p:nvPr/>
        </p:nvSpPr>
        <p:spPr>
          <a:xfrm>
            <a:off x="8686800" y="2121408"/>
            <a:ext cx="3017520" cy="896112"/>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2023 llega a 4,4% y 2024 a 2,3%. Casi la mitad, medido en el mismo punto de la vida.</a:t>
            </a:r>
            <a:endParaRPr lang="en-US" sz="1020" dirty="0"/>
          </a:p>
        </p:txBody>
      </p:sp>
      <p:sp>
        <p:nvSpPr>
          <p:cNvPr id="8" name="Text 5"/>
          <p:cNvSpPr txBox="1"/>
          <p:nvPr/>
        </p:nvSpPr>
        <p:spPr>
          <a:xfrm>
            <a:off x="8686800" y="3063240"/>
            <a:ext cx="3017520" cy="237744"/>
          </a:xfrm>
          <a:prstGeom prst="rect">
            <a:avLst/>
          </a:prstGeom>
          <a:noFill/>
          <a:ln/>
        </p:spPr>
        <p:txBody>
          <a:bodyPr wrap="square" lIns="0" tIns="0" rIns="0" bIns="0" rtlCol="0" anchor="ctr"/>
          <a:lstStyle/>
          <a:p>
            <a:pPr indent="0" marL="0">
              <a:buNone/>
            </a:pPr>
            <a:r>
              <a:rPr lang="en-US" sz="1200" b="1" dirty="0">
                <a:solidFill>
                  <a:srgbClr val="18242F"/>
                </a:solidFill>
                <a:latin typeface="Calibri" pitchFamily="34" charset="0"/>
                <a:ea typeface="Calibri" pitchFamily="34" charset="-122"/>
                <a:cs typeface="Calibri" pitchFamily="34" charset="-120"/>
              </a:rPr>
              <a:t>Al mes 18</a:t>
            </a:r>
            <a:endParaRPr lang="en-US" sz="1200" dirty="0"/>
          </a:p>
        </p:txBody>
      </p:sp>
      <p:sp>
        <p:nvSpPr>
          <p:cNvPr id="9" name="Text 6"/>
          <p:cNvSpPr txBox="1"/>
          <p:nvPr/>
        </p:nvSpPr>
        <p:spPr>
          <a:xfrm>
            <a:off x="8686800" y="3310128"/>
            <a:ext cx="3017520" cy="896112"/>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2023 va en 5,6%, 2022 en 4,7% y 2024 en 2,9%.</a:t>
            </a:r>
            <a:endParaRPr lang="en-US" sz="1020" dirty="0"/>
          </a:p>
        </p:txBody>
      </p:sp>
      <p:sp>
        <p:nvSpPr>
          <p:cNvPr id="10" name="Text 7"/>
          <p:cNvSpPr txBox="1"/>
          <p:nvPr/>
        </p:nvSpPr>
        <p:spPr>
          <a:xfrm>
            <a:off x="8686800" y="4251960"/>
            <a:ext cx="3017520" cy="237744"/>
          </a:xfrm>
          <a:prstGeom prst="rect">
            <a:avLst/>
          </a:prstGeom>
          <a:noFill/>
          <a:ln/>
        </p:spPr>
        <p:txBody>
          <a:bodyPr wrap="square" lIns="0" tIns="0" rIns="0" bIns="0" rtlCol="0" anchor="ctr"/>
          <a:lstStyle/>
          <a:p>
            <a:pPr indent="0" marL="0">
              <a:buNone/>
            </a:pPr>
            <a:r>
              <a:rPr lang="en-US" sz="1200" b="1" dirty="0">
                <a:solidFill>
                  <a:srgbClr val="18242F"/>
                </a:solidFill>
                <a:latin typeface="Calibri" pitchFamily="34" charset="0"/>
                <a:ea typeface="Calibri" pitchFamily="34" charset="-122"/>
                <a:cs typeface="Calibri" pitchFamily="34" charset="-120"/>
              </a:rPr>
              <a:t>Ojo con el final</a:t>
            </a:r>
            <a:endParaRPr lang="en-US" sz="1200" dirty="0"/>
          </a:p>
        </p:txBody>
      </p:sp>
      <p:sp>
        <p:nvSpPr>
          <p:cNvPr id="11" name="Text 8"/>
          <p:cNvSpPr txBox="1"/>
          <p:nvPr/>
        </p:nvSpPr>
        <p:spPr>
          <a:xfrm>
            <a:off x="8686800" y="4498848"/>
            <a:ext cx="3017520" cy="896112"/>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2022 y 2023 convergen cerca del 8% hacia los meses 24–30. 2024 apenas va en el mes 18: la ventaja es de velocidad, todavía no está probada al final de la vida.</a:t>
            </a:r>
            <a:endParaRPr lang="en-US" sz="1020" dirty="0"/>
          </a:p>
        </p:txBody>
      </p:sp>
      <p:sp>
        <p:nvSpPr>
          <p:cNvPr id="12" name="Text 9"/>
          <p:cNvSpPr txBox="1"/>
          <p:nvPr/>
        </p:nvSpPr>
        <p:spPr>
          <a:xfrm>
            <a:off x="8686800" y="5440680"/>
            <a:ext cx="3017520" cy="237744"/>
          </a:xfrm>
          <a:prstGeom prst="rect">
            <a:avLst/>
          </a:prstGeom>
          <a:noFill/>
          <a:ln/>
        </p:spPr>
        <p:txBody>
          <a:bodyPr wrap="square" lIns="0" tIns="0" rIns="0" bIns="0" rtlCol="0" anchor="ctr"/>
          <a:lstStyle/>
          <a:p>
            <a:pPr indent="0" marL="0">
              <a:buNone/>
            </a:pPr>
            <a:r>
              <a:rPr lang="en-US" sz="1200" b="1" dirty="0">
                <a:solidFill>
                  <a:srgbClr val="18242F"/>
                </a:solidFill>
                <a:latin typeface="Calibri" pitchFamily="34" charset="0"/>
                <a:ea typeface="Calibri" pitchFamily="34" charset="-122"/>
                <a:cs typeface="Calibri" pitchFamily="34" charset="-120"/>
              </a:rPr>
              <a:t>Por qué las líneas ceden</a:t>
            </a:r>
            <a:endParaRPr lang="en-US" sz="1200" dirty="0"/>
          </a:p>
        </p:txBody>
      </p:sp>
      <p:sp>
        <p:nvSpPr>
          <p:cNvPr id="13" name="Text 10"/>
          <p:cNvSpPr txBox="1"/>
          <p:nvPr/>
        </p:nvSpPr>
        <p:spPr>
          <a:xfrm>
            <a:off x="8686800" y="5687568"/>
            <a:ext cx="3017520" cy="896112"/>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La curva mide saldo vencido vivo, no acumulado. Baja cuando el crédito se pone al día, se paga o se castiga.</a:t>
            </a:r>
            <a:endParaRPr lang="en-US" sz="1020" dirty="0"/>
          </a:p>
        </p:txBody>
      </p:sp>
      <p:sp>
        <p:nvSpPr>
          <p:cNvPr id="14" name="Text 11"/>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Composición constante: cada línea llega solo hasta el mes en que todas las cosechas de ese año siguen observadas. 2022 arranca en el mes 12 porque el archivo empieza a observar en ene-2023.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DÓNDE ESTÁ EL DAÑO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Mayo, abril y septiembre de 2023 concentran el deterioro</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Mora 30+ al mes 12 de vida, cosecha por cosecha. % sobre la colocación de cada una.</a:t>
            </a:r>
            <a:endParaRPr lang="en-US" sz="1150" dirty="0"/>
          </a:p>
        </p:txBody>
      </p:sp>
      <p:graphicFrame>
        <p:nvGraphicFramePr>
          <p:cNvPr id="5" name="Chart 0" descr=""/>
          <p:cNvGraphicFramePr/>
          <p:nvPr/>
        </p:nvGraphicFramePr>
        <p:xfrm>
          <a:off x="566928" y="1847088"/>
          <a:ext cx="11057839" cy="3749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5806440"/>
            <a:ext cx="11057839" cy="54864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Las tres peores cosechas — may-2023 (8,5%), abr-2023 (7,4%) y sep-2023 (6,2%) — colocaron COP 889 millones entre las tres. Las cosechas desde jul-2025 todavía no cumplen 12 meses: su ausencia en el gráfico no es un cero.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COSECHA POR COSECHA · 2022</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De las cosechas de 2022 solo se observa a partir del mes 12</a:t>
            </a:r>
            <a:endParaRPr lang="en-US" sz="2300" dirty="0"/>
          </a:p>
        </p:txBody>
      </p:sp>
      <p:sp>
        <p:nvSpPr>
          <p:cNvPr id="4" name="Text 2"/>
          <p:cNvSpPr txBox="1"/>
          <p:nvPr/>
        </p:nvSpPr>
        <p:spPr>
          <a:xfrm>
            <a:off x="566928"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ene-2022</a:t>
            </a:r>
            <a:endParaRPr lang="en-US" sz="1100" dirty="0"/>
          </a:p>
        </p:txBody>
      </p:sp>
      <p:sp>
        <p:nvSpPr>
          <p:cNvPr id="5" name="Text 3"/>
          <p:cNvSpPr txBox="1"/>
          <p:nvPr/>
        </p:nvSpPr>
        <p:spPr>
          <a:xfrm>
            <a:off x="1901152"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55 M</a:t>
            </a:r>
            <a:endParaRPr lang="en-US" sz="900" dirty="0"/>
          </a:p>
        </p:txBody>
      </p:sp>
      <p:graphicFrame>
        <p:nvGraphicFramePr>
          <p:cNvPr id="6" name="Chart 0" descr=""/>
          <p:cNvGraphicFramePr/>
          <p:nvPr/>
        </p:nvGraphicFramePr>
        <p:xfrm>
          <a:off x="566928" y="1554480"/>
          <a:ext cx="2668448" cy="1225296"/>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950976" y="1645920"/>
            <a:ext cx="1371600" cy="384048"/>
          </a:xfrm>
          <a:prstGeom prst="rect">
            <a:avLst/>
          </a:prstGeom>
          <a:noFill/>
          <a:ln/>
        </p:spPr>
        <p:txBody>
          <a:bodyPr wrap="square" lIns="0" tIns="0" rIns="0" bIns="0" rtlCol="0" anchor="t"/>
          <a:lstStyle/>
          <a:p>
            <a:pPr indent="0" marL="0">
              <a:lnSpc>
                <a:spcPts val="900"/>
              </a:lnSpc>
              <a:buNone/>
            </a:pPr>
            <a:r>
              <a:rPr lang="en-US" sz="750" i="1" dirty="0">
                <a:solidFill>
                  <a:srgbClr val="EB6834"/>
                </a:solidFill>
                <a:latin typeface="Calibri" pitchFamily="34" charset="0"/>
                <a:ea typeface="Calibri" pitchFamily="34" charset="-122"/>
                <a:cs typeface="Calibri" pitchFamily="34" charset="-120"/>
              </a:rPr>
              <a:t>pico 22,1%,</a:t>
            </a:r>
            <a:endParaRPr lang="en-US" sz="750" dirty="0"/>
          </a:p>
          <a:p>
            <a:pPr indent="0" marL="0">
              <a:lnSpc>
                <a:spcPts val="900"/>
              </a:lnSpc>
              <a:buNone/>
            </a:pPr>
            <a:r>
              <a:rPr lang="en-US" sz="750" i="1" dirty="0">
                <a:solidFill>
                  <a:srgbClr val="EB6834"/>
                </a:solidFill>
                <a:latin typeface="Calibri" pitchFamily="34" charset="0"/>
                <a:ea typeface="Calibri" pitchFamily="34" charset="-122"/>
                <a:cs typeface="Calibri" pitchFamily="34" charset="-120"/>
              </a:rPr>
              <a:t>fuera de escala</a:t>
            </a:r>
            <a:endParaRPr lang="en-US" sz="750" dirty="0"/>
          </a:p>
        </p:txBody>
      </p:sp>
      <p:sp>
        <p:nvSpPr>
          <p:cNvPr id="8" name="Text 5"/>
          <p:cNvSpPr txBox="1"/>
          <p:nvPr/>
        </p:nvSpPr>
        <p:spPr>
          <a:xfrm>
            <a:off x="3363392"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feb-2022</a:t>
            </a:r>
            <a:endParaRPr lang="en-US" sz="1100" dirty="0"/>
          </a:p>
        </p:txBody>
      </p:sp>
      <p:sp>
        <p:nvSpPr>
          <p:cNvPr id="9" name="Text 6"/>
          <p:cNvSpPr txBox="1"/>
          <p:nvPr/>
        </p:nvSpPr>
        <p:spPr>
          <a:xfrm>
            <a:off x="4697616"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245 M</a:t>
            </a:r>
            <a:endParaRPr lang="en-US" sz="900" dirty="0"/>
          </a:p>
        </p:txBody>
      </p:sp>
      <p:graphicFrame>
        <p:nvGraphicFramePr>
          <p:cNvPr id="10" name="Chart 1" descr=""/>
          <p:cNvGraphicFramePr/>
          <p:nvPr/>
        </p:nvGraphicFramePr>
        <p:xfrm>
          <a:off x="3363392" y="1554480"/>
          <a:ext cx="2668448" cy="1225296"/>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6159856"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mar-2022</a:t>
            </a:r>
            <a:endParaRPr lang="en-US" sz="1100" dirty="0"/>
          </a:p>
        </p:txBody>
      </p:sp>
      <p:sp>
        <p:nvSpPr>
          <p:cNvPr id="12" name="Text 8"/>
          <p:cNvSpPr txBox="1"/>
          <p:nvPr/>
        </p:nvSpPr>
        <p:spPr>
          <a:xfrm>
            <a:off x="7494080"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280 M</a:t>
            </a:r>
            <a:endParaRPr lang="en-US" sz="900" dirty="0"/>
          </a:p>
        </p:txBody>
      </p:sp>
      <p:graphicFrame>
        <p:nvGraphicFramePr>
          <p:cNvPr id="13" name="Chart 2" descr=""/>
          <p:cNvGraphicFramePr/>
          <p:nvPr/>
        </p:nvGraphicFramePr>
        <p:xfrm>
          <a:off x="6159856" y="1554480"/>
          <a:ext cx="2668448" cy="1225296"/>
        </p:xfrm>
        <a:graphic xmlns:a="http://schemas.openxmlformats.org/drawingml/2006/main">
          <a:graphicData uri="http://schemas.openxmlformats.org/drawingml/2006/chart">
            <c:chart xmlns:c="http://schemas.openxmlformats.org/drawingml/2006/chart" r:id="rId3"/>
          </a:graphicData>
        </a:graphic>
      </p:graphicFrame>
      <p:sp>
        <p:nvSpPr>
          <p:cNvPr id="14" name="Text 9"/>
          <p:cNvSpPr txBox="1"/>
          <p:nvPr/>
        </p:nvSpPr>
        <p:spPr>
          <a:xfrm>
            <a:off x="8956319"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abr-2022</a:t>
            </a:r>
            <a:endParaRPr lang="en-US" sz="1100" dirty="0"/>
          </a:p>
        </p:txBody>
      </p:sp>
      <p:sp>
        <p:nvSpPr>
          <p:cNvPr id="15" name="Text 10"/>
          <p:cNvSpPr txBox="1"/>
          <p:nvPr/>
        </p:nvSpPr>
        <p:spPr>
          <a:xfrm>
            <a:off x="10290543"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298 M</a:t>
            </a:r>
            <a:endParaRPr lang="en-US" sz="900" dirty="0"/>
          </a:p>
        </p:txBody>
      </p:sp>
      <p:graphicFrame>
        <p:nvGraphicFramePr>
          <p:cNvPr id="16" name="Chart 3" descr=""/>
          <p:cNvGraphicFramePr/>
          <p:nvPr/>
        </p:nvGraphicFramePr>
        <p:xfrm>
          <a:off x="8956319" y="1554480"/>
          <a:ext cx="2668448" cy="1225296"/>
        </p:xfrm>
        <a:graphic xmlns:a="http://schemas.openxmlformats.org/drawingml/2006/main">
          <a:graphicData uri="http://schemas.openxmlformats.org/drawingml/2006/chart">
            <c:chart xmlns:c="http://schemas.openxmlformats.org/drawingml/2006/chart" r:id="rId4"/>
          </a:graphicData>
        </a:graphic>
      </p:graphicFrame>
      <p:sp>
        <p:nvSpPr>
          <p:cNvPr id="17" name="Text 11"/>
          <p:cNvSpPr txBox="1"/>
          <p:nvPr/>
        </p:nvSpPr>
        <p:spPr>
          <a:xfrm>
            <a:off x="566928"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may-2022</a:t>
            </a:r>
            <a:endParaRPr lang="en-US" sz="1100" dirty="0"/>
          </a:p>
        </p:txBody>
      </p:sp>
      <p:sp>
        <p:nvSpPr>
          <p:cNvPr id="18" name="Text 12"/>
          <p:cNvSpPr txBox="1"/>
          <p:nvPr/>
        </p:nvSpPr>
        <p:spPr>
          <a:xfrm>
            <a:off x="1901152"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231 M</a:t>
            </a:r>
            <a:endParaRPr lang="en-US" sz="900" dirty="0"/>
          </a:p>
        </p:txBody>
      </p:sp>
      <p:graphicFrame>
        <p:nvGraphicFramePr>
          <p:cNvPr id="19" name="Chart 4" descr=""/>
          <p:cNvGraphicFramePr/>
          <p:nvPr/>
        </p:nvGraphicFramePr>
        <p:xfrm>
          <a:off x="566928" y="3035808"/>
          <a:ext cx="2668448" cy="1225296"/>
        </p:xfrm>
        <a:graphic xmlns:a="http://schemas.openxmlformats.org/drawingml/2006/main">
          <a:graphicData uri="http://schemas.openxmlformats.org/drawingml/2006/chart">
            <c:chart xmlns:c="http://schemas.openxmlformats.org/drawingml/2006/chart" r:id="rId5"/>
          </a:graphicData>
        </a:graphic>
      </p:graphicFrame>
      <p:sp>
        <p:nvSpPr>
          <p:cNvPr id="20" name="Text 13"/>
          <p:cNvSpPr txBox="1"/>
          <p:nvPr/>
        </p:nvSpPr>
        <p:spPr>
          <a:xfrm>
            <a:off x="3363392"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jun-2022</a:t>
            </a:r>
            <a:endParaRPr lang="en-US" sz="1100" dirty="0"/>
          </a:p>
        </p:txBody>
      </p:sp>
      <p:sp>
        <p:nvSpPr>
          <p:cNvPr id="21" name="Text 14"/>
          <p:cNvSpPr txBox="1"/>
          <p:nvPr/>
        </p:nvSpPr>
        <p:spPr>
          <a:xfrm>
            <a:off x="4697616"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222 M</a:t>
            </a:r>
            <a:endParaRPr lang="en-US" sz="900" dirty="0"/>
          </a:p>
        </p:txBody>
      </p:sp>
      <p:graphicFrame>
        <p:nvGraphicFramePr>
          <p:cNvPr id="22" name="Chart 5" descr=""/>
          <p:cNvGraphicFramePr/>
          <p:nvPr/>
        </p:nvGraphicFramePr>
        <p:xfrm>
          <a:off x="3363392" y="3035808"/>
          <a:ext cx="2668448" cy="1225296"/>
        </p:xfrm>
        <a:graphic xmlns:a="http://schemas.openxmlformats.org/drawingml/2006/main">
          <a:graphicData uri="http://schemas.openxmlformats.org/drawingml/2006/chart">
            <c:chart xmlns:c="http://schemas.openxmlformats.org/drawingml/2006/chart" r:id="rId6"/>
          </a:graphicData>
        </a:graphic>
      </p:graphicFrame>
      <p:sp>
        <p:nvSpPr>
          <p:cNvPr id="23" name="Text 15"/>
          <p:cNvSpPr txBox="1"/>
          <p:nvPr/>
        </p:nvSpPr>
        <p:spPr>
          <a:xfrm>
            <a:off x="6159856"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jul-2022</a:t>
            </a:r>
            <a:endParaRPr lang="en-US" sz="1100" dirty="0"/>
          </a:p>
        </p:txBody>
      </p:sp>
      <p:sp>
        <p:nvSpPr>
          <p:cNvPr id="24" name="Text 16"/>
          <p:cNvSpPr txBox="1"/>
          <p:nvPr/>
        </p:nvSpPr>
        <p:spPr>
          <a:xfrm>
            <a:off x="7494080"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189 M</a:t>
            </a:r>
            <a:endParaRPr lang="en-US" sz="900" dirty="0"/>
          </a:p>
        </p:txBody>
      </p:sp>
      <p:graphicFrame>
        <p:nvGraphicFramePr>
          <p:cNvPr id="25" name="Chart 6" descr=""/>
          <p:cNvGraphicFramePr/>
          <p:nvPr/>
        </p:nvGraphicFramePr>
        <p:xfrm>
          <a:off x="6159856" y="3035808"/>
          <a:ext cx="2668448" cy="1225296"/>
        </p:xfrm>
        <a:graphic xmlns:a="http://schemas.openxmlformats.org/drawingml/2006/main">
          <a:graphicData uri="http://schemas.openxmlformats.org/drawingml/2006/chart">
            <c:chart xmlns:c="http://schemas.openxmlformats.org/drawingml/2006/chart" r:id="rId7"/>
          </a:graphicData>
        </a:graphic>
      </p:graphicFrame>
      <p:sp>
        <p:nvSpPr>
          <p:cNvPr id="26" name="Text 17"/>
          <p:cNvSpPr txBox="1"/>
          <p:nvPr/>
        </p:nvSpPr>
        <p:spPr>
          <a:xfrm>
            <a:off x="8956319"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ago-2022</a:t>
            </a:r>
            <a:endParaRPr lang="en-US" sz="1100" dirty="0"/>
          </a:p>
        </p:txBody>
      </p:sp>
      <p:sp>
        <p:nvSpPr>
          <p:cNvPr id="27" name="Text 18"/>
          <p:cNvSpPr txBox="1"/>
          <p:nvPr/>
        </p:nvSpPr>
        <p:spPr>
          <a:xfrm>
            <a:off x="10290543"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234 M</a:t>
            </a:r>
            <a:endParaRPr lang="en-US" sz="900" dirty="0"/>
          </a:p>
        </p:txBody>
      </p:sp>
      <p:graphicFrame>
        <p:nvGraphicFramePr>
          <p:cNvPr id="28" name="Chart 7" descr=""/>
          <p:cNvGraphicFramePr/>
          <p:nvPr/>
        </p:nvGraphicFramePr>
        <p:xfrm>
          <a:off x="8956319" y="3035808"/>
          <a:ext cx="2668448" cy="1225296"/>
        </p:xfrm>
        <a:graphic xmlns:a="http://schemas.openxmlformats.org/drawingml/2006/main">
          <a:graphicData uri="http://schemas.openxmlformats.org/drawingml/2006/chart">
            <c:chart xmlns:c="http://schemas.openxmlformats.org/drawingml/2006/chart" r:id="rId8"/>
          </a:graphicData>
        </a:graphic>
      </p:graphicFrame>
      <p:sp>
        <p:nvSpPr>
          <p:cNvPr id="29" name="Text 19"/>
          <p:cNvSpPr txBox="1"/>
          <p:nvPr/>
        </p:nvSpPr>
        <p:spPr>
          <a:xfrm>
            <a:off x="566928"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sep-2022</a:t>
            </a:r>
            <a:endParaRPr lang="en-US" sz="1100" dirty="0"/>
          </a:p>
        </p:txBody>
      </p:sp>
      <p:sp>
        <p:nvSpPr>
          <p:cNvPr id="30" name="Text 20"/>
          <p:cNvSpPr txBox="1"/>
          <p:nvPr/>
        </p:nvSpPr>
        <p:spPr>
          <a:xfrm>
            <a:off x="1901152"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223 M</a:t>
            </a:r>
            <a:endParaRPr lang="en-US" sz="900" dirty="0"/>
          </a:p>
        </p:txBody>
      </p:sp>
      <p:graphicFrame>
        <p:nvGraphicFramePr>
          <p:cNvPr id="31" name="Chart 8" descr=""/>
          <p:cNvGraphicFramePr/>
          <p:nvPr/>
        </p:nvGraphicFramePr>
        <p:xfrm>
          <a:off x="566928" y="4517136"/>
          <a:ext cx="2668448" cy="1225296"/>
        </p:xfrm>
        <a:graphic xmlns:a="http://schemas.openxmlformats.org/drawingml/2006/main">
          <a:graphicData uri="http://schemas.openxmlformats.org/drawingml/2006/chart">
            <c:chart xmlns:c="http://schemas.openxmlformats.org/drawingml/2006/chart" r:id="rId9"/>
          </a:graphicData>
        </a:graphic>
      </p:graphicFrame>
      <p:sp>
        <p:nvSpPr>
          <p:cNvPr id="32" name="Text 21"/>
          <p:cNvSpPr txBox="1"/>
          <p:nvPr/>
        </p:nvSpPr>
        <p:spPr>
          <a:xfrm>
            <a:off x="3363392"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oct-2022</a:t>
            </a:r>
            <a:endParaRPr lang="en-US" sz="1100" dirty="0"/>
          </a:p>
        </p:txBody>
      </p:sp>
      <p:sp>
        <p:nvSpPr>
          <p:cNvPr id="33" name="Text 22"/>
          <p:cNvSpPr txBox="1"/>
          <p:nvPr/>
        </p:nvSpPr>
        <p:spPr>
          <a:xfrm>
            <a:off x="4697616"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111 M</a:t>
            </a:r>
            <a:endParaRPr lang="en-US" sz="900" dirty="0"/>
          </a:p>
        </p:txBody>
      </p:sp>
      <p:graphicFrame>
        <p:nvGraphicFramePr>
          <p:cNvPr id="34" name="Chart 9" descr=""/>
          <p:cNvGraphicFramePr/>
          <p:nvPr/>
        </p:nvGraphicFramePr>
        <p:xfrm>
          <a:off x="3363392" y="4517136"/>
          <a:ext cx="2668448" cy="1225296"/>
        </p:xfrm>
        <a:graphic xmlns:a="http://schemas.openxmlformats.org/drawingml/2006/main">
          <a:graphicData uri="http://schemas.openxmlformats.org/drawingml/2006/chart">
            <c:chart xmlns:c="http://schemas.openxmlformats.org/drawingml/2006/chart" r:id="rId10"/>
          </a:graphicData>
        </a:graphic>
      </p:graphicFrame>
      <p:sp>
        <p:nvSpPr>
          <p:cNvPr id="35" name="Text 23"/>
          <p:cNvSpPr txBox="1"/>
          <p:nvPr/>
        </p:nvSpPr>
        <p:spPr>
          <a:xfrm>
            <a:off x="6159856"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nov-2022</a:t>
            </a:r>
            <a:endParaRPr lang="en-US" sz="1100" dirty="0"/>
          </a:p>
        </p:txBody>
      </p:sp>
      <p:sp>
        <p:nvSpPr>
          <p:cNvPr id="36" name="Text 24"/>
          <p:cNvSpPr txBox="1"/>
          <p:nvPr/>
        </p:nvSpPr>
        <p:spPr>
          <a:xfrm>
            <a:off x="7494080"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133 M</a:t>
            </a:r>
            <a:endParaRPr lang="en-US" sz="900" dirty="0"/>
          </a:p>
        </p:txBody>
      </p:sp>
      <p:graphicFrame>
        <p:nvGraphicFramePr>
          <p:cNvPr id="37" name="Chart 10" descr=""/>
          <p:cNvGraphicFramePr/>
          <p:nvPr/>
        </p:nvGraphicFramePr>
        <p:xfrm>
          <a:off x="6159856" y="4517136"/>
          <a:ext cx="2668448" cy="1225296"/>
        </p:xfrm>
        <a:graphic xmlns:a="http://schemas.openxmlformats.org/drawingml/2006/main">
          <a:graphicData uri="http://schemas.openxmlformats.org/drawingml/2006/chart">
            <c:chart xmlns:c="http://schemas.openxmlformats.org/drawingml/2006/chart" r:id="rId11"/>
          </a:graphicData>
        </a:graphic>
      </p:graphicFrame>
      <p:sp>
        <p:nvSpPr>
          <p:cNvPr id="38" name="Text 25"/>
          <p:cNvSpPr txBox="1"/>
          <p:nvPr/>
        </p:nvSpPr>
        <p:spPr>
          <a:xfrm>
            <a:off x="8956319"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dic-2022</a:t>
            </a:r>
            <a:endParaRPr lang="en-US" sz="1100" dirty="0"/>
          </a:p>
        </p:txBody>
      </p:sp>
      <p:sp>
        <p:nvSpPr>
          <p:cNvPr id="39" name="Text 26"/>
          <p:cNvSpPr txBox="1"/>
          <p:nvPr/>
        </p:nvSpPr>
        <p:spPr>
          <a:xfrm>
            <a:off x="10290543"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140 M</a:t>
            </a:r>
            <a:endParaRPr lang="en-US" sz="900" dirty="0"/>
          </a:p>
        </p:txBody>
      </p:sp>
      <p:graphicFrame>
        <p:nvGraphicFramePr>
          <p:cNvPr id="40" name="Chart 11" descr=""/>
          <p:cNvGraphicFramePr/>
          <p:nvPr/>
        </p:nvGraphicFramePr>
        <p:xfrm>
          <a:off x="8956319" y="4517136"/>
          <a:ext cx="2668448" cy="1225296"/>
        </p:xfrm>
        <a:graphic xmlns:a="http://schemas.openxmlformats.org/drawingml/2006/main">
          <a:graphicData uri="http://schemas.openxmlformats.org/drawingml/2006/chart">
            <c:chart xmlns:c="http://schemas.openxmlformats.org/drawingml/2006/chart" r:id="rId12"/>
          </a:graphicData>
        </a:graphic>
      </p:graphicFrame>
      <p:sp>
        <p:nvSpPr>
          <p:cNvPr id="41" name="Text 27"/>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Misma escala en los doce cuadros: eje horizontal 0 a 36 meses en libros, eje vertical 0 a 16% de la colocación en mora 30+. La línea gris, idéntica en todos, es el patrón promedio de las cosechas de 2024. La cifra junto a cada título es lo colocado en esa cosecha.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COSECHA POR COSECHA · 2023</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Nueve de las doce cosechas de 2023 superan el patrón de 2024</a:t>
            </a:r>
            <a:endParaRPr lang="en-US" sz="2300" dirty="0"/>
          </a:p>
        </p:txBody>
      </p:sp>
      <p:sp>
        <p:nvSpPr>
          <p:cNvPr id="4" name="Text 2"/>
          <p:cNvSpPr txBox="1"/>
          <p:nvPr/>
        </p:nvSpPr>
        <p:spPr>
          <a:xfrm>
            <a:off x="566928"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ene-2023</a:t>
            </a:r>
            <a:endParaRPr lang="en-US" sz="1100" dirty="0"/>
          </a:p>
        </p:txBody>
      </p:sp>
      <p:sp>
        <p:nvSpPr>
          <p:cNvPr id="5" name="Text 3"/>
          <p:cNvSpPr txBox="1"/>
          <p:nvPr/>
        </p:nvSpPr>
        <p:spPr>
          <a:xfrm>
            <a:off x="1901152"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193 M</a:t>
            </a:r>
            <a:endParaRPr lang="en-US" sz="900" dirty="0"/>
          </a:p>
        </p:txBody>
      </p:sp>
      <p:graphicFrame>
        <p:nvGraphicFramePr>
          <p:cNvPr id="6" name="Chart 0" descr=""/>
          <p:cNvGraphicFramePr/>
          <p:nvPr/>
        </p:nvGraphicFramePr>
        <p:xfrm>
          <a:off x="566928" y="1554480"/>
          <a:ext cx="2668448" cy="1225296"/>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363392"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feb-2023</a:t>
            </a:r>
            <a:endParaRPr lang="en-US" sz="1100" dirty="0"/>
          </a:p>
        </p:txBody>
      </p:sp>
      <p:sp>
        <p:nvSpPr>
          <p:cNvPr id="8" name="Text 5"/>
          <p:cNvSpPr txBox="1"/>
          <p:nvPr/>
        </p:nvSpPr>
        <p:spPr>
          <a:xfrm>
            <a:off x="4697616"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309 M</a:t>
            </a:r>
            <a:endParaRPr lang="en-US" sz="900" dirty="0"/>
          </a:p>
        </p:txBody>
      </p:sp>
      <p:graphicFrame>
        <p:nvGraphicFramePr>
          <p:cNvPr id="9" name="Chart 1" descr=""/>
          <p:cNvGraphicFramePr/>
          <p:nvPr/>
        </p:nvGraphicFramePr>
        <p:xfrm>
          <a:off x="3363392" y="1554480"/>
          <a:ext cx="2668448" cy="1225296"/>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159856"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mar-2023</a:t>
            </a:r>
            <a:endParaRPr lang="en-US" sz="1100" dirty="0"/>
          </a:p>
        </p:txBody>
      </p:sp>
      <p:sp>
        <p:nvSpPr>
          <p:cNvPr id="11" name="Text 7"/>
          <p:cNvSpPr txBox="1"/>
          <p:nvPr/>
        </p:nvSpPr>
        <p:spPr>
          <a:xfrm>
            <a:off x="7494080"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338 M</a:t>
            </a:r>
            <a:endParaRPr lang="en-US" sz="900" dirty="0"/>
          </a:p>
        </p:txBody>
      </p:sp>
      <p:graphicFrame>
        <p:nvGraphicFramePr>
          <p:cNvPr id="12" name="Chart 2" descr=""/>
          <p:cNvGraphicFramePr/>
          <p:nvPr/>
        </p:nvGraphicFramePr>
        <p:xfrm>
          <a:off x="6159856" y="1554480"/>
          <a:ext cx="2668448" cy="1225296"/>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8956319"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abr-2023</a:t>
            </a:r>
            <a:endParaRPr lang="en-US" sz="1100" dirty="0"/>
          </a:p>
        </p:txBody>
      </p:sp>
      <p:sp>
        <p:nvSpPr>
          <p:cNvPr id="14" name="Text 9"/>
          <p:cNvSpPr txBox="1"/>
          <p:nvPr/>
        </p:nvSpPr>
        <p:spPr>
          <a:xfrm>
            <a:off x="10290543"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304 M</a:t>
            </a:r>
            <a:endParaRPr lang="en-US" sz="900" dirty="0"/>
          </a:p>
        </p:txBody>
      </p:sp>
      <p:graphicFrame>
        <p:nvGraphicFramePr>
          <p:cNvPr id="15" name="Chart 3" descr=""/>
          <p:cNvGraphicFramePr/>
          <p:nvPr/>
        </p:nvGraphicFramePr>
        <p:xfrm>
          <a:off x="8956319" y="1554480"/>
          <a:ext cx="2668448" cy="1225296"/>
        </p:xfrm>
        <a:graphic xmlns:a="http://schemas.openxmlformats.org/drawingml/2006/main">
          <a:graphicData uri="http://schemas.openxmlformats.org/drawingml/2006/chart">
            <c:chart xmlns:c="http://schemas.openxmlformats.org/drawingml/2006/chart" r:id="rId4"/>
          </a:graphicData>
        </a:graphic>
      </p:graphicFrame>
      <p:sp>
        <p:nvSpPr>
          <p:cNvPr id="16" name="Text 10"/>
          <p:cNvSpPr txBox="1"/>
          <p:nvPr/>
        </p:nvSpPr>
        <p:spPr>
          <a:xfrm>
            <a:off x="566928"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may-2023</a:t>
            </a:r>
            <a:endParaRPr lang="en-US" sz="1100" dirty="0"/>
          </a:p>
        </p:txBody>
      </p:sp>
      <p:sp>
        <p:nvSpPr>
          <p:cNvPr id="17" name="Text 11"/>
          <p:cNvSpPr txBox="1"/>
          <p:nvPr/>
        </p:nvSpPr>
        <p:spPr>
          <a:xfrm>
            <a:off x="1901152"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312 M</a:t>
            </a:r>
            <a:endParaRPr lang="en-US" sz="900" dirty="0"/>
          </a:p>
        </p:txBody>
      </p:sp>
      <p:graphicFrame>
        <p:nvGraphicFramePr>
          <p:cNvPr id="18" name="Chart 4" descr=""/>
          <p:cNvGraphicFramePr/>
          <p:nvPr/>
        </p:nvGraphicFramePr>
        <p:xfrm>
          <a:off x="566928" y="3035808"/>
          <a:ext cx="2668448" cy="1225296"/>
        </p:xfrm>
        <a:graphic xmlns:a="http://schemas.openxmlformats.org/drawingml/2006/main">
          <a:graphicData uri="http://schemas.openxmlformats.org/drawingml/2006/chart">
            <c:chart xmlns:c="http://schemas.openxmlformats.org/drawingml/2006/chart" r:id="rId5"/>
          </a:graphicData>
        </a:graphic>
      </p:graphicFrame>
      <p:sp>
        <p:nvSpPr>
          <p:cNvPr id="19" name="Text 12"/>
          <p:cNvSpPr txBox="1"/>
          <p:nvPr/>
        </p:nvSpPr>
        <p:spPr>
          <a:xfrm>
            <a:off x="3363392"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jun-2023</a:t>
            </a:r>
            <a:endParaRPr lang="en-US" sz="1100" dirty="0"/>
          </a:p>
        </p:txBody>
      </p:sp>
      <p:sp>
        <p:nvSpPr>
          <p:cNvPr id="20" name="Text 13"/>
          <p:cNvSpPr txBox="1"/>
          <p:nvPr/>
        </p:nvSpPr>
        <p:spPr>
          <a:xfrm>
            <a:off x="4697616"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211 M</a:t>
            </a:r>
            <a:endParaRPr lang="en-US" sz="900" dirty="0"/>
          </a:p>
        </p:txBody>
      </p:sp>
      <p:graphicFrame>
        <p:nvGraphicFramePr>
          <p:cNvPr id="21" name="Chart 5" descr=""/>
          <p:cNvGraphicFramePr/>
          <p:nvPr/>
        </p:nvGraphicFramePr>
        <p:xfrm>
          <a:off x="3363392" y="3035808"/>
          <a:ext cx="2668448" cy="1225296"/>
        </p:xfrm>
        <a:graphic xmlns:a="http://schemas.openxmlformats.org/drawingml/2006/main">
          <a:graphicData uri="http://schemas.openxmlformats.org/drawingml/2006/chart">
            <c:chart xmlns:c="http://schemas.openxmlformats.org/drawingml/2006/chart" r:id="rId6"/>
          </a:graphicData>
        </a:graphic>
      </p:graphicFrame>
      <p:sp>
        <p:nvSpPr>
          <p:cNvPr id="22" name="Text 14"/>
          <p:cNvSpPr txBox="1"/>
          <p:nvPr/>
        </p:nvSpPr>
        <p:spPr>
          <a:xfrm>
            <a:off x="6159856"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jul-2023</a:t>
            </a:r>
            <a:endParaRPr lang="en-US" sz="1100" dirty="0"/>
          </a:p>
        </p:txBody>
      </p:sp>
      <p:sp>
        <p:nvSpPr>
          <p:cNvPr id="23" name="Text 15"/>
          <p:cNvSpPr txBox="1"/>
          <p:nvPr/>
        </p:nvSpPr>
        <p:spPr>
          <a:xfrm>
            <a:off x="7494080"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226 M</a:t>
            </a:r>
            <a:endParaRPr lang="en-US" sz="900" dirty="0"/>
          </a:p>
        </p:txBody>
      </p:sp>
      <p:graphicFrame>
        <p:nvGraphicFramePr>
          <p:cNvPr id="24" name="Chart 6" descr=""/>
          <p:cNvGraphicFramePr/>
          <p:nvPr/>
        </p:nvGraphicFramePr>
        <p:xfrm>
          <a:off x="6159856" y="3035808"/>
          <a:ext cx="2668448" cy="1225296"/>
        </p:xfrm>
        <a:graphic xmlns:a="http://schemas.openxmlformats.org/drawingml/2006/main">
          <a:graphicData uri="http://schemas.openxmlformats.org/drawingml/2006/chart">
            <c:chart xmlns:c="http://schemas.openxmlformats.org/drawingml/2006/chart" r:id="rId7"/>
          </a:graphicData>
        </a:graphic>
      </p:graphicFrame>
      <p:sp>
        <p:nvSpPr>
          <p:cNvPr id="25" name="Text 16"/>
          <p:cNvSpPr txBox="1"/>
          <p:nvPr/>
        </p:nvSpPr>
        <p:spPr>
          <a:xfrm>
            <a:off x="8956319"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ago-2023</a:t>
            </a:r>
            <a:endParaRPr lang="en-US" sz="1100" dirty="0"/>
          </a:p>
        </p:txBody>
      </p:sp>
      <p:sp>
        <p:nvSpPr>
          <p:cNvPr id="26" name="Text 17"/>
          <p:cNvSpPr txBox="1"/>
          <p:nvPr/>
        </p:nvSpPr>
        <p:spPr>
          <a:xfrm>
            <a:off x="10290543"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480 M</a:t>
            </a:r>
            <a:endParaRPr lang="en-US" sz="900" dirty="0"/>
          </a:p>
        </p:txBody>
      </p:sp>
      <p:graphicFrame>
        <p:nvGraphicFramePr>
          <p:cNvPr id="27" name="Chart 7" descr=""/>
          <p:cNvGraphicFramePr/>
          <p:nvPr/>
        </p:nvGraphicFramePr>
        <p:xfrm>
          <a:off x="8956319" y="3035808"/>
          <a:ext cx="2668448" cy="1225296"/>
        </p:xfrm>
        <a:graphic xmlns:a="http://schemas.openxmlformats.org/drawingml/2006/main">
          <a:graphicData uri="http://schemas.openxmlformats.org/drawingml/2006/chart">
            <c:chart xmlns:c="http://schemas.openxmlformats.org/drawingml/2006/chart" r:id="rId8"/>
          </a:graphicData>
        </a:graphic>
      </p:graphicFrame>
      <p:sp>
        <p:nvSpPr>
          <p:cNvPr id="28" name="Text 18"/>
          <p:cNvSpPr txBox="1"/>
          <p:nvPr/>
        </p:nvSpPr>
        <p:spPr>
          <a:xfrm>
            <a:off x="566928"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sep-2023</a:t>
            </a:r>
            <a:endParaRPr lang="en-US" sz="1100" dirty="0"/>
          </a:p>
        </p:txBody>
      </p:sp>
      <p:sp>
        <p:nvSpPr>
          <p:cNvPr id="29" name="Text 19"/>
          <p:cNvSpPr txBox="1"/>
          <p:nvPr/>
        </p:nvSpPr>
        <p:spPr>
          <a:xfrm>
            <a:off x="1901152"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273 M</a:t>
            </a:r>
            <a:endParaRPr lang="en-US" sz="900" dirty="0"/>
          </a:p>
        </p:txBody>
      </p:sp>
      <p:graphicFrame>
        <p:nvGraphicFramePr>
          <p:cNvPr id="30" name="Chart 8" descr=""/>
          <p:cNvGraphicFramePr/>
          <p:nvPr/>
        </p:nvGraphicFramePr>
        <p:xfrm>
          <a:off x="566928" y="4517136"/>
          <a:ext cx="2668448" cy="1225296"/>
        </p:xfrm>
        <a:graphic xmlns:a="http://schemas.openxmlformats.org/drawingml/2006/main">
          <a:graphicData uri="http://schemas.openxmlformats.org/drawingml/2006/chart">
            <c:chart xmlns:c="http://schemas.openxmlformats.org/drawingml/2006/chart" r:id="rId9"/>
          </a:graphicData>
        </a:graphic>
      </p:graphicFrame>
      <p:sp>
        <p:nvSpPr>
          <p:cNvPr id="31" name="Text 20"/>
          <p:cNvSpPr txBox="1"/>
          <p:nvPr/>
        </p:nvSpPr>
        <p:spPr>
          <a:xfrm>
            <a:off x="3363392"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oct-2023</a:t>
            </a:r>
            <a:endParaRPr lang="en-US" sz="1100" dirty="0"/>
          </a:p>
        </p:txBody>
      </p:sp>
      <p:sp>
        <p:nvSpPr>
          <p:cNvPr id="32" name="Text 21"/>
          <p:cNvSpPr txBox="1"/>
          <p:nvPr/>
        </p:nvSpPr>
        <p:spPr>
          <a:xfrm>
            <a:off x="4697616"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160 M</a:t>
            </a:r>
            <a:endParaRPr lang="en-US" sz="900" dirty="0"/>
          </a:p>
        </p:txBody>
      </p:sp>
      <p:graphicFrame>
        <p:nvGraphicFramePr>
          <p:cNvPr id="33" name="Chart 9" descr=""/>
          <p:cNvGraphicFramePr/>
          <p:nvPr/>
        </p:nvGraphicFramePr>
        <p:xfrm>
          <a:off x="3363392" y="4517136"/>
          <a:ext cx="2668448" cy="1225296"/>
        </p:xfrm>
        <a:graphic xmlns:a="http://schemas.openxmlformats.org/drawingml/2006/main">
          <a:graphicData uri="http://schemas.openxmlformats.org/drawingml/2006/chart">
            <c:chart xmlns:c="http://schemas.openxmlformats.org/drawingml/2006/chart" r:id="rId10"/>
          </a:graphicData>
        </a:graphic>
      </p:graphicFrame>
      <p:sp>
        <p:nvSpPr>
          <p:cNvPr id="34" name="Text 22"/>
          <p:cNvSpPr txBox="1"/>
          <p:nvPr/>
        </p:nvSpPr>
        <p:spPr>
          <a:xfrm>
            <a:off x="6159856"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nov-2023</a:t>
            </a:r>
            <a:endParaRPr lang="en-US" sz="1100" dirty="0"/>
          </a:p>
        </p:txBody>
      </p:sp>
      <p:sp>
        <p:nvSpPr>
          <p:cNvPr id="35" name="Text 23"/>
          <p:cNvSpPr txBox="1"/>
          <p:nvPr/>
        </p:nvSpPr>
        <p:spPr>
          <a:xfrm>
            <a:off x="7494080"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183 M</a:t>
            </a:r>
            <a:endParaRPr lang="en-US" sz="900" dirty="0"/>
          </a:p>
        </p:txBody>
      </p:sp>
      <p:graphicFrame>
        <p:nvGraphicFramePr>
          <p:cNvPr id="36" name="Chart 10" descr=""/>
          <p:cNvGraphicFramePr/>
          <p:nvPr/>
        </p:nvGraphicFramePr>
        <p:xfrm>
          <a:off x="6159856" y="4517136"/>
          <a:ext cx="2668448" cy="1225296"/>
        </p:xfrm>
        <a:graphic xmlns:a="http://schemas.openxmlformats.org/drawingml/2006/main">
          <a:graphicData uri="http://schemas.openxmlformats.org/drawingml/2006/chart">
            <c:chart xmlns:c="http://schemas.openxmlformats.org/drawingml/2006/chart" r:id="rId11"/>
          </a:graphicData>
        </a:graphic>
      </p:graphicFrame>
      <p:sp>
        <p:nvSpPr>
          <p:cNvPr id="37" name="Text 24"/>
          <p:cNvSpPr txBox="1"/>
          <p:nvPr/>
        </p:nvSpPr>
        <p:spPr>
          <a:xfrm>
            <a:off x="8956319"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dic-2023</a:t>
            </a:r>
            <a:endParaRPr lang="en-US" sz="1100" dirty="0"/>
          </a:p>
        </p:txBody>
      </p:sp>
      <p:sp>
        <p:nvSpPr>
          <p:cNvPr id="38" name="Text 25"/>
          <p:cNvSpPr txBox="1"/>
          <p:nvPr/>
        </p:nvSpPr>
        <p:spPr>
          <a:xfrm>
            <a:off x="10290543"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298 M</a:t>
            </a:r>
            <a:endParaRPr lang="en-US" sz="900" dirty="0"/>
          </a:p>
        </p:txBody>
      </p:sp>
      <p:graphicFrame>
        <p:nvGraphicFramePr>
          <p:cNvPr id="39" name="Chart 11" descr=""/>
          <p:cNvGraphicFramePr/>
          <p:nvPr/>
        </p:nvGraphicFramePr>
        <p:xfrm>
          <a:off x="8956319" y="4517136"/>
          <a:ext cx="2668448" cy="1225296"/>
        </p:xfrm>
        <a:graphic xmlns:a="http://schemas.openxmlformats.org/drawingml/2006/main">
          <a:graphicData uri="http://schemas.openxmlformats.org/drawingml/2006/chart">
            <c:chart xmlns:c="http://schemas.openxmlformats.org/drawingml/2006/chart" r:id="rId12"/>
          </a:graphicData>
        </a:graphic>
      </p:graphicFrame>
      <p:sp>
        <p:nvSpPr>
          <p:cNvPr id="40" name="Text 26"/>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Misma escala en los doce cuadros: eje horizontal 0 a 36 meses en libros, eje vertical 0 a 16% de la colocación en mora 30+. La línea gris, idéntica en todos, es el patrón promedio de las cosechas de 2024. La cifra junto a cada título es lo colocado en esa cosecha.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COSECHA POR COSECHA · 2024</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Ninguna cosecha de 2024 pasa del 4% al mes 12; en 2023, tres pasaron del 6%</a:t>
            </a:r>
            <a:endParaRPr lang="en-US" sz="2300" dirty="0"/>
          </a:p>
        </p:txBody>
      </p:sp>
      <p:sp>
        <p:nvSpPr>
          <p:cNvPr id="4" name="Text 2"/>
          <p:cNvSpPr txBox="1"/>
          <p:nvPr/>
        </p:nvSpPr>
        <p:spPr>
          <a:xfrm>
            <a:off x="566928"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ene-2024</a:t>
            </a:r>
            <a:endParaRPr lang="en-US" sz="1100" dirty="0"/>
          </a:p>
        </p:txBody>
      </p:sp>
      <p:sp>
        <p:nvSpPr>
          <p:cNvPr id="5" name="Text 3"/>
          <p:cNvSpPr txBox="1"/>
          <p:nvPr/>
        </p:nvSpPr>
        <p:spPr>
          <a:xfrm>
            <a:off x="1901152"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218 M</a:t>
            </a:r>
            <a:endParaRPr lang="en-US" sz="900" dirty="0"/>
          </a:p>
        </p:txBody>
      </p:sp>
      <p:graphicFrame>
        <p:nvGraphicFramePr>
          <p:cNvPr id="6" name="Chart 0" descr=""/>
          <p:cNvGraphicFramePr/>
          <p:nvPr/>
        </p:nvGraphicFramePr>
        <p:xfrm>
          <a:off x="566928" y="1554480"/>
          <a:ext cx="2668448" cy="1225296"/>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363392"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feb-2024</a:t>
            </a:r>
            <a:endParaRPr lang="en-US" sz="1100" dirty="0"/>
          </a:p>
        </p:txBody>
      </p:sp>
      <p:sp>
        <p:nvSpPr>
          <p:cNvPr id="8" name="Text 5"/>
          <p:cNvSpPr txBox="1"/>
          <p:nvPr/>
        </p:nvSpPr>
        <p:spPr>
          <a:xfrm>
            <a:off x="4697616"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291 M</a:t>
            </a:r>
            <a:endParaRPr lang="en-US" sz="900" dirty="0"/>
          </a:p>
        </p:txBody>
      </p:sp>
      <p:graphicFrame>
        <p:nvGraphicFramePr>
          <p:cNvPr id="9" name="Chart 1" descr=""/>
          <p:cNvGraphicFramePr/>
          <p:nvPr/>
        </p:nvGraphicFramePr>
        <p:xfrm>
          <a:off x="3363392" y="1554480"/>
          <a:ext cx="2668448" cy="1225296"/>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159856"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mar-2024</a:t>
            </a:r>
            <a:endParaRPr lang="en-US" sz="1100" dirty="0"/>
          </a:p>
        </p:txBody>
      </p:sp>
      <p:sp>
        <p:nvSpPr>
          <p:cNvPr id="11" name="Text 7"/>
          <p:cNvSpPr txBox="1"/>
          <p:nvPr/>
        </p:nvSpPr>
        <p:spPr>
          <a:xfrm>
            <a:off x="7494080"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253 M</a:t>
            </a:r>
            <a:endParaRPr lang="en-US" sz="900" dirty="0"/>
          </a:p>
        </p:txBody>
      </p:sp>
      <p:graphicFrame>
        <p:nvGraphicFramePr>
          <p:cNvPr id="12" name="Chart 2" descr=""/>
          <p:cNvGraphicFramePr/>
          <p:nvPr/>
        </p:nvGraphicFramePr>
        <p:xfrm>
          <a:off x="6159856" y="1554480"/>
          <a:ext cx="2668448" cy="1225296"/>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8956319"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abr-2024</a:t>
            </a:r>
            <a:endParaRPr lang="en-US" sz="1100" dirty="0"/>
          </a:p>
        </p:txBody>
      </p:sp>
      <p:sp>
        <p:nvSpPr>
          <p:cNvPr id="14" name="Text 9"/>
          <p:cNvSpPr txBox="1"/>
          <p:nvPr/>
        </p:nvSpPr>
        <p:spPr>
          <a:xfrm>
            <a:off x="10290543"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153 M</a:t>
            </a:r>
            <a:endParaRPr lang="en-US" sz="900" dirty="0"/>
          </a:p>
        </p:txBody>
      </p:sp>
      <p:graphicFrame>
        <p:nvGraphicFramePr>
          <p:cNvPr id="15" name="Chart 3" descr=""/>
          <p:cNvGraphicFramePr/>
          <p:nvPr/>
        </p:nvGraphicFramePr>
        <p:xfrm>
          <a:off x="8956319" y="1554480"/>
          <a:ext cx="2668448" cy="1225296"/>
        </p:xfrm>
        <a:graphic xmlns:a="http://schemas.openxmlformats.org/drawingml/2006/main">
          <a:graphicData uri="http://schemas.openxmlformats.org/drawingml/2006/chart">
            <c:chart xmlns:c="http://schemas.openxmlformats.org/drawingml/2006/chart" r:id="rId4"/>
          </a:graphicData>
        </a:graphic>
      </p:graphicFrame>
      <p:sp>
        <p:nvSpPr>
          <p:cNvPr id="16" name="Text 10"/>
          <p:cNvSpPr txBox="1"/>
          <p:nvPr/>
        </p:nvSpPr>
        <p:spPr>
          <a:xfrm>
            <a:off x="566928"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may-2024</a:t>
            </a:r>
            <a:endParaRPr lang="en-US" sz="1100" dirty="0"/>
          </a:p>
        </p:txBody>
      </p:sp>
      <p:sp>
        <p:nvSpPr>
          <p:cNvPr id="17" name="Text 11"/>
          <p:cNvSpPr txBox="1"/>
          <p:nvPr/>
        </p:nvSpPr>
        <p:spPr>
          <a:xfrm>
            <a:off x="1901152"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238 M</a:t>
            </a:r>
            <a:endParaRPr lang="en-US" sz="900" dirty="0"/>
          </a:p>
        </p:txBody>
      </p:sp>
      <p:graphicFrame>
        <p:nvGraphicFramePr>
          <p:cNvPr id="18" name="Chart 4" descr=""/>
          <p:cNvGraphicFramePr/>
          <p:nvPr/>
        </p:nvGraphicFramePr>
        <p:xfrm>
          <a:off x="566928" y="3035808"/>
          <a:ext cx="2668448" cy="1225296"/>
        </p:xfrm>
        <a:graphic xmlns:a="http://schemas.openxmlformats.org/drawingml/2006/main">
          <a:graphicData uri="http://schemas.openxmlformats.org/drawingml/2006/chart">
            <c:chart xmlns:c="http://schemas.openxmlformats.org/drawingml/2006/chart" r:id="rId5"/>
          </a:graphicData>
        </a:graphic>
      </p:graphicFrame>
      <p:sp>
        <p:nvSpPr>
          <p:cNvPr id="19" name="Text 12"/>
          <p:cNvSpPr txBox="1"/>
          <p:nvPr/>
        </p:nvSpPr>
        <p:spPr>
          <a:xfrm>
            <a:off x="3363392"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jun-2024</a:t>
            </a:r>
            <a:endParaRPr lang="en-US" sz="1100" dirty="0"/>
          </a:p>
        </p:txBody>
      </p:sp>
      <p:sp>
        <p:nvSpPr>
          <p:cNvPr id="20" name="Text 13"/>
          <p:cNvSpPr txBox="1"/>
          <p:nvPr/>
        </p:nvSpPr>
        <p:spPr>
          <a:xfrm>
            <a:off x="4697616"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232 M</a:t>
            </a:r>
            <a:endParaRPr lang="en-US" sz="900" dirty="0"/>
          </a:p>
        </p:txBody>
      </p:sp>
      <p:graphicFrame>
        <p:nvGraphicFramePr>
          <p:cNvPr id="21" name="Chart 5" descr=""/>
          <p:cNvGraphicFramePr/>
          <p:nvPr/>
        </p:nvGraphicFramePr>
        <p:xfrm>
          <a:off x="3363392" y="3035808"/>
          <a:ext cx="2668448" cy="1225296"/>
        </p:xfrm>
        <a:graphic xmlns:a="http://schemas.openxmlformats.org/drawingml/2006/main">
          <a:graphicData uri="http://schemas.openxmlformats.org/drawingml/2006/chart">
            <c:chart xmlns:c="http://schemas.openxmlformats.org/drawingml/2006/chart" r:id="rId6"/>
          </a:graphicData>
        </a:graphic>
      </p:graphicFrame>
      <p:sp>
        <p:nvSpPr>
          <p:cNvPr id="22" name="Text 14"/>
          <p:cNvSpPr txBox="1"/>
          <p:nvPr/>
        </p:nvSpPr>
        <p:spPr>
          <a:xfrm>
            <a:off x="6159856"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jul-2024</a:t>
            </a:r>
            <a:endParaRPr lang="en-US" sz="1100" dirty="0"/>
          </a:p>
        </p:txBody>
      </p:sp>
      <p:sp>
        <p:nvSpPr>
          <p:cNvPr id="23" name="Text 15"/>
          <p:cNvSpPr txBox="1"/>
          <p:nvPr/>
        </p:nvSpPr>
        <p:spPr>
          <a:xfrm>
            <a:off x="7494080"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249 M</a:t>
            </a:r>
            <a:endParaRPr lang="en-US" sz="900" dirty="0"/>
          </a:p>
        </p:txBody>
      </p:sp>
      <p:graphicFrame>
        <p:nvGraphicFramePr>
          <p:cNvPr id="24" name="Chart 6" descr=""/>
          <p:cNvGraphicFramePr/>
          <p:nvPr/>
        </p:nvGraphicFramePr>
        <p:xfrm>
          <a:off x="6159856" y="3035808"/>
          <a:ext cx="2668448" cy="1225296"/>
        </p:xfrm>
        <a:graphic xmlns:a="http://schemas.openxmlformats.org/drawingml/2006/main">
          <a:graphicData uri="http://schemas.openxmlformats.org/drawingml/2006/chart">
            <c:chart xmlns:c="http://schemas.openxmlformats.org/drawingml/2006/chart" r:id="rId7"/>
          </a:graphicData>
        </a:graphic>
      </p:graphicFrame>
      <p:sp>
        <p:nvSpPr>
          <p:cNvPr id="25" name="Text 16"/>
          <p:cNvSpPr txBox="1"/>
          <p:nvPr/>
        </p:nvSpPr>
        <p:spPr>
          <a:xfrm>
            <a:off x="8956319"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ago-2024</a:t>
            </a:r>
            <a:endParaRPr lang="en-US" sz="1100" dirty="0"/>
          </a:p>
        </p:txBody>
      </p:sp>
      <p:sp>
        <p:nvSpPr>
          <p:cNvPr id="26" name="Text 17"/>
          <p:cNvSpPr txBox="1"/>
          <p:nvPr/>
        </p:nvSpPr>
        <p:spPr>
          <a:xfrm>
            <a:off x="10290543"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226 M</a:t>
            </a:r>
            <a:endParaRPr lang="en-US" sz="900" dirty="0"/>
          </a:p>
        </p:txBody>
      </p:sp>
      <p:graphicFrame>
        <p:nvGraphicFramePr>
          <p:cNvPr id="27" name="Chart 7" descr=""/>
          <p:cNvGraphicFramePr/>
          <p:nvPr/>
        </p:nvGraphicFramePr>
        <p:xfrm>
          <a:off x="8956319" y="3035808"/>
          <a:ext cx="2668448" cy="1225296"/>
        </p:xfrm>
        <a:graphic xmlns:a="http://schemas.openxmlformats.org/drawingml/2006/main">
          <a:graphicData uri="http://schemas.openxmlformats.org/drawingml/2006/chart">
            <c:chart xmlns:c="http://schemas.openxmlformats.org/drawingml/2006/chart" r:id="rId8"/>
          </a:graphicData>
        </a:graphic>
      </p:graphicFrame>
      <p:sp>
        <p:nvSpPr>
          <p:cNvPr id="28" name="Text 18"/>
          <p:cNvSpPr txBox="1"/>
          <p:nvPr/>
        </p:nvSpPr>
        <p:spPr>
          <a:xfrm>
            <a:off x="566928"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sep-2024</a:t>
            </a:r>
            <a:endParaRPr lang="en-US" sz="1100" dirty="0"/>
          </a:p>
        </p:txBody>
      </p:sp>
      <p:sp>
        <p:nvSpPr>
          <p:cNvPr id="29" name="Text 19"/>
          <p:cNvSpPr txBox="1"/>
          <p:nvPr/>
        </p:nvSpPr>
        <p:spPr>
          <a:xfrm>
            <a:off x="1901152"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239 M</a:t>
            </a:r>
            <a:endParaRPr lang="en-US" sz="900" dirty="0"/>
          </a:p>
        </p:txBody>
      </p:sp>
      <p:graphicFrame>
        <p:nvGraphicFramePr>
          <p:cNvPr id="30" name="Chart 8" descr=""/>
          <p:cNvGraphicFramePr/>
          <p:nvPr/>
        </p:nvGraphicFramePr>
        <p:xfrm>
          <a:off x="566928" y="4517136"/>
          <a:ext cx="2668448" cy="1225296"/>
        </p:xfrm>
        <a:graphic xmlns:a="http://schemas.openxmlformats.org/drawingml/2006/main">
          <a:graphicData uri="http://schemas.openxmlformats.org/drawingml/2006/chart">
            <c:chart xmlns:c="http://schemas.openxmlformats.org/drawingml/2006/chart" r:id="rId9"/>
          </a:graphicData>
        </a:graphic>
      </p:graphicFrame>
      <p:sp>
        <p:nvSpPr>
          <p:cNvPr id="31" name="Text 20"/>
          <p:cNvSpPr txBox="1"/>
          <p:nvPr/>
        </p:nvSpPr>
        <p:spPr>
          <a:xfrm>
            <a:off x="3363392"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oct-2024</a:t>
            </a:r>
            <a:endParaRPr lang="en-US" sz="1100" dirty="0"/>
          </a:p>
        </p:txBody>
      </p:sp>
      <p:sp>
        <p:nvSpPr>
          <p:cNvPr id="32" name="Text 21"/>
          <p:cNvSpPr txBox="1"/>
          <p:nvPr/>
        </p:nvSpPr>
        <p:spPr>
          <a:xfrm>
            <a:off x="4697616"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261 M</a:t>
            </a:r>
            <a:endParaRPr lang="en-US" sz="900" dirty="0"/>
          </a:p>
        </p:txBody>
      </p:sp>
      <p:graphicFrame>
        <p:nvGraphicFramePr>
          <p:cNvPr id="33" name="Chart 9" descr=""/>
          <p:cNvGraphicFramePr/>
          <p:nvPr/>
        </p:nvGraphicFramePr>
        <p:xfrm>
          <a:off x="3363392" y="4517136"/>
          <a:ext cx="2668448" cy="1225296"/>
        </p:xfrm>
        <a:graphic xmlns:a="http://schemas.openxmlformats.org/drawingml/2006/main">
          <a:graphicData uri="http://schemas.openxmlformats.org/drawingml/2006/chart">
            <c:chart xmlns:c="http://schemas.openxmlformats.org/drawingml/2006/chart" r:id="rId10"/>
          </a:graphicData>
        </a:graphic>
      </p:graphicFrame>
      <p:sp>
        <p:nvSpPr>
          <p:cNvPr id="34" name="Text 22"/>
          <p:cNvSpPr txBox="1"/>
          <p:nvPr/>
        </p:nvSpPr>
        <p:spPr>
          <a:xfrm>
            <a:off x="6159856"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nov-2024</a:t>
            </a:r>
            <a:endParaRPr lang="en-US" sz="1100" dirty="0"/>
          </a:p>
        </p:txBody>
      </p:sp>
      <p:sp>
        <p:nvSpPr>
          <p:cNvPr id="35" name="Text 23"/>
          <p:cNvSpPr txBox="1"/>
          <p:nvPr/>
        </p:nvSpPr>
        <p:spPr>
          <a:xfrm>
            <a:off x="7494080"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251 M</a:t>
            </a:r>
            <a:endParaRPr lang="en-US" sz="900" dirty="0"/>
          </a:p>
        </p:txBody>
      </p:sp>
      <p:graphicFrame>
        <p:nvGraphicFramePr>
          <p:cNvPr id="36" name="Chart 10" descr=""/>
          <p:cNvGraphicFramePr/>
          <p:nvPr/>
        </p:nvGraphicFramePr>
        <p:xfrm>
          <a:off x="6159856" y="4517136"/>
          <a:ext cx="2668448" cy="1225296"/>
        </p:xfrm>
        <a:graphic xmlns:a="http://schemas.openxmlformats.org/drawingml/2006/main">
          <a:graphicData uri="http://schemas.openxmlformats.org/drawingml/2006/chart">
            <c:chart xmlns:c="http://schemas.openxmlformats.org/drawingml/2006/chart" r:id="rId11"/>
          </a:graphicData>
        </a:graphic>
      </p:graphicFrame>
      <p:sp>
        <p:nvSpPr>
          <p:cNvPr id="37" name="Text 24"/>
          <p:cNvSpPr txBox="1"/>
          <p:nvPr/>
        </p:nvSpPr>
        <p:spPr>
          <a:xfrm>
            <a:off x="8956319"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dic-2024</a:t>
            </a:r>
            <a:endParaRPr lang="en-US" sz="1100" dirty="0"/>
          </a:p>
        </p:txBody>
      </p:sp>
      <p:sp>
        <p:nvSpPr>
          <p:cNvPr id="38" name="Text 25"/>
          <p:cNvSpPr txBox="1"/>
          <p:nvPr/>
        </p:nvSpPr>
        <p:spPr>
          <a:xfrm>
            <a:off x="10290543"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397 M</a:t>
            </a:r>
            <a:endParaRPr lang="en-US" sz="900" dirty="0"/>
          </a:p>
        </p:txBody>
      </p:sp>
      <p:graphicFrame>
        <p:nvGraphicFramePr>
          <p:cNvPr id="39" name="Chart 11" descr=""/>
          <p:cNvGraphicFramePr/>
          <p:nvPr/>
        </p:nvGraphicFramePr>
        <p:xfrm>
          <a:off x="8956319" y="4517136"/>
          <a:ext cx="2668448" cy="1225296"/>
        </p:xfrm>
        <a:graphic xmlns:a="http://schemas.openxmlformats.org/drawingml/2006/main">
          <a:graphicData uri="http://schemas.openxmlformats.org/drawingml/2006/chart">
            <c:chart xmlns:c="http://schemas.openxmlformats.org/drawingml/2006/chart" r:id="rId12"/>
          </a:graphicData>
        </a:graphic>
      </p:graphicFrame>
      <p:sp>
        <p:nvSpPr>
          <p:cNvPr id="40" name="Text 26"/>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Misma escala en los doce cuadros: eje horizontal 0 a 36 meses en libros, eje vertical 0 a 16% de la colocación en mora 30+. La línea gris, idéntica en todos, es el patrón promedio de las cosechas de 2024. La cifra junto a cada título es lo colocado en esa cosecha.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COSECHA POR COSECHA · 2025</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Enero llega al 6,6%; ninguna otra cosecha de 2025 pasa del 4%</a:t>
            </a:r>
            <a:endParaRPr lang="en-US" sz="2300" dirty="0"/>
          </a:p>
        </p:txBody>
      </p:sp>
      <p:sp>
        <p:nvSpPr>
          <p:cNvPr id="4" name="Text 2"/>
          <p:cNvSpPr txBox="1"/>
          <p:nvPr/>
        </p:nvSpPr>
        <p:spPr>
          <a:xfrm>
            <a:off x="566928"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ene-2025</a:t>
            </a:r>
            <a:endParaRPr lang="en-US" sz="1100" dirty="0"/>
          </a:p>
        </p:txBody>
      </p:sp>
      <p:sp>
        <p:nvSpPr>
          <p:cNvPr id="5" name="Text 3"/>
          <p:cNvSpPr txBox="1"/>
          <p:nvPr/>
        </p:nvSpPr>
        <p:spPr>
          <a:xfrm>
            <a:off x="1901152"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308 M</a:t>
            </a:r>
            <a:endParaRPr lang="en-US" sz="900" dirty="0"/>
          </a:p>
        </p:txBody>
      </p:sp>
      <p:graphicFrame>
        <p:nvGraphicFramePr>
          <p:cNvPr id="6" name="Chart 0" descr=""/>
          <p:cNvGraphicFramePr/>
          <p:nvPr/>
        </p:nvGraphicFramePr>
        <p:xfrm>
          <a:off x="566928" y="1554480"/>
          <a:ext cx="2668448" cy="1225296"/>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363392"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feb-2025</a:t>
            </a:r>
            <a:endParaRPr lang="en-US" sz="1100" dirty="0"/>
          </a:p>
        </p:txBody>
      </p:sp>
      <p:sp>
        <p:nvSpPr>
          <p:cNvPr id="8" name="Text 5"/>
          <p:cNvSpPr txBox="1"/>
          <p:nvPr/>
        </p:nvSpPr>
        <p:spPr>
          <a:xfrm>
            <a:off x="4697616"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297 M</a:t>
            </a:r>
            <a:endParaRPr lang="en-US" sz="900" dirty="0"/>
          </a:p>
        </p:txBody>
      </p:sp>
      <p:graphicFrame>
        <p:nvGraphicFramePr>
          <p:cNvPr id="9" name="Chart 1" descr=""/>
          <p:cNvGraphicFramePr/>
          <p:nvPr/>
        </p:nvGraphicFramePr>
        <p:xfrm>
          <a:off x="3363392" y="1554480"/>
          <a:ext cx="2668448" cy="1225296"/>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159856"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mar-2025</a:t>
            </a:r>
            <a:endParaRPr lang="en-US" sz="1100" dirty="0"/>
          </a:p>
        </p:txBody>
      </p:sp>
      <p:sp>
        <p:nvSpPr>
          <p:cNvPr id="11" name="Text 7"/>
          <p:cNvSpPr txBox="1"/>
          <p:nvPr/>
        </p:nvSpPr>
        <p:spPr>
          <a:xfrm>
            <a:off x="7494080"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395 M</a:t>
            </a:r>
            <a:endParaRPr lang="en-US" sz="900" dirty="0"/>
          </a:p>
        </p:txBody>
      </p:sp>
      <p:graphicFrame>
        <p:nvGraphicFramePr>
          <p:cNvPr id="12" name="Chart 2" descr=""/>
          <p:cNvGraphicFramePr/>
          <p:nvPr/>
        </p:nvGraphicFramePr>
        <p:xfrm>
          <a:off x="6159856" y="1554480"/>
          <a:ext cx="2668448" cy="1225296"/>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8956319"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abr-2025</a:t>
            </a:r>
            <a:endParaRPr lang="en-US" sz="1100" dirty="0"/>
          </a:p>
        </p:txBody>
      </p:sp>
      <p:sp>
        <p:nvSpPr>
          <p:cNvPr id="14" name="Text 9"/>
          <p:cNvSpPr txBox="1"/>
          <p:nvPr/>
        </p:nvSpPr>
        <p:spPr>
          <a:xfrm>
            <a:off x="10290543"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321 M</a:t>
            </a:r>
            <a:endParaRPr lang="en-US" sz="900" dirty="0"/>
          </a:p>
        </p:txBody>
      </p:sp>
      <p:graphicFrame>
        <p:nvGraphicFramePr>
          <p:cNvPr id="15" name="Chart 3" descr=""/>
          <p:cNvGraphicFramePr/>
          <p:nvPr/>
        </p:nvGraphicFramePr>
        <p:xfrm>
          <a:off x="8956319" y="1554480"/>
          <a:ext cx="2668448" cy="1225296"/>
        </p:xfrm>
        <a:graphic xmlns:a="http://schemas.openxmlformats.org/drawingml/2006/main">
          <a:graphicData uri="http://schemas.openxmlformats.org/drawingml/2006/chart">
            <c:chart xmlns:c="http://schemas.openxmlformats.org/drawingml/2006/chart" r:id="rId4"/>
          </a:graphicData>
        </a:graphic>
      </p:graphicFrame>
      <p:sp>
        <p:nvSpPr>
          <p:cNvPr id="16" name="Text 10"/>
          <p:cNvSpPr txBox="1"/>
          <p:nvPr/>
        </p:nvSpPr>
        <p:spPr>
          <a:xfrm>
            <a:off x="566928"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may-2025</a:t>
            </a:r>
            <a:endParaRPr lang="en-US" sz="1100" dirty="0"/>
          </a:p>
        </p:txBody>
      </p:sp>
      <p:sp>
        <p:nvSpPr>
          <p:cNvPr id="17" name="Text 11"/>
          <p:cNvSpPr txBox="1"/>
          <p:nvPr/>
        </p:nvSpPr>
        <p:spPr>
          <a:xfrm>
            <a:off x="1901152"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370 M</a:t>
            </a:r>
            <a:endParaRPr lang="en-US" sz="900" dirty="0"/>
          </a:p>
        </p:txBody>
      </p:sp>
      <p:graphicFrame>
        <p:nvGraphicFramePr>
          <p:cNvPr id="18" name="Chart 4" descr=""/>
          <p:cNvGraphicFramePr/>
          <p:nvPr/>
        </p:nvGraphicFramePr>
        <p:xfrm>
          <a:off x="566928" y="3035808"/>
          <a:ext cx="2668448" cy="1225296"/>
        </p:xfrm>
        <a:graphic xmlns:a="http://schemas.openxmlformats.org/drawingml/2006/main">
          <a:graphicData uri="http://schemas.openxmlformats.org/drawingml/2006/chart">
            <c:chart xmlns:c="http://schemas.openxmlformats.org/drawingml/2006/chart" r:id="rId5"/>
          </a:graphicData>
        </a:graphic>
      </p:graphicFrame>
      <p:sp>
        <p:nvSpPr>
          <p:cNvPr id="19" name="Text 12"/>
          <p:cNvSpPr txBox="1"/>
          <p:nvPr/>
        </p:nvSpPr>
        <p:spPr>
          <a:xfrm>
            <a:off x="3363392"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jun-2025</a:t>
            </a:r>
            <a:endParaRPr lang="en-US" sz="1100" dirty="0"/>
          </a:p>
        </p:txBody>
      </p:sp>
      <p:sp>
        <p:nvSpPr>
          <p:cNvPr id="20" name="Text 13"/>
          <p:cNvSpPr txBox="1"/>
          <p:nvPr/>
        </p:nvSpPr>
        <p:spPr>
          <a:xfrm>
            <a:off x="4697616"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280 M</a:t>
            </a:r>
            <a:endParaRPr lang="en-US" sz="900" dirty="0"/>
          </a:p>
        </p:txBody>
      </p:sp>
      <p:graphicFrame>
        <p:nvGraphicFramePr>
          <p:cNvPr id="21" name="Chart 5" descr=""/>
          <p:cNvGraphicFramePr/>
          <p:nvPr/>
        </p:nvGraphicFramePr>
        <p:xfrm>
          <a:off x="3363392" y="3035808"/>
          <a:ext cx="2668448" cy="1225296"/>
        </p:xfrm>
        <a:graphic xmlns:a="http://schemas.openxmlformats.org/drawingml/2006/main">
          <a:graphicData uri="http://schemas.openxmlformats.org/drawingml/2006/chart">
            <c:chart xmlns:c="http://schemas.openxmlformats.org/drawingml/2006/chart" r:id="rId6"/>
          </a:graphicData>
        </a:graphic>
      </p:graphicFrame>
      <p:sp>
        <p:nvSpPr>
          <p:cNvPr id="22" name="Text 14"/>
          <p:cNvSpPr txBox="1"/>
          <p:nvPr/>
        </p:nvSpPr>
        <p:spPr>
          <a:xfrm>
            <a:off x="6159856"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jul-2025</a:t>
            </a:r>
            <a:endParaRPr lang="en-US" sz="1100" dirty="0"/>
          </a:p>
        </p:txBody>
      </p:sp>
      <p:sp>
        <p:nvSpPr>
          <p:cNvPr id="23" name="Text 15"/>
          <p:cNvSpPr txBox="1"/>
          <p:nvPr/>
        </p:nvSpPr>
        <p:spPr>
          <a:xfrm>
            <a:off x="7494080"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367 M</a:t>
            </a:r>
            <a:endParaRPr lang="en-US" sz="900" dirty="0"/>
          </a:p>
        </p:txBody>
      </p:sp>
      <p:graphicFrame>
        <p:nvGraphicFramePr>
          <p:cNvPr id="24" name="Chart 6" descr=""/>
          <p:cNvGraphicFramePr/>
          <p:nvPr/>
        </p:nvGraphicFramePr>
        <p:xfrm>
          <a:off x="6159856" y="3035808"/>
          <a:ext cx="2668448" cy="1225296"/>
        </p:xfrm>
        <a:graphic xmlns:a="http://schemas.openxmlformats.org/drawingml/2006/main">
          <a:graphicData uri="http://schemas.openxmlformats.org/drawingml/2006/chart">
            <c:chart xmlns:c="http://schemas.openxmlformats.org/drawingml/2006/chart" r:id="rId7"/>
          </a:graphicData>
        </a:graphic>
      </p:graphicFrame>
      <p:sp>
        <p:nvSpPr>
          <p:cNvPr id="25" name="Text 16"/>
          <p:cNvSpPr txBox="1"/>
          <p:nvPr/>
        </p:nvSpPr>
        <p:spPr>
          <a:xfrm>
            <a:off x="8956319" y="2816352"/>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ago-2025</a:t>
            </a:r>
            <a:endParaRPr lang="en-US" sz="1100" dirty="0"/>
          </a:p>
        </p:txBody>
      </p:sp>
      <p:sp>
        <p:nvSpPr>
          <p:cNvPr id="26" name="Text 17"/>
          <p:cNvSpPr txBox="1"/>
          <p:nvPr/>
        </p:nvSpPr>
        <p:spPr>
          <a:xfrm>
            <a:off x="10290543" y="2816352"/>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292 M</a:t>
            </a:r>
            <a:endParaRPr lang="en-US" sz="900" dirty="0"/>
          </a:p>
        </p:txBody>
      </p:sp>
      <p:graphicFrame>
        <p:nvGraphicFramePr>
          <p:cNvPr id="27" name="Chart 7" descr=""/>
          <p:cNvGraphicFramePr/>
          <p:nvPr/>
        </p:nvGraphicFramePr>
        <p:xfrm>
          <a:off x="8956319" y="3035808"/>
          <a:ext cx="2668448" cy="1225296"/>
        </p:xfrm>
        <a:graphic xmlns:a="http://schemas.openxmlformats.org/drawingml/2006/main">
          <a:graphicData uri="http://schemas.openxmlformats.org/drawingml/2006/chart">
            <c:chart xmlns:c="http://schemas.openxmlformats.org/drawingml/2006/chart" r:id="rId8"/>
          </a:graphicData>
        </a:graphic>
      </p:graphicFrame>
      <p:sp>
        <p:nvSpPr>
          <p:cNvPr id="28" name="Text 18"/>
          <p:cNvSpPr txBox="1"/>
          <p:nvPr/>
        </p:nvSpPr>
        <p:spPr>
          <a:xfrm>
            <a:off x="566928"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sep-2025</a:t>
            </a:r>
            <a:endParaRPr lang="en-US" sz="1100" dirty="0"/>
          </a:p>
        </p:txBody>
      </p:sp>
      <p:sp>
        <p:nvSpPr>
          <p:cNvPr id="29" name="Text 19"/>
          <p:cNvSpPr txBox="1"/>
          <p:nvPr/>
        </p:nvSpPr>
        <p:spPr>
          <a:xfrm>
            <a:off x="1901152"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303 M</a:t>
            </a:r>
            <a:endParaRPr lang="en-US" sz="900" dirty="0"/>
          </a:p>
        </p:txBody>
      </p:sp>
      <p:graphicFrame>
        <p:nvGraphicFramePr>
          <p:cNvPr id="30" name="Chart 8" descr=""/>
          <p:cNvGraphicFramePr/>
          <p:nvPr/>
        </p:nvGraphicFramePr>
        <p:xfrm>
          <a:off x="566928" y="4517136"/>
          <a:ext cx="2668448" cy="1225296"/>
        </p:xfrm>
        <a:graphic xmlns:a="http://schemas.openxmlformats.org/drawingml/2006/main">
          <a:graphicData uri="http://schemas.openxmlformats.org/drawingml/2006/chart">
            <c:chart xmlns:c="http://schemas.openxmlformats.org/drawingml/2006/chart" r:id="rId9"/>
          </a:graphicData>
        </a:graphic>
      </p:graphicFrame>
      <p:sp>
        <p:nvSpPr>
          <p:cNvPr id="31" name="Text 20"/>
          <p:cNvSpPr txBox="1"/>
          <p:nvPr/>
        </p:nvSpPr>
        <p:spPr>
          <a:xfrm>
            <a:off x="3363392"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oct-2025</a:t>
            </a:r>
            <a:endParaRPr lang="en-US" sz="1100" dirty="0"/>
          </a:p>
        </p:txBody>
      </p:sp>
      <p:sp>
        <p:nvSpPr>
          <p:cNvPr id="32" name="Text 21"/>
          <p:cNvSpPr txBox="1"/>
          <p:nvPr/>
        </p:nvSpPr>
        <p:spPr>
          <a:xfrm>
            <a:off x="4697616"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378 M</a:t>
            </a:r>
            <a:endParaRPr lang="en-US" sz="900" dirty="0"/>
          </a:p>
        </p:txBody>
      </p:sp>
      <p:graphicFrame>
        <p:nvGraphicFramePr>
          <p:cNvPr id="33" name="Chart 9" descr=""/>
          <p:cNvGraphicFramePr/>
          <p:nvPr/>
        </p:nvGraphicFramePr>
        <p:xfrm>
          <a:off x="3363392" y="4517136"/>
          <a:ext cx="2668448" cy="1225296"/>
        </p:xfrm>
        <a:graphic xmlns:a="http://schemas.openxmlformats.org/drawingml/2006/main">
          <a:graphicData uri="http://schemas.openxmlformats.org/drawingml/2006/chart">
            <c:chart xmlns:c="http://schemas.openxmlformats.org/drawingml/2006/chart" r:id="rId10"/>
          </a:graphicData>
        </a:graphic>
      </p:graphicFrame>
      <p:sp>
        <p:nvSpPr>
          <p:cNvPr id="34" name="Text 22"/>
          <p:cNvSpPr txBox="1"/>
          <p:nvPr/>
        </p:nvSpPr>
        <p:spPr>
          <a:xfrm>
            <a:off x="6159856"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nov-2025</a:t>
            </a:r>
            <a:endParaRPr lang="en-US" sz="1100" dirty="0"/>
          </a:p>
        </p:txBody>
      </p:sp>
      <p:sp>
        <p:nvSpPr>
          <p:cNvPr id="35" name="Text 23"/>
          <p:cNvSpPr txBox="1"/>
          <p:nvPr/>
        </p:nvSpPr>
        <p:spPr>
          <a:xfrm>
            <a:off x="7494080"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401 M</a:t>
            </a:r>
            <a:endParaRPr lang="en-US" sz="900" dirty="0"/>
          </a:p>
        </p:txBody>
      </p:sp>
      <p:graphicFrame>
        <p:nvGraphicFramePr>
          <p:cNvPr id="36" name="Chart 10" descr=""/>
          <p:cNvGraphicFramePr/>
          <p:nvPr/>
        </p:nvGraphicFramePr>
        <p:xfrm>
          <a:off x="6159856" y="4517136"/>
          <a:ext cx="2668448" cy="1225296"/>
        </p:xfrm>
        <a:graphic xmlns:a="http://schemas.openxmlformats.org/drawingml/2006/main">
          <a:graphicData uri="http://schemas.openxmlformats.org/drawingml/2006/chart">
            <c:chart xmlns:c="http://schemas.openxmlformats.org/drawingml/2006/chart" r:id="rId11"/>
          </a:graphicData>
        </a:graphic>
      </p:graphicFrame>
      <p:sp>
        <p:nvSpPr>
          <p:cNvPr id="37" name="Text 24"/>
          <p:cNvSpPr txBox="1"/>
          <p:nvPr/>
        </p:nvSpPr>
        <p:spPr>
          <a:xfrm>
            <a:off x="8956319" y="4297680"/>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dic-2025</a:t>
            </a:r>
            <a:endParaRPr lang="en-US" sz="1100" dirty="0"/>
          </a:p>
        </p:txBody>
      </p:sp>
      <p:sp>
        <p:nvSpPr>
          <p:cNvPr id="38" name="Text 25"/>
          <p:cNvSpPr txBox="1"/>
          <p:nvPr/>
        </p:nvSpPr>
        <p:spPr>
          <a:xfrm>
            <a:off x="10290543" y="4297680"/>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477 M</a:t>
            </a:r>
            <a:endParaRPr lang="en-US" sz="900" dirty="0"/>
          </a:p>
        </p:txBody>
      </p:sp>
      <p:graphicFrame>
        <p:nvGraphicFramePr>
          <p:cNvPr id="39" name="Chart 11" descr=""/>
          <p:cNvGraphicFramePr/>
          <p:nvPr/>
        </p:nvGraphicFramePr>
        <p:xfrm>
          <a:off x="8956319" y="4517136"/>
          <a:ext cx="2668448" cy="1225296"/>
        </p:xfrm>
        <a:graphic xmlns:a="http://schemas.openxmlformats.org/drawingml/2006/main">
          <a:graphicData uri="http://schemas.openxmlformats.org/drawingml/2006/chart">
            <c:chart xmlns:c="http://schemas.openxmlformats.org/drawingml/2006/chart" r:id="rId12"/>
          </a:graphicData>
        </a:graphic>
      </p:graphicFrame>
      <p:sp>
        <p:nvSpPr>
          <p:cNvPr id="40" name="Text 26"/>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Misma escala en los doce cuadros: eje horizontal 0 a 36 meses en libros, eje vertical 0 a 16% de la colocación en mora 30+. La línea gris, idéntica en todos, es el patrón promedio de las cosechas de 2024. La cifra junto a cada título es lo colocado en esa cosecha.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COSECHA POR COSECHA · 2026</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Las cosechas de 2026 todavía no tienen edad para decir nada</a:t>
            </a:r>
            <a:endParaRPr lang="en-US" sz="2300" dirty="0"/>
          </a:p>
        </p:txBody>
      </p:sp>
      <p:sp>
        <p:nvSpPr>
          <p:cNvPr id="4" name="Text 2"/>
          <p:cNvSpPr txBox="1"/>
          <p:nvPr/>
        </p:nvSpPr>
        <p:spPr>
          <a:xfrm>
            <a:off x="566928"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ene-2026</a:t>
            </a:r>
            <a:endParaRPr lang="en-US" sz="1100" dirty="0"/>
          </a:p>
        </p:txBody>
      </p:sp>
      <p:sp>
        <p:nvSpPr>
          <p:cNvPr id="5" name="Text 3"/>
          <p:cNvSpPr txBox="1"/>
          <p:nvPr/>
        </p:nvSpPr>
        <p:spPr>
          <a:xfrm>
            <a:off x="1901152"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416 M</a:t>
            </a:r>
            <a:endParaRPr lang="en-US" sz="900" dirty="0"/>
          </a:p>
        </p:txBody>
      </p:sp>
      <p:graphicFrame>
        <p:nvGraphicFramePr>
          <p:cNvPr id="6" name="Chart 0" descr=""/>
          <p:cNvGraphicFramePr/>
          <p:nvPr/>
        </p:nvGraphicFramePr>
        <p:xfrm>
          <a:off x="566928" y="1554480"/>
          <a:ext cx="2668448" cy="1828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363392"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feb-2026</a:t>
            </a:r>
            <a:endParaRPr lang="en-US" sz="1100" dirty="0"/>
          </a:p>
        </p:txBody>
      </p:sp>
      <p:sp>
        <p:nvSpPr>
          <p:cNvPr id="8" name="Text 5"/>
          <p:cNvSpPr txBox="1"/>
          <p:nvPr/>
        </p:nvSpPr>
        <p:spPr>
          <a:xfrm>
            <a:off x="4697616"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486 M</a:t>
            </a:r>
            <a:endParaRPr lang="en-US" sz="900" dirty="0"/>
          </a:p>
        </p:txBody>
      </p:sp>
      <p:graphicFrame>
        <p:nvGraphicFramePr>
          <p:cNvPr id="9" name="Chart 1" descr=""/>
          <p:cNvGraphicFramePr/>
          <p:nvPr/>
        </p:nvGraphicFramePr>
        <p:xfrm>
          <a:off x="3363392" y="1554480"/>
          <a:ext cx="2668448" cy="18288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159856"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mar-2026</a:t>
            </a:r>
            <a:endParaRPr lang="en-US" sz="1100" dirty="0"/>
          </a:p>
        </p:txBody>
      </p:sp>
      <p:sp>
        <p:nvSpPr>
          <p:cNvPr id="11" name="Text 7"/>
          <p:cNvSpPr txBox="1"/>
          <p:nvPr/>
        </p:nvSpPr>
        <p:spPr>
          <a:xfrm>
            <a:off x="7494080"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432 M</a:t>
            </a:r>
            <a:endParaRPr lang="en-US" sz="900" dirty="0"/>
          </a:p>
        </p:txBody>
      </p:sp>
      <p:graphicFrame>
        <p:nvGraphicFramePr>
          <p:cNvPr id="12" name="Chart 2" descr=""/>
          <p:cNvGraphicFramePr/>
          <p:nvPr/>
        </p:nvGraphicFramePr>
        <p:xfrm>
          <a:off x="6159856" y="1554480"/>
          <a:ext cx="2668448" cy="1828800"/>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8956319" y="1335024"/>
            <a:ext cx="1467646" cy="201168"/>
          </a:xfrm>
          <a:prstGeom prst="rect">
            <a:avLst/>
          </a:prstGeom>
          <a:noFill/>
          <a:ln/>
        </p:spPr>
        <p:txBody>
          <a:bodyPr wrap="square" lIns="0" tIns="0" rIns="0" bIns="0" rtlCol="0" anchor="ctr"/>
          <a:lstStyle/>
          <a:p>
            <a:pPr indent="0" marL="0">
              <a:buNone/>
            </a:pPr>
            <a:r>
              <a:rPr lang="en-US" sz="1100" b="1" dirty="0">
                <a:solidFill>
                  <a:srgbClr val="18242F"/>
                </a:solidFill>
                <a:latin typeface="Calibri" pitchFamily="34" charset="0"/>
                <a:ea typeface="Calibri" pitchFamily="34" charset="-122"/>
                <a:cs typeface="Calibri" pitchFamily="34" charset="-120"/>
              </a:rPr>
              <a:t>abr-2026</a:t>
            </a:r>
            <a:endParaRPr lang="en-US" sz="1100" dirty="0"/>
          </a:p>
        </p:txBody>
      </p:sp>
      <p:sp>
        <p:nvSpPr>
          <p:cNvPr id="14" name="Text 9"/>
          <p:cNvSpPr txBox="1"/>
          <p:nvPr/>
        </p:nvSpPr>
        <p:spPr>
          <a:xfrm>
            <a:off x="10290543" y="1335024"/>
            <a:ext cx="1334224" cy="201168"/>
          </a:xfrm>
          <a:prstGeom prst="rect">
            <a:avLst/>
          </a:prstGeom>
          <a:noFill/>
          <a:ln/>
        </p:spPr>
        <p:txBody>
          <a:bodyPr wrap="square" lIns="0" tIns="0" rIns="0" bIns="0" rtlCol="0" anchor="ctr"/>
          <a:lstStyle/>
          <a:p>
            <a:pPr algn="r" indent="0" marL="0">
              <a:buNone/>
            </a:pPr>
            <a:r>
              <a:rPr lang="en-US" sz="900" dirty="0">
                <a:solidFill>
                  <a:srgbClr val="8B98A5"/>
                </a:solidFill>
                <a:latin typeface="Calibri" pitchFamily="34" charset="0"/>
                <a:ea typeface="Calibri" pitchFamily="34" charset="-122"/>
                <a:cs typeface="Calibri" pitchFamily="34" charset="-120"/>
              </a:rPr>
              <a:t>COP 507 M</a:t>
            </a:r>
            <a:endParaRPr lang="en-US" sz="900" dirty="0"/>
          </a:p>
        </p:txBody>
      </p:sp>
      <p:graphicFrame>
        <p:nvGraphicFramePr>
          <p:cNvPr id="15" name="Chart 3" descr=""/>
          <p:cNvGraphicFramePr/>
          <p:nvPr/>
        </p:nvGraphicFramePr>
        <p:xfrm>
          <a:off x="8956319" y="1554480"/>
          <a:ext cx="2668448" cy="1828800"/>
        </p:xfrm>
        <a:graphic xmlns:a="http://schemas.openxmlformats.org/drawingml/2006/main">
          <a:graphicData uri="http://schemas.openxmlformats.org/drawingml/2006/chart">
            <c:chart xmlns:c="http://schemas.openxmlformats.org/drawingml/2006/chart" r:id="rId4"/>
          </a:graphicData>
        </a:graphic>
      </p:graphicFrame>
      <p:sp>
        <p:nvSpPr>
          <p:cNvPr id="16" name="Shape 10"/>
          <p:cNvSpPr/>
          <p:nvPr/>
        </p:nvSpPr>
        <p:spPr>
          <a:xfrm>
            <a:off x="566928" y="3977640"/>
            <a:ext cx="11057839" cy="1783080"/>
          </a:xfrm>
          <a:prstGeom prst="roundRect">
            <a:avLst>
              <a:gd name="adj" fmla="val 3077"/>
            </a:avLst>
          </a:prstGeom>
          <a:solidFill>
            <a:srgbClr val="FBF2EC"/>
          </a:solidFill>
          <a:ln w="9525">
            <a:solidFill>
              <a:srgbClr val="FBF2EC"/>
            </a:solidFill>
            <a:prstDash val="solid"/>
          </a:ln>
        </p:spPr>
      </p:sp>
      <p:sp>
        <p:nvSpPr>
          <p:cNvPr id="17" name="Text 11"/>
          <p:cNvSpPr txBox="1"/>
          <p:nvPr/>
        </p:nvSpPr>
        <p:spPr>
          <a:xfrm>
            <a:off x="886968" y="4206240"/>
            <a:ext cx="10424160" cy="292608"/>
          </a:xfrm>
          <a:prstGeom prst="rect">
            <a:avLst/>
          </a:prstGeom>
          <a:noFill/>
          <a:ln/>
        </p:spPr>
        <p:txBody>
          <a:bodyPr wrap="square" lIns="0" tIns="0" rIns="0" bIns="0" rtlCol="0" anchor="ctr"/>
          <a:lstStyle/>
          <a:p>
            <a:pPr indent="0" marL="0">
              <a:buNone/>
            </a:pPr>
            <a:r>
              <a:rPr lang="en-US" sz="1400" b="1" dirty="0">
                <a:solidFill>
                  <a:srgbClr val="9A4520"/>
                </a:solidFill>
                <a:latin typeface="Calibri" pitchFamily="34" charset="0"/>
                <a:ea typeface="Calibri" pitchFamily="34" charset="-122"/>
                <a:cs typeface="Calibri" pitchFamily="34" charset="-120"/>
              </a:rPr>
              <a:t>Por qué esta lámina tiene cuatro cuadros y no doce, y por qué están casi vacíos</a:t>
            </a:r>
            <a:endParaRPr lang="en-US" sz="1400" dirty="0"/>
          </a:p>
        </p:txBody>
      </p:sp>
      <p:sp>
        <p:nvSpPr>
          <p:cNvPr id="18" name="Text 12"/>
          <p:cNvSpPr txBox="1"/>
          <p:nvPr/>
        </p:nvSpPr>
        <p:spPr>
          <a:xfrm>
            <a:off x="886968" y="4553712"/>
            <a:ext cx="10378440" cy="475488"/>
          </a:xfrm>
          <a:prstGeom prst="rect">
            <a:avLst/>
          </a:prstGeom>
          <a:noFill/>
          <a:ln/>
        </p:spPr>
        <p:txBody>
          <a:bodyPr wrap="square" lIns="0" tIns="0" rIns="0" bIns="0" rtlCol="0" anchor="t"/>
          <a:lstStyle/>
          <a:p>
            <a:pPr indent="0" marL="0">
              <a:lnSpc>
                <a:spcPts val="1600"/>
              </a:lnSpc>
              <a:buNone/>
            </a:pPr>
            <a:r>
              <a:rPr lang="en-US" sz="1200" dirty="0">
                <a:solidFill>
                  <a:srgbClr val="6E4130"/>
                </a:solidFill>
                <a:latin typeface="Calibri" pitchFamily="34" charset="0"/>
                <a:ea typeface="Calibri" pitchFamily="34" charset="-122"/>
                <a:cs typeface="Calibri" pitchFamily="34" charset="-120"/>
              </a:rPr>
              <a:t>De mayo de 2026 en adelante, el archivo no trae el porcentaje calculado en los bloques de observación anteriores al corte de junio, así que esas cuatro cosechas quedan sin curva. No es que no tengan mora: es que el dato no está.</a:t>
            </a:r>
            <a:endParaRPr lang="en-US" sz="1200" dirty="0"/>
          </a:p>
        </p:txBody>
      </p:sp>
      <p:sp>
        <p:nvSpPr>
          <p:cNvPr id="19" name="Text 13"/>
          <p:cNvSpPr txBox="1"/>
          <p:nvPr/>
        </p:nvSpPr>
        <p:spPr>
          <a:xfrm>
            <a:off x="886968" y="5074920"/>
            <a:ext cx="10378440" cy="566928"/>
          </a:xfrm>
          <a:prstGeom prst="rect">
            <a:avLst/>
          </a:prstGeom>
          <a:noFill/>
          <a:ln/>
        </p:spPr>
        <p:txBody>
          <a:bodyPr wrap="square" lIns="0" tIns="0" rIns="0" bIns="0" rtlCol="0" anchor="t"/>
          <a:lstStyle/>
          <a:p>
            <a:pPr indent="0" marL="0">
              <a:lnSpc>
                <a:spcPts val="1600"/>
              </a:lnSpc>
              <a:buNone/>
            </a:pPr>
            <a:r>
              <a:rPr lang="en-US" sz="1200" dirty="0">
                <a:solidFill>
                  <a:srgbClr val="6E4130"/>
                </a:solidFill>
                <a:latin typeface="Calibri" pitchFamily="34" charset="0"/>
                <a:ea typeface="Calibri" pitchFamily="34" charset="-122"/>
                <a:cs typeface="Calibri" pitchFamily="34" charset="-120"/>
              </a:rPr>
              <a:t>Las cuatro que sí se ven llevan tres meses de vida y van por debajo del 0,6%. Se dibujan en la misma escala que las demás láminas a propósito: así se ve que a esta edad ninguna cosecha ha mostrado todavía lo que va a ser. Las cosechas de 2023, que terminaron siendo las peores del periodo, al tercer mes iban en 0,7%.</a:t>
            </a:r>
            <a:endParaRPr lang="en-US" sz="1200" dirty="0"/>
          </a:p>
        </p:txBody>
      </p:sp>
      <p:sp>
        <p:nvSpPr>
          <p:cNvPr id="20" name="Text 14"/>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Misma escala que en las demás láminas del bloque: 0 a 36 meses en el eje horizontal, 0 a 16% en el vertical.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TODO JUNTO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52 de las 56 cosechas, en una sola vista</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Cada fila es un mes de desembolso; cada columna, un mes de vida. Cuanto más oscuro, más mora. Faltan las cuatro últimas cosechas de 2026: el archivo no trae su porcentaje calculado antes del corte de junio.</a:t>
            </a:r>
            <a:endParaRPr lang="en-US" sz="1150" dirty="0"/>
          </a:p>
        </p:txBody>
      </p:sp>
      <p:pic>
        <p:nvPicPr>
          <p:cNvPr id="5" name="Image 0" descr="/home/user/coco-dashboard/cosechas_districolmotos/junta/heatmap.png">    </p:cNvPr>
          <p:cNvPicPr>
            <a:picLocks noChangeAspect="1"/>
          </p:cNvPicPr>
          <p:nvPr/>
        </p:nvPicPr>
        <p:blipFill>
          <a:blip r:embed="rId1"/>
          <a:stretch>
            <a:fillRect/>
          </a:stretch>
        </p:blipFill>
        <p:spPr>
          <a:xfrm>
            <a:off x="566928" y="1874520"/>
            <a:ext cx="9098280" cy="3657600"/>
          </a:xfrm>
          <a:prstGeom prst="rect">
            <a:avLst/>
          </a:prstGeom>
        </p:spPr>
      </p:pic>
      <p:sp>
        <p:nvSpPr>
          <p:cNvPr id="6" name="Text 3"/>
          <p:cNvSpPr txBox="1"/>
          <p:nvPr/>
        </p:nvSpPr>
        <p:spPr>
          <a:xfrm>
            <a:off x="9893808" y="1920240"/>
            <a:ext cx="1728216" cy="292608"/>
          </a:xfrm>
          <a:prstGeom prst="rect">
            <a:avLst/>
          </a:prstGeom>
          <a:noFill/>
          <a:ln/>
        </p:spPr>
        <p:txBody>
          <a:bodyPr wrap="square" lIns="0" tIns="0" rIns="0" bIns="0" rtlCol="0" anchor="t"/>
          <a:lstStyle/>
          <a:p>
            <a:pPr indent="0" marL="0">
              <a:lnSpc>
                <a:spcPts val="1400"/>
              </a:lnSpc>
              <a:buNone/>
            </a:pPr>
            <a:r>
              <a:rPr lang="en-US" sz="1100" b="1" dirty="0">
                <a:solidFill>
                  <a:srgbClr val="18242F"/>
                </a:solidFill>
                <a:latin typeface="Calibri" pitchFamily="34" charset="0"/>
                <a:ea typeface="Calibri" pitchFamily="34" charset="-122"/>
                <a:cs typeface="Calibri" pitchFamily="34" charset="-120"/>
              </a:rPr>
              <a:t>Dos bandas oscuras</a:t>
            </a:r>
            <a:endParaRPr lang="en-US" sz="1100" dirty="0"/>
          </a:p>
        </p:txBody>
      </p:sp>
      <p:sp>
        <p:nvSpPr>
          <p:cNvPr id="7" name="Text 4"/>
          <p:cNvSpPr txBox="1"/>
          <p:nvPr/>
        </p:nvSpPr>
        <p:spPr>
          <a:xfrm>
            <a:off x="9893808" y="2231136"/>
            <a:ext cx="1728216" cy="749808"/>
          </a:xfrm>
          <a:prstGeom prst="rect">
            <a:avLst/>
          </a:prstGeom>
          <a:noFill/>
          <a:ln/>
        </p:spPr>
        <p:txBody>
          <a:bodyPr wrap="square" lIns="0" tIns="0" rIns="0" bIns="0" rtlCol="0" anchor="t"/>
          <a:lstStyle/>
          <a:p>
            <a:pPr indent="0" marL="0">
              <a:lnSpc>
                <a:spcPts val="1300"/>
              </a:lnSpc>
              <a:buNone/>
            </a:pPr>
            <a:r>
              <a:rPr lang="en-US" sz="980" dirty="0">
                <a:solidFill>
                  <a:srgbClr val="62717F"/>
                </a:solidFill>
                <a:latin typeface="Calibri" pitchFamily="34" charset="0"/>
                <a:ea typeface="Calibri" pitchFamily="34" charset="-122"/>
                <a:cs typeface="Calibri" pitchFamily="34" charset="-120"/>
              </a:rPr>
              <a:t>Las cosechas de 2022 y las de abril a septiembre de 2023.</a:t>
            </a:r>
            <a:endParaRPr lang="en-US" sz="980" dirty="0"/>
          </a:p>
        </p:txBody>
      </p:sp>
      <p:sp>
        <p:nvSpPr>
          <p:cNvPr id="8" name="Text 5"/>
          <p:cNvSpPr txBox="1"/>
          <p:nvPr/>
        </p:nvSpPr>
        <p:spPr>
          <a:xfrm>
            <a:off x="9893808" y="2962656"/>
            <a:ext cx="1728216" cy="292608"/>
          </a:xfrm>
          <a:prstGeom prst="rect">
            <a:avLst/>
          </a:prstGeom>
          <a:noFill/>
          <a:ln/>
        </p:spPr>
        <p:txBody>
          <a:bodyPr wrap="square" lIns="0" tIns="0" rIns="0" bIns="0" rtlCol="0" anchor="t"/>
          <a:lstStyle/>
          <a:p>
            <a:pPr indent="0" marL="0">
              <a:lnSpc>
                <a:spcPts val="1400"/>
              </a:lnSpc>
              <a:buNone/>
            </a:pPr>
            <a:r>
              <a:rPr lang="en-US" sz="1100" b="1" dirty="0">
                <a:solidFill>
                  <a:srgbClr val="18242F"/>
                </a:solidFill>
                <a:latin typeface="Calibri" pitchFamily="34" charset="0"/>
                <a:ea typeface="Calibri" pitchFamily="34" charset="-122"/>
                <a:cs typeface="Calibri" pitchFamily="34" charset="-120"/>
              </a:rPr>
              <a:t>El aclaramiento</a:t>
            </a:r>
            <a:endParaRPr lang="en-US" sz="1100" dirty="0"/>
          </a:p>
        </p:txBody>
      </p:sp>
      <p:sp>
        <p:nvSpPr>
          <p:cNvPr id="9" name="Text 6"/>
          <p:cNvSpPr txBox="1"/>
          <p:nvPr/>
        </p:nvSpPr>
        <p:spPr>
          <a:xfrm>
            <a:off x="9893808" y="3273552"/>
            <a:ext cx="1728216" cy="749808"/>
          </a:xfrm>
          <a:prstGeom prst="rect">
            <a:avLst/>
          </a:prstGeom>
          <a:noFill/>
          <a:ln/>
        </p:spPr>
        <p:txBody>
          <a:bodyPr wrap="square" lIns="0" tIns="0" rIns="0" bIns="0" rtlCol="0" anchor="t"/>
          <a:lstStyle/>
          <a:p>
            <a:pPr indent="0" marL="0">
              <a:lnSpc>
                <a:spcPts val="1300"/>
              </a:lnSpc>
              <a:buNone/>
            </a:pPr>
            <a:r>
              <a:rPr lang="en-US" sz="980" dirty="0">
                <a:solidFill>
                  <a:srgbClr val="62717F"/>
                </a:solidFill>
                <a:latin typeface="Calibri" pitchFamily="34" charset="0"/>
                <a:ea typeface="Calibri" pitchFamily="34" charset="-122"/>
                <a:cs typeface="Calibri" pitchFamily="34" charset="-120"/>
              </a:rPr>
              <a:t>De 2024 en adelante, sostenido. Es la corrección.</a:t>
            </a:r>
            <a:endParaRPr lang="en-US" sz="980" dirty="0"/>
          </a:p>
        </p:txBody>
      </p:sp>
      <p:sp>
        <p:nvSpPr>
          <p:cNvPr id="10" name="Text 7"/>
          <p:cNvSpPr txBox="1"/>
          <p:nvPr/>
        </p:nvSpPr>
        <p:spPr>
          <a:xfrm>
            <a:off x="9893808" y="4005072"/>
            <a:ext cx="1728216" cy="292608"/>
          </a:xfrm>
          <a:prstGeom prst="rect">
            <a:avLst/>
          </a:prstGeom>
          <a:noFill/>
          <a:ln/>
        </p:spPr>
        <p:txBody>
          <a:bodyPr wrap="square" lIns="0" tIns="0" rIns="0" bIns="0" rtlCol="0" anchor="t"/>
          <a:lstStyle/>
          <a:p>
            <a:pPr indent="0" marL="0">
              <a:lnSpc>
                <a:spcPts val="1400"/>
              </a:lnSpc>
              <a:buNone/>
            </a:pPr>
            <a:r>
              <a:rPr lang="en-US" sz="1100" b="1" dirty="0">
                <a:solidFill>
                  <a:srgbClr val="18242F"/>
                </a:solidFill>
                <a:latin typeface="Calibri" pitchFamily="34" charset="0"/>
                <a:ea typeface="Calibri" pitchFamily="34" charset="-122"/>
                <a:cs typeface="Calibri" pitchFamily="34" charset="-120"/>
              </a:rPr>
              <a:t>El blanco de abajo</a:t>
            </a:r>
            <a:endParaRPr lang="en-US" sz="1100" dirty="0"/>
          </a:p>
        </p:txBody>
      </p:sp>
      <p:sp>
        <p:nvSpPr>
          <p:cNvPr id="11" name="Text 8"/>
          <p:cNvSpPr txBox="1"/>
          <p:nvPr/>
        </p:nvSpPr>
        <p:spPr>
          <a:xfrm>
            <a:off x="9893808" y="4315968"/>
            <a:ext cx="1728216" cy="749808"/>
          </a:xfrm>
          <a:prstGeom prst="rect">
            <a:avLst/>
          </a:prstGeom>
          <a:noFill/>
          <a:ln/>
        </p:spPr>
        <p:txBody>
          <a:bodyPr wrap="square" lIns="0" tIns="0" rIns="0" bIns="0" rtlCol="0" anchor="t"/>
          <a:lstStyle/>
          <a:p>
            <a:pPr indent="0" marL="0">
              <a:lnSpc>
                <a:spcPts val="1300"/>
              </a:lnSpc>
              <a:buNone/>
            </a:pPr>
            <a:r>
              <a:rPr lang="en-US" sz="980" dirty="0">
                <a:solidFill>
                  <a:srgbClr val="62717F"/>
                </a:solidFill>
                <a:latin typeface="Calibri" pitchFamily="34" charset="0"/>
                <a:ea typeface="Calibri" pitchFamily="34" charset="-122"/>
                <a:cs typeface="Calibri" pitchFamily="34" charset="-120"/>
              </a:rPr>
              <a:t>Es futuro, no es cero.</a:t>
            </a:r>
            <a:endParaRPr lang="en-US" sz="980" dirty="0"/>
          </a:p>
        </p:txBody>
      </p:sp>
      <p:sp>
        <p:nvSpPr>
          <p:cNvPr id="12" name="Text 9"/>
          <p:cNvSpPr txBox="1"/>
          <p:nvPr/>
        </p:nvSpPr>
        <p:spPr>
          <a:xfrm>
            <a:off x="9893808" y="5047488"/>
            <a:ext cx="1728216" cy="292608"/>
          </a:xfrm>
          <a:prstGeom prst="rect">
            <a:avLst/>
          </a:prstGeom>
          <a:noFill/>
          <a:ln/>
        </p:spPr>
        <p:txBody>
          <a:bodyPr wrap="square" lIns="0" tIns="0" rIns="0" bIns="0" rtlCol="0" anchor="t"/>
          <a:lstStyle/>
          <a:p>
            <a:pPr indent="0" marL="0">
              <a:lnSpc>
                <a:spcPts val="1400"/>
              </a:lnSpc>
              <a:buNone/>
            </a:pPr>
            <a:r>
              <a:rPr lang="en-US" sz="1100" b="1" dirty="0">
                <a:solidFill>
                  <a:srgbClr val="18242F"/>
                </a:solidFill>
                <a:latin typeface="Calibri" pitchFamily="34" charset="0"/>
                <a:ea typeface="Calibri" pitchFamily="34" charset="-122"/>
                <a:cs typeface="Calibri" pitchFamily="34" charset="-120"/>
              </a:rPr>
              <a:t>El blanco de arriba</a:t>
            </a:r>
            <a:endParaRPr lang="en-US" sz="1100" dirty="0"/>
          </a:p>
        </p:txBody>
      </p:sp>
      <p:sp>
        <p:nvSpPr>
          <p:cNvPr id="13" name="Text 10"/>
          <p:cNvSpPr txBox="1"/>
          <p:nvPr/>
        </p:nvSpPr>
        <p:spPr>
          <a:xfrm>
            <a:off x="9893808" y="5358384"/>
            <a:ext cx="1728216" cy="749808"/>
          </a:xfrm>
          <a:prstGeom prst="rect">
            <a:avLst/>
          </a:prstGeom>
          <a:noFill/>
          <a:ln/>
        </p:spPr>
        <p:txBody>
          <a:bodyPr wrap="square" lIns="0" tIns="0" rIns="0" bIns="0" rtlCol="0" anchor="t"/>
          <a:lstStyle/>
          <a:p>
            <a:pPr indent="0" marL="0">
              <a:lnSpc>
                <a:spcPts val="1300"/>
              </a:lnSpc>
              <a:buNone/>
            </a:pPr>
            <a:r>
              <a:rPr lang="en-US" sz="980" dirty="0">
                <a:solidFill>
                  <a:srgbClr val="62717F"/>
                </a:solidFill>
                <a:latin typeface="Calibri" pitchFamily="34" charset="0"/>
                <a:ea typeface="Calibri" pitchFamily="34" charset="-122"/>
                <a:cs typeface="Calibri" pitchFamily="34" charset="-120"/>
              </a:rPr>
              <a:t>Tampoco: el archivo empieza a observar en ene-2023.</a:t>
            </a:r>
            <a:endParaRPr lang="en-US" sz="980" dirty="0"/>
          </a:p>
        </p:txBody>
      </p:sp>
      <p:sp>
        <p:nvSpPr>
          <p:cNvPr id="14" name="Text 11"/>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Escala común: 0% a 12% o más de la colocación en mora 30+. Observaciones hasta jun-2026.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COMPORTAMIENTO DE LA MORA</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A los 60 días de mora ya casi no hay vuelta atrás</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Hacia dónde se mueve el saldo de un mes al siguiente, según el balde de mora en que esté. Promedio de las transiciones de feb a jun de 2026, ponderado por saldo.</a:t>
            </a:r>
            <a:endParaRPr lang="en-US" sz="1150" dirty="0"/>
          </a:p>
        </p:txBody>
      </p:sp>
      <p:graphicFrame>
        <p:nvGraphicFramePr>
          <p:cNvPr id="5" name="Chart 0" descr=""/>
          <p:cNvGraphicFramePr/>
          <p:nvPr/>
        </p:nvGraphicFramePr>
        <p:xfrm>
          <a:off x="566928" y="1965960"/>
          <a:ext cx="694944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965960"/>
            <a:ext cx="3840480" cy="1481328"/>
          </a:xfrm>
          <a:prstGeom prst="roundRect">
            <a:avLst>
              <a:gd name="adj" fmla="val 3704"/>
            </a:avLst>
          </a:prstGeom>
          <a:solidFill>
            <a:srgbClr val="F2F5F8"/>
          </a:solidFill>
          <a:ln w="9525">
            <a:solidFill>
              <a:srgbClr val="DDE3EA"/>
            </a:solidFill>
            <a:prstDash val="solid"/>
          </a:ln>
        </p:spPr>
      </p:sp>
      <p:sp>
        <p:nvSpPr>
          <p:cNvPr id="7" name="Text 4"/>
          <p:cNvSpPr txBox="1"/>
          <p:nvPr/>
        </p:nvSpPr>
        <p:spPr>
          <a:xfrm>
            <a:off x="7991856" y="2130552"/>
            <a:ext cx="3474720" cy="566928"/>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8,8%</a:t>
            </a:r>
            <a:endParaRPr lang="en-US" sz="3200" dirty="0"/>
          </a:p>
        </p:txBody>
      </p:sp>
      <p:sp>
        <p:nvSpPr>
          <p:cNvPr id="8" name="Text 5"/>
          <p:cNvSpPr txBox="1"/>
          <p:nvPr/>
        </p:nvSpPr>
        <p:spPr>
          <a:xfrm>
            <a:off x="7991856" y="2734056"/>
            <a:ext cx="347472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del saldo al día cae en mora cada mes</a:t>
            </a:r>
            <a:endParaRPr lang="en-US" sz="1150" dirty="0"/>
          </a:p>
        </p:txBody>
      </p:sp>
      <p:sp>
        <p:nvSpPr>
          <p:cNvPr id="9" name="Text 6"/>
          <p:cNvSpPr txBox="1"/>
          <p:nvPr/>
        </p:nvSpPr>
        <p:spPr>
          <a:xfrm>
            <a:off x="7991856" y="2999232"/>
            <a:ext cx="347472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Es el caudal de entrada. Sobre COP 3.094 millones al día, son unos COP 272 millones al mes.</a:t>
            </a:r>
            <a:endParaRPr lang="en-US" sz="980" dirty="0"/>
          </a:p>
        </p:txBody>
      </p:sp>
      <p:sp>
        <p:nvSpPr>
          <p:cNvPr id="10" name="Shape 7"/>
          <p:cNvSpPr/>
          <p:nvPr/>
        </p:nvSpPr>
        <p:spPr>
          <a:xfrm>
            <a:off x="7772400" y="3630168"/>
            <a:ext cx="3840480" cy="1719072"/>
          </a:xfrm>
          <a:prstGeom prst="roundRect">
            <a:avLst>
              <a:gd name="adj" fmla="val 3191"/>
            </a:avLst>
          </a:prstGeom>
          <a:solidFill>
            <a:srgbClr val="F2F5F8"/>
          </a:solidFill>
          <a:ln w="9525">
            <a:solidFill>
              <a:srgbClr val="DDE3EA"/>
            </a:solidFill>
            <a:prstDash val="solid"/>
          </a:ln>
        </p:spPr>
      </p:sp>
      <p:sp>
        <p:nvSpPr>
          <p:cNvPr id="11" name="Text 8"/>
          <p:cNvSpPr txBox="1"/>
          <p:nvPr/>
        </p:nvSpPr>
        <p:spPr>
          <a:xfrm>
            <a:off x="7991856" y="3813048"/>
            <a:ext cx="3474720" cy="256032"/>
          </a:xfrm>
          <a:prstGeom prst="rect">
            <a:avLst/>
          </a:prstGeom>
          <a:noFill/>
          <a:ln/>
        </p:spPr>
        <p:txBody>
          <a:bodyPr wrap="square" lIns="0" tIns="0" rIns="0" bIns="0" rtlCol="0" anchor="ctr"/>
          <a:lstStyle/>
          <a:p>
            <a:pPr indent="0" marL="0">
              <a:buNone/>
            </a:pPr>
            <a:r>
              <a:rPr lang="en-US" sz="1250" b="1" dirty="0">
                <a:solidFill>
                  <a:srgbClr val="18242F"/>
                </a:solidFill>
                <a:latin typeface="Calibri" pitchFamily="34" charset="0"/>
                <a:ea typeface="Calibri" pitchFamily="34" charset="-122"/>
                <a:cs typeface="Calibri" pitchFamily="34" charset="-120"/>
              </a:rPr>
              <a:t>Dónde está la palanca</a:t>
            </a:r>
            <a:endParaRPr lang="en-US" sz="1250" dirty="0"/>
          </a:p>
        </p:txBody>
      </p:sp>
      <p:sp>
        <p:nvSpPr>
          <p:cNvPr id="12" name="Text 9"/>
          <p:cNvSpPr txBox="1"/>
          <p:nvPr/>
        </p:nvSpPr>
        <p:spPr>
          <a:xfrm>
            <a:off x="7991856" y="4087368"/>
            <a:ext cx="3429000" cy="1325880"/>
          </a:xfrm>
          <a:prstGeom prst="rect">
            <a:avLst/>
          </a:prstGeom>
          <a:noFill/>
          <a:ln/>
        </p:spPr>
        <p:txBody>
          <a:bodyPr wrap="square" lIns="0" tIns="0" rIns="0" bIns="0" rtlCol="0" anchor="t"/>
          <a:lstStyle/>
          <a:p>
            <a:pPr indent="0" marL="0">
              <a:lnSpc>
                <a:spcPts val="1400"/>
              </a:lnSpc>
              <a:buNone/>
            </a:pPr>
            <a:r>
              <a:rPr lang="en-US" sz="1050" dirty="0">
                <a:solidFill>
                  <a:srgbClr val="62717F"/>
                </a:solidFill>
                <a:latin typeface="Calibri" pitchFamily="34" charset="0"/>
                <a:ea typeface="Calibri" pitchFamily="34" charset="-122"/>
                <a:cs typeface="Calibri" pitchFamily="34" charset="-120"/>
              </a:rPr>
              <a:t>Se pone al día el 41% del balde de 1 a 30 días, el 9% del de 31 a 60 y el 9% del de 61 a 90. Empeora el 20%, el 31% y el 53%. Pasados los 90 días, el 70% se queda donde está y solo el 1% se recupera.</a:t>
            </a:r>
            <a:endParaRPr lang="en-US" sz="1050" dirty="0"/>
          </a:p>
          <a:p>
            <a:pPr indent="0" marL="0">
              <a:lnSpc>
                <a:spcPts val="1400"/>
              </a:lnSpc>
              <a:buNone/>
            </a:pPr>
            <a:endParaRPr lang="en-US" sz="1050" dirty="0"/>
          </a:p>
          <a:p>
            <a:pPr indent="0" marL="0">
              <a:lnSpc>
                <a:spcPts val="1400"/>
              </a:lnSpc>
              <a:buNone/>
            </a:pPr>
            <a:r>
              <a:rPr lang="en-US" sz="1050" dirty="0">
                <a:solidFill>
                  <a:srgbClr val="62717F"/>
                </a:solidFill>
                <a:latin typeface="Calibri" pitchFamily="34" charset="0"/>
                <a:ea typeface="Calibri" pitchFamily="34" charset="-122"/>
                <a:cs typeface="Calibri" pitchFamily="34" charset="-120"/>
              </a:rPr>
              <a:t>La cobranza que sirve es la de los primeros treinta días. Después de los sesenta, lo que se hace es recuperar garantía, no cartera.</a:t>
            </a:r>
            <a:endParaRPr lang="en-US" sz="1050" dirty="0"/>
          </a:p>
        </p:txBody>
      </p:sp>
      <p:sp>
        <p:nvSpPr>
          <p:cNvPr id="13" name="Text 10"/>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Se excluye la transición de junio a julio de 2026 porque el castigo la distorsiona. "Empeora" incluye el saldo que pasa a un balde de mayor altura. No se grafica el balde de 91 a 180 días para mantener el foco donde todavía hay margen de acción; su dato está en el texto de la derecha.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LA CARTERA HOY</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Lo vencido son COP 304 M; la exposición real es 2,4 veces mayor</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Cartera viva a 31 de agosto de 2026: 1.213 créditos, COP 4.429 millones.</a:t>
            </a:r>
            <a:endParaRPr lang="en-US" sz="1150" dirty="0"/>
          </a:p>
        </p:txBody>
      </p:sp>
      <p:sp>
        <p:nvSpPr>
          <p:cNvPr id="5" name="Shape 3"/>
          <p:cNvSpPr/>
          <p:nvPr/>
        </p:nvSpPr>
        <p:spPr>
          <a:xfrm>
            <a:off x="566928" y="1828800"/>
            <a:ext cx="3520440" cy="1481328"/>
          </a:xfrm>
          <a:prstGeom prst="roundRect">
            <a:avLst>
              <a:gd name="adj" fmla="val 3704"/>
            </a:avLst>
          </a:prstGeom>
          <a:solidFill>
            <a:srgbClr val="F2F5F8"/>
          </a:solidFill>
          <a:ln w="9525">
            <a:solidFill>
              <a:srgbClr val="DDE3EA"/>
            </a:solidFill>
            <a:prstDash val="solid"/>
          </a:ln>
        </p:spPr>
      </p:sp>
      <p:sp>
        <p:nvSpPr>
          <p:cNvPr id="6" name="Text 4"/>
          <p:cNvSpPr txBox="1"/>
          <p:nvPr/>
        </p:nvSpPr>
        <p:spPr>
          <a:xfrm>
            <a:off x="786384" y="1993392"/>
            <a:ext cx="3154680" cy="566928"/>
          </a:xfrm>
          <a:prstGeom prst="rect">
            <a:avLst/>
          </a:prstGeom>
          <a:noFill/>
          <a:ln/>
        </p:spPr>
        <p:txBody>
          <a:bodyPr wrap="square" lIns="0" tIns="0" rIns="0" bIns="0" rtlCol="0" anchor="ctr"/>
          <a:lstStyle/>
          <a:p>
            <a:pPr indent="0" marL="0">
              <a:buNone/>
            </a:pPr>
            <a:r>
              <a:rPr lang="en-US" sz="3200" b="1" dirty="0">
                <a:solidFill>
                  <a:srgbClr val="18242F"/>
                </a:solidFill>
                <a:latin typeface="Cambria" pitchFamily="34" charset="0"/>
                <a:ea typeface="Cambria" pitchFamily="34" charset="-122"/>
                <a:cs typeface="Cambria" pitchFamily="34" charset="-120"/>
              </a:rPr>
              <a:t>COP 304 M</a:t>
            </a:r>
            <a:endParaRPr lang="en-US" sz="3200" dirty="0"/>
          </a:p>
        </p:txBody>
      </p:sp>
      <p:sp>
        <p:nvSpPr>
          <p:cNvPr id="7" name="Text 5"/>
          <p:cNvSpPr txBox="1"/>
          <p:nvPr/>
        </p:nvSpPr>
        <p:spPr>
          <a:xfrm>
            <a:off x="78638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Capital vencido</a:t>
            </a:r>
            <a:endParaRPr lang="en-US" sz="1150" dirty="0"/>
          </a:p>
        </p:txBody>
      </p:sp>
      <p:sp>
        <p:nvSpPr>
          <p:cNvPr id="8" name="Text 6"/>
          <p:cNvSpPr txBox="1"/>
          <p:nvPr/>
        </p:nvSpPr>
        <p:spPr>
          <a:xfrm>
            <a:off x="78638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Es el numerador del indicador de cosechas: solo las cuotas ya vencidas y no pagadas.</a:t>
            </a:r>
            <a:endParaRPr lang="en-US" sz="980" dirty="0"/>
          </a:p>
        </p:txBody>
      </p:sp>
      <p:sp>
        <p:nvSpPr>
          <p:cNvPr id="9" name="Shape 7"/>
          <p:cNvSpPr/>
          <p:nvPr/>
        </p:nvSpPr>
        <p:spPr>
          <a:xfrm>
            <a:off x="4270248" y="1828800"/>
            <a:ext cx="3520440" cy="1481328"/>
          </a:xfrm>
          <a:prstGeom prst="roundRect">
            <a:avLst>
              <a:gd name="adj" fmla="val 3704"/>
            </a:avLst>
          </a:prstGeom>
          <a:solidFill>
            <a:srgbClr val="F2F5F8"/>
          </a:solidFill>
          <a:ln w="9525">
            <a:solidFill>
              <a:srgbClr val="DDE3EA"/>
            </a:solidFill>
            <a:prstDash val="solid"/>
          </a:ln>
        </p:spPr>
      </p:sp>
      <p:sp>
        <p:nvSpPr>
          <p:cNvPr id="10" name="Text 8"/>
          <p:cNvSpPr txBox="1"/>
          <p:nvPr/>
        </p:nvSpPr>
        <p:spPr>
          <a:xfrm>
            <a:off x="4489704" y="1993392"/>
            <a:ext cx="3154680" cy="566928"/>
          </a:xfrm>
          <a:prstGeom prst="rect">
            <a:avLst/>
          </a:prstGeom>
          <a:noFill/>
          <a:ln/>
        </p:spPr>
        <p:txBody>
          <a:bodyPr wrap="square" lIns="0" tIns="0" rIns="0" bIns="0" rtlCol="0" anchor="ctr"/>
          <a:lstStyle/>
          <a:p>
            <a:pPr indent="0" marL="0">
              <a:buNone/>
            </a:pPr>
            <a:r>
              <a:rPr lang="en-US" sz="3200" b="1" dirty="0">
                <a:solidFill>
                  <a:srgbClr val="C4342F"/>
                </a:solidFill>
                <a:latin typeface="Cambria" pitchFamily="34" charset="0"/>
                <a:ea typeface="Cambria" pitchFamily="34" charset="-122"/>
                <a:cs typeface="Cambria" pitchFamily="34" charset="-120"/>
              </a:rPr>
              <a:t>COP 728 M</a:t>
            </a:r>
            <a:endParaRPr lang="en-US" sz="3200" dirty="0"/>
          </a:p>
        </p:txBody>
      </p:sp>
      <p:sp>
        <p:nvSpPr>
          <p:cNvPr id="11" name="Text 9"/>
          <p:cNvSpPr txBox="1"/>
          <p:nvPr/>
        </p:nvSpPr>
        <p:spPr>
          <a:xfrm>
            <a:off x="448970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Exposición total</a:t>
            </a:r>
            <a:endParaRPr lang="en-US" sz="1150" dirty="0"/>
          </a:p>
        </p:txBody>
      </p:sp>
      <p:sp>
        <p:nvSpPr>
          <p:cNvPr id="12" name="Text 10"/>
          <p:cNvSpPr txBox="1"/>
          <p:nvPr/>
        </p:nvSpPr>
        <p:spPr>
          <a:xfrm>
            <a:off x="448970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El saldo completo de esos mismos 231 créditos con mora de más de 30 días.</a:t>
            </a:r>
            <a:endParaRPr lang="en-US" sz="980" dirty="0"/>
          </a:p>
        </p:txBody>
      </p:sp>
      <p:sp>
        <p:nvSpPr>
          <p:cNvPr id="13" name="Shape 11"/>
          <p:cNvSpPr/>
          <p:nvPr/>
        </p:nvSpPr>
        <p:spPr>
          <a:xfrm>
            <a:off x="7973568" y="1828800"/>
            <a:ext cx="3520440" cy="1481328"/>
          </a:xfrm>
          <a:prstGeom prst="roundRect">
            <a:avLst>
              <a:gd name="adj" fmla="val 3704"/>
            </a:avLst>
          </a:prstGeom>
          <a:solidFill>
            <a:srgbClr val="F2F5F8"/>
          </a:solidFill>
          <a:ln w="9525">
            <a:solidFill>
              <a:srgbClr val="DDE3EA"/>
            </a:solidFill>
            <a:prstDash val="solid"/>
          </a:ln>
        </p:spPr>
      </p:sp>
      <p:sp>
        <p:nvSpPr>
          <p:cNvPr id="14" name="Text 12"/>
          <p:cNvSpPr txBox="1"/>
          <p:nvPr/>
        </p:nvSpPr>
        <p:spPr>
          <a:xfrm>
            <a:off x="8193024" y="1993392"/>
            <a:ext cx="3154680" cy="566928"/>
          </a:xfrm>
          <a:prstGeom prst="rect">
            <a:avLst/>
          </a:prstGeom>
          <a:noFill/>
          <a:ln/>
        </p:spPr>
        <p:txBody>
          <a:bodyPr wrap="square" lIns="0" tIns="0" rIns="0" bIns="0" rtlCol="0" anchor="ctr"/>
          <a:lstStyle/>
          <a:p>
            <a:pPr indent="0" marL="0">
              <a:buNone/>
            </a:pPr>
            <a:r>
              <a:rPr lang="en-US" sz="3200" b="1" dirty="0">
                <a:solidFill>
                  <a:srgbClr val="EB6834"/>
                </a:solidFill>
                <a:latin typeface="Cambria" pitchFamily="34" charset="0"/>
                <a:ea typeface="Cambria" pitchFamily="34" charset="-122"/>
                <a:cs typeface="Cambria" pitchFamily="34" charset="-120"/>
              </a:rPr>
              <a:t>16,4%</a:t>
            </a:r>
            <a:endParaRPr lang="en-US" sz="3200" dirty="0"/>
          </a:p>
        </p:txBody>
      </p:sp>
      <p:sp>
        <p:nvSpPr>
          <p:cNvPr id="15" name="Text 13"/>
          <p:cNvSpPr txBox="1"/>
          <p:nvPr/>
        </p:nvSpPr>
        <p:spPr>
          <a:xfrm>
            <a:off x="8193024" y="259689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De la cartera en mora 30+</a:t>
            </a:r>
            <a:endParaRPr lang="en-US" sz="1150" dirty="0"/>
          </a:p>
        </p:txBody>
      </p:sp>
      <p:sp>
        <p:nvSpPr>
          <p:cNvPr id="16" name="Text 14"/>
          <p:cNvSpPr txBox="1"/>
          <p:nvPr/>
        </p:nvSpPr>
        <p:spPr>
          <a:xfrm>
            <a:off x="8193024" y="286207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Medido como exposición sobre saldo vigente. Es el número que mira el fondeador.</a:t>
            </a:r>
            <a:endParaRPr lang="en-US" sz="980" dirty="0"/>
          </a:p>
        </p:txBody>
      </p:sp>
      <p:graphicFrame>
        <p:nvGraphicFramePr>
          <p:cNvPr id="17" name="Chart 0" descr=""/>
          <p:cNvGraphicFramePr/>
          <p:nvPr/>
        </p:nvGraphicFramePr>
        <p:xfrm>
          <a:off x="566928" y="3794760"/>
          <a:ext cx="6766560" cy="2148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66928" y="3584448"/>
            <a:ext cx="5486400" cy="219456"/>
          </a:xfrm>
          <a:prstGeom prst="rect">
            <a:avLst/>
          </a:prstGeom>
          <a:noFill/>
          <a:ln/>
        </p:spPr>
        <p:txBody>
          <a:bodyPr wrap="square" lIns="0" tIns="0" rIns="0" bIns="0" rtlCol="0" anchor="ctr"/>
          <a:lstStyle/>
          <a:p>
            <a:pPr indent="0" marL="0">
              <a:buNone/>
            </a:pPr>
            <a:r>
              <a:rPr lang="en-US" sz="1050" b="1" dirty="0">
                <a:solidFill>
                  <a:srgbClr val="18242F"/>
                </a:solidFill>
                <a:latin typeface="Calibri" pitchFamily="34" charset="0"/>
                <a:ea typeface="Calibri" pitchFamily="34" charset="-122"/>
                <a:cs typeface="Calibri" pitchFamily="34" charset="-120"/>
              </a:rPr>
              <a:t>Saldo por altura de mora, en millones de COP</a:t>
            </a:r>
            <a:endParaRPr lang="en-US" sz="1050" dirty="0"/>
          </a:p>
        </p:txBody>
      </p:sp>
      <p:sp>
        <p:nvSpPr>
          <p:cNvPr id="19" name="Text 16"/>
          <p:cNvSpPr txBox="1"/>
          <p:nvPr/>
        </p:nvSpPr>
        <p:spPr>
          <a:xfrm>
            <a:off x="7635240" y="3584448"/>
            <a:ext cx="4023360" cy="237744"/>
          </a:xfrm>
          <a:prstGeom prst="rect">
            <a:avLst/>
          </a:prstGeom>
          <a:noFill/>
          <a:ln/>
        </p:spPr>
        <p:txBody>
          <a:bodyPr wrap="square" lIns="0" tIns="0" rIns="0" bIns="0" rtlCol="0" anchor="ctr"/>
          <a:lstStyle/>
          <a:p>
            <a:pPr indent="0" marL="0">
              <a:buNone/>
            </a:pPr>
            <a:r>
              <a:rPr lang="en-US" sz="1250" b="1" dirty="0">
                <a:solidFill>
                  <a:srgbClr val="18242F"/>
                </a:solidFill>
                <a:latin typeface="Calibri" pitchFamily="34" charset="0"/>
                <a:ea typeface="Calibri" pitchFamily="34" charset="-122"/>
                <a:cs typeface="Calibri" pitchFamily="34" charset="-120"/>
              </a:rPr>
              <a:t>Lo que hay que tener claro</a:t>
            </a:r>
            <a:endParaRPr lang="en-US" sz="1250" dirty="0"/>
          </a:p>
        </p:txBody>
      </p:sp>
      <p:sp>
        <p:nvSpPr>
          <p:cNvPr id="20" name="Text 17"/>
          <p:cNvSpPr txBox="1"/>
          <p:nvPr/>
        </p:nvSpPr>
        <p:spPr>
          <a:xfrm>
            <a:off x="7635240" y="3877056"/>
            <a:ext cx="4023360" cy="219456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Las dos cifras son correctas y miden cosas distintas. El indicador de cosechas (COP 304 millones) sirve para comparar cosechas entre sí, porque solo cuenta lo vencido. La exposición (COP 728 millones) es lo que de verdad está en riesgo si esos créditos no pagan.</a:t>
            </a:r>
            <a:endParaRPr lang="en-US" sz="1100" dirty="0"/>
          </a:p>
          <a:p>
            <a:pPr indent="0" marL="0">
              <a:lnSpc>
                <a:spcPts val="1500"/>
              </a:lnSpc>
              <a:buNone/>
            </a:pPr>
            <a:endParaRPr lang="en-US" sz="1100" dirty="0"/>
          </a:p>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Hay COP 607 millones más en el balde de 1 a 30 días, que todavía no cuenta como mora 30+ y del que un 20% rueda hacia adelante cada mes.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DÓNDE SE ORIGINA EL PROBLEMA</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Al mes 6, el peor punto pierde el doble que el mejor</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Mora 30+ sobre el capital originado, midiendo todas las cosechas a la misma edad: seis meses de vida. Cosechas de sep-2025 a feb-2026.</a:t>
            </a:r>
            <a:endParaRPr lang="en-US" sz="1150" dirty="0"/>
          </a:p>
        </p:txBody>
      </p:sp>
      <p:graphicFrame>
        <p:nvGraphicFramePr>
          <p:cNvPr id="5" name="Chart 0" descr=""/>
          <p:cNvGraphicFramePr/>
          <p:nvPr/>
        </p:nvGraphicFramePr>
        <p:xfrm>
          <a:off x="566928" y="1938528"/>
          <a:ext cx="7223760" cy="3474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001000" y="1938528"/>
            <a:ext cx="3657600" cy="256032"/>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No es la plaza, es la operación</a:t>
            </a:r>
            <a:endParaRPr lang="en-US" sz="1300" dirty="0"/>
          </a:p>
        </p:txBody>
      </p:sp>
      <p:sp>
        <p:nvSpPr>
          <p:cNvPr id="7" name="Text 4"/>
          <p:cNvSpPr txBox="1"/>
          <p:nvPr/>
        </p:nvSpPr>
        <p:spPr>
          <a:xfrm>
            <a:off x="8001000" y="2231136"/>
            <a:ext cx="3657600" cy="132588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En Puerto Berrío operan tres líneas distintas y rinden distinto entre sí: Suzuki va en 5,8%, Hero en 8,1% y AKT en 12,0%, con la misma ciudad y la misma clientela. La diferencia está en cómo origina cada punto, no en el mercado que atiende.</a:t>
            </a:r>
            <a:endParaRPr lang="en-US" sz="1100" dirty="0"/>
          </a:p>
        </p:txBody>
      </p:sp>
      <p:sp>
        <p:nvSpPr>
          <p:cNvPr id="8" name="Shape 5"/>
          <p:cNvSpPr/>
          <p:nvPr/>
        </p:nvSpPr>
        <p:spPr>
          <a:xfrm>
            <a:off x="8001000" y="3630168"/>
            <a:ext cx="3657600" cy="2029968"/>
          </a:xfrm>
          <a:prstGeom prst="roundRect">
            <a:avLst>
              <a:gd name="adj" fmla="val 2703"/>
            </a:avLst>
          </a:prstGeom>
          <a:solidFill>
            <a:srgbClr val="FBF2EC"/>
          </a:solidFill>
          <a:ln w="9525">
            <a:solidFill>
              <a:srgbClr val="FBF2EC"/>
            </a:solidFill>
            <a:prstDash val="solid"/>
          </a:ln>
        </p:spPr>
      </p:sp>
      <p:sp>
        <p:nvSpPr>
          <p:cNvPr id="9" name="Text 6"/>
          <p:cNvSpPr txBox="1"/>
          <p:nvPr/>
        </p:nvSpPr>
        <p:spPr>
          <a:xfrm>
            <a:off x="8220456" y="3794760"/>
            <a:ext cx="3291840" cy="457200"/>
          </a:xfrm>
          <a:prstGeom prst="rect">
            <a:avLst/>
          </a:prstGeom>
          <a:noFill/>
          <a:ln/>
        </p:spPr>
        <p:txBody>
          <a:bodyPr wrap="square" lIns="0" tIns="0" rIns="0" bIns="0" rtlCol="0" anchor="ctr"/>
          <a:lstStyle/>
          <a:p>
            <a:pPr indent="0" marL="0">
              <a:buNone/>
            </a:pPr>
            <a:r>
              <a:rPr lang="en-US" sz="2400" b="1" dirty="0">
                <a:solidFill>
                  <a:srgbClr val="9A4520"/>
                </a:solidFill>
                <a:latin typeface="Cambria" pitchFamily="34" charset="0"/>
                <a:ea typeface="Cambria" pitchFamily="34" charset="-122"/>
                <a:cs typeface="Cambria" pitchFamily="34" charset="-120"/>
              </a:rPr>
              <a:t>COP 71 M al año</a:t>
            </a:r>
            <a:endParaRPr lang="en-US" sz="2400" dirty="0"/>
          </a:p>
        </p:txBody>
      </p:sp>
      <p:sp>
        <p:nvSpPr>
          <p:cNvPr id="10" name="Text 7"/>
          <p:cNvSpPr txBox="1"/>
          <p:nvPr/>
        </p:nvSpPr>
        <p:spPr>
          <a:xfrm>
            <a:off x="8220456" y="4279392"/>
            <a:ext cx="3246120" cy="640080"/>
          </a:xfrm>
          <a:prstGeom prst="rect">
            <a:avLst/>
          </a:prstGeom>
          <a:noFill/>
          <a:ln/>
        </p:spPr>
        <p:txBody>
          <a:bodyPr wrap="square" lIns="0" tIns="0" rIns="0" bIns="0" rtlCol="0" anchor="t"/>
          <a:lstStyle/>
          <a:p>
            <a:pPr indent="0" marL="0">
              <a:lnSpc>
                <a:spcPts val="1500"/>
              </a:lnSpc>
              <a:buNone/>
            </a:pPr>
            <a:r>
              <a:rPr lang="en-US" sz="1100" dirty="0">
                <a:solidFill>
                  <a:srgbClr val="6E4130"/>
                </a:solidFill>
                <a:latin typeface="Calibri" pitchFamily="34" charset="0"/>
                <a:ea typeface="Calibri" pitchFamily="34" charset="-122"/>
                <a:cs typeface="Calibri" pitchFamily="34" charset="-120"/>
              </a:rPr>
              <a:t>menos en mora si Cartagena-Suzuki y Puerto Berrío AKT rindieran como el promedio de los demás</a:t>
            </a:r>
            <a:endParaRPr lang="en-US" sz="1100" dirty="0"/>
          </a:p>
        </p:txBody>
      </p:sp>
      <p:sp>
        <p:nvSpPr>
          <p:cNvPr id="11" name="Text 8"/>
          <p:cNvSpPr txBox="1"/>
          <p:nvPr/>
        </p:nvSpPr>
        <p:spPr>
          <a:xfrm>
            <a:off x="8220456" y="4919472"/>
            <a:ext cx="3246120" cy="713232"/>
          </a:xfrm>
          <a:prstGeom prst="rect">
            <a:avLst/>
          </a:prstGeom>
          <a:noFill/>
          <a:ln/>
        </p:spPr>
        <p:txBody>
          <a:bodyPr wrap="square" lIns="0" tIns="0" rIns="0" bIns="0" rtlCol="0" anchor="t"/>
          <a:lstStyle/>
          <a:p>
            <a:pPr indent="0" marL="0">
              <a:lnSpc>
                <a:spcPts val="1200"/>
              </a:lnSpc>
              <a:buNone/>
            </a:pPr>
            <a:r>
              <a:rPr lang="en-US" sz="950" dirty="0">
                <a:solidFill>
                  <a:srgbClr val="8A6552"/>
                </a:solidFill>
                <a:latin typeface="Calibri" pitchFamily="34" charset="0"/>
                <a:ea typeface="Calibri" pitchFamily="34" charset="-122"/>
                <a:cs typeface="Calibri" pitchFamily="34" charset="-120"/>
              </a:rPr>
              <a:t>Esos dos puntos ponen el 33% del capital y el 42% de la mora. La brecha son COP 22 millones sobre las cinco cosechas medidas; anualizada al ritmo de colocación de 2026, COP 71 millones.</a:t>
            </a:r>
            <a:endParaRPr lang="en-US" sz="950" dirty="0"/>
          </a:p>
        </p:txBody>
      </p:sp>
      <p:sp>
        <p:nvSpPr>
          <p:cNvPr id="12" name="Text 9"/>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Se excluye Administración por tener menos de 20 créditos. Denominador: capital inicial de los créditos vigentes, que a los 6 meses cubre el 81% de lo colocado.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COBRANZA</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La décima parte de la cartera tiene tres cuartas partes de la mora</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Cartera viva a ago-2026, ordenada por saldo en mora de cada crédito.</a:t>
            </a:r>
            <a:endParaRPr lang="en-US" sz="1150" dirty="0"/>
          </a:p>
        </p:txBody>
      </p:sp>
      <p:sp>
        <p:nvSpPr>
          <p:cNvPr id="5" name="Text 3"/>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ICV = mora 30+ sobre saldo vigente. No es comparable con el indicador de cosechas, que divide por la colocación original.</a:t>
            </a:r>
            <a:endParaRPr lang="en-US" sz="900" dirty="0"/>
          </a:p>
        </p:txBody>
      </p:sp>
      <p:sp>
        <p:nvSpPr>
          <p:cNvPr id="6" name="Shape 4"/>
          <p:cNvSpPr/>
          <p:nvPr/>
        </p:nvSpPr>
        <p:spPr>
          <a:xfrm>
            <a:off x="566928" y="1783080"/>
            <a:ext cx="3520440" cy="1481328"/>
          </a:xfrm>
          <a:prstGeom prst="roundRect">
            <a:avLst>
              <a:gd name="adj" fmla="val 3704"/>
            </a:avLst>
          </a:prstGeom>
          <a:solidFill>
            <a:srgbClr val="F2F5F8"/>
          </a:solidFill>
          <a:ln w="9525">
            <a:solidFill>
              <a:srgbClr val="DDE3EA"/>
            </a:solidFill>
            <a:prstDash val="solid"/>
          </a:ln>
        </p:spPr>
      </p:sp>
      <p:sp>
        <p:nvSpPr>
          <p:cNvPr id="7" name="Text 5"/>
          <p:cNvSpPr txBox="1"/>
          <p:nvPr/>
        </p:nvSpPr>
        <p:spPr>
          <a:xfrm>
            <a:off x="786384" y="1947672"/>
            <a:ext cx="3154680" cy="566928"/>
          </a:xfrm>
          <a:prstGeom prst="rect">
            <a:avLst/>
          </a:prstGeom>
          <a:noFill/>
          <a:ln/>
        </p:spPr>
        <p:txBody>
          <a:bodyPr wrap="square" lIns="0" tIns="0" rIns="0" bIns="0" rtlCol="0" anchor="ctr"/>
          <a:lstStyle/>
          <a:p>
            <a:pPr indent="0" marL="0">
              <a:buNone/>
            </a:pPr>
            <a:r>
              <a:rPr lang="en-US" sz="3200" b="1" dirty="0">
                <a:solidFill>
                  <a:srgbClr val="C4342F"/>
                </a:solidFill>
                <a:latin typeface="Cambria" pitchFamily="34" charset="0"/>
                <a:ea typeface="Cambria" pitchFamily="34" charset="-122"/>
                <a:cs typeface="Cambria" pitchFamily="34" charset="-120"/>
              </a:rPr>
              <a:t>122 créditos</a:t>
            </a:r>
            <a:endParaRPr lang="en-US" sz="3200" dirty="0"/>
          </a:p>
        </p:txBody>
      </p:sp>
      <p:sp>
        <p:nvSpPr>
          <p:cNvPr id="8" name="Text 6"/>
          <p:cNvSpPr txBox="1"/>
          <p:nvPr/>
        </p:nvSpPr>
        <p:spPr>
          <a:xfrm>
            <a:off x="786384" y="255117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concentran el 74,4% de la mora</a:t>
            </a:r>
            <a:endParaRPr lang="en-US" sz="1150" dirty="0"/>
          </a:p>
        </p:txBody>
      </p:sp>
      <p:sp>
        <p:nvSpPr>
          <p:cNvPr id="9" name="Text 7"/>
          <p:cNvSpPr txBox="1"/>
          <p:nvPr/>
        </p:nvSpPr>
        <p:spPr>
          <a:xfrm>
            <a:off x="786384" y="281635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Son el 10% de la cartera y suman COP 541 millones de exposición.</a:t>
            </a:r>
            <a:endParaRPr lang="en-US" sz="980" dirty="0"/>
          </a:p>
        </p:txBody>
      </p:sp>
      <p:sp>
        <p:nvSpPr>
          <p:cNvPr id="10" name="Shape 8"/>
          <p:cNvSpPr/>
          <p:nvPr/>
        </p:nvSpPr>
        <p:spPr>
          <a:xfrm>
            <a:off x="4270248" y="1783080"/>
            <a:ext cx="3520440" cy="1481328"/>
          </a:xfrm>
          <a:prstGeom prst="roundRect">
            <a:avLst>
              <a:gd name="adj" fmla="val 3704"/>
            </a:avLst>
          </a:prstGeom>
          <a:solidFill>
            <a:srgbClr val="F2F5F8"/>
          </a:solidFill>
          <a:ln w="9525">
            <a:solidFill>
              <a:srgbClr val="DDE3EA"/>
            </a:solidFill>
            <a:prstDash val="solid"/>
          </a:ln>
        </p:spPr>
      </p:sp>
      <p:sp>
        <p:nvSpPr>
          <p:cNvPr id="11" name="Text 9"/>
          <p:cNvSpPr txBox="1"/>
          <p:nvPr/>
        </p:nvSpPr>
        <p:spPr>
          <a:xfrm>
            <a:off x="4489704" y="1947672"/>
            <a:ext cx="3154680" cy="566928"/>
          </a:xfrm>
          <a:prstGeom prst="rect">
            <a:avLst/>
          </a:prstGeom>
          <a:noFill/>
          <a:ln/>
        </p:spPr>
        <p:txBody>
          <a:bodyPr wrap="square" lIns="0" tIns="0" rIns="0" bIns="0" rtlCol="0" anchor="ctr"/>
          <a:lstStyle/>
          <a:p>
            <a:pPr indent="0" marL="0">
              <a:buNone/>
            </a:pPr>
            <a:r>
              <a:rPr lang="en-US" sz="3200" b="1" dirty="0">
                <a:solidFill>
                  <a:srgbClr val="18242F"/>
                </a:solidFill>
                <a:latin typeface="Cambria" pitchFamily="34" charset="0"/>
                <a:ea typeface="Cambria" pitchFamily="34" charset="-122"/>
                <a:cs typeface="Cambria" pitchFamily="34" charset="-120"/>
              </a:rPr>
              <a:t>231 créditos</a:t>
            </a:r>
            <a:endParaRPr lang="en-US" sz="3200" dirty="0"/>
          </a:p>
        </p:txBody>
      </p:sp>
      <p:sp>
        <p:nvSpPr>
          <p:cNvPr id="12" name="Text 10"/>
          <p:cNvSpPr txBox="1"/>
          <p:nvPr/>
        </p:nvSpPr>
        <p:spPr>
          <a:xfrm>
            <a:off x="4489704" y="255117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están en mora de más de 30 días</a:t>
            </a:r>
            <a:endParaRPr lang="en-US" sz="1150" dirty="0"/>
          </a:p>
        </p:txBody>
      </p:sp>
      <p:sp>
        <p:nvSpPr>
          <p:cNvPr id="13" name="Text 11"/>
          <p:cNvSpPr txBox="1"/>
          <p:nvPr/>
        </p:nvSpPr>
        <p:spPr>
          <a:xfrm>
            <a:off x="4489704" y="281635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El 19% de los 1.213 créditos vivos.</a:t>
            </a:r>
            <a:endParaRPr lang="en-US" sz="980" dirty="0"/>
          </a:p>
        </p:txBody>
      </p:sp>
      <p:sp>
        <p:nvSpPr>
          <p:cNvPr id="14" name="Shape 12"/>
          <p:cNvSpPr/>
          <p:nvPr/>
        </p:nvSpPr>
        <p:spPr>
          <a:xfrm>
            <a:off x="7973568" y="1783080"/>
            <a:ext cx="3520440" cy="1481328"/>
          </a:xfrm>
          <a:prstGeom prst="roundRect">
            <a:avLst>
              <a:gd name="adj" fmla="val 3704"/>
            </a:avLst>
          </a:prstGeom>
          <a:solidFill>
            <a:srgbClr val="F2F5F8"/>
          </a:solidFill>
          <a:ln w="9525">
            <a:solidFill>
              <a:srgbClr val="DDE3EA"/>
            </a:solidFill>
            <a:prstDash val="solid"/>
          </a:ln>
        </p:spPr>
      </p:sp>
      <p:sp>
        <p:nvSpPr>
          <p:cNvPr id="15" name="Text 13"/>
          <p:cNvSpPr txBox="1"/>
          <p:nvPr/>
        </p:nvSpPr>
        <p:spPr>
          <a:xfrm>
            <a:off x="8193024" y="1947672"/>
            <a:ext cx="3154680" cy="566928"/>
          </a:xfrm>
          <a:prstGeom prst="rect">
            <a:avLst/>
          </a:prstGeom>
          <a:noFill/>
          <a:ln/>
        </p:spPr>
        <p:txBody>
          <a:bodyPr wrap="square" lIns="0" tIns="0" rIns="0" bIns="0" rtlCol="0" anchor="ctr"/>
          <a:lstStyle/>
          <a:p>
            <a:pPr indent="0" marL="0">
              <a:buNone/>
            </a:pPr>
            <a:r>
              <a:rPr lang="en-US" sz="3200" b="1" dirty="0">
                <a:solidFill>
                  <a:srgbClr val="18242F"/>
                </a:solidFill>
                <a:latin typeface="Cambria" pitchFamily="34" charset="0"/>
                <a:ea typeface="Cambria" pitchFamily="34" charset="-122"/>
                <a:cs typeface="Cambria" pitchFamily="34" charset="-120"/>
              </a:rPr>
              <a:t>65%</a:t>
            </a:r>
            <a:endParaRPr lang="en-US" sz="3200" dirty="0"/>
          </a:p>
        </p:txBody>
      </p:sp>
      <p:sp>
        <p:nvSpPr>
          <p:cNvPr id="16" name="Text 14"/>
          <p:cNvSpPr txBox="1"/>
          <p:nvPr/>
        </p:nvSpPr>
        <p:spPr>
          <a:xfrm>
            <a:off x="8193024" y="2551176"/>
            <a:ext cx="3154680" cy="274320"/>
          </a:xfrm>
          <a:prstGeom prst="rect">
            <a:avLst/>
          </a:prstGeom>
          <a:noFill/>
          <a:ln/>
        </p:spPr>
        <p:txBody>
          <a:bodyPr wrap="square" lIns="0" tIns="0" rIns="0" bIns="0" rtlCol="0" anchor="ctr"/>
          <a:lstStyle/>
          <a:p>
            <a:pPr indent="0" marL="0">
              <a:buNone/>
            </a:pPr>
            <a:r>
              <a:rPr lang="en-US" sz="1150" b="1" dirty="0">
                <a:solidFill>
                  <a:srgbClr val="18242F"/>
                </a:solidFill>
                <a:latin typeface="Calibri" pitchFamily="34" charset="0"/>
                <a:ea typeface="Calibri" pitchFamily="34" charset="-122"/>
                <a:cs typeface="Calibri" pitchFamily="34" charset="-120"/>
              </a:rPr>
              <a:t>de la cartera es cosecha 2026</a:t>
            </a:r>
            <a:endParaRPr lang="en-US" sz="1150" dirty="0"/>
          </a:p>
        </p:txBody>
      </p:sp>
      <p:sp>
        <p:nvSpPr>
          <p:cNvPr id="17" name="Text 15"/>
          <p:cNvSpPr txBox="1"/>
          <p:nvPr/>
        </p:nvSpPr>
        <p:spPr>
          <a:xfrm>
            <a:off x="8193024" y="2816352"/>
            <a:ext cx="3154680" cy="365760"/>
          </a:xfrm>
          <a:prstGeom prst="rect">
            <a:avLst/>
          </a:prstGeom>
          <a:noFill/>
          <a:ln/>
        </p:spPr>
        <p:txBody>
          <a:bodyPr wrap="square" lIns="0" tIns="0" rIns="0" bIns="0" rtlCol="0" anchor="t"/>
          <a:lstStyle/>
          <a:p>
            <a:pPr indent="0" marL="0">
              <a:buNone/>
            </a:pPr>
            <a:r>
              <a:rPr lang="en-US" sz="980" dirty="0">
                <a:solidFill>
                  <a:srgbClr val="62717F"/>
                </a:solidFill>
                <a:latin typeface="Calibri" pitchFamily="34" charset="0"/>
                <a:ea typeface="Calibri" pitchFamily="34" charset="-122"/>
                <a:cs typeface="Calibri" pitchFamily="34" charset="-120"/>
              </a:rPr>
              <a:t>Y va en 5,4% de ICV. El grueso del riesgo vivo es originación reciente y todavía joven.</a:t>
            </a:r>
            <a:endParaRPr lang="en-US" sz="980" dirty="0"/>
          </a:p>
        </p:txBody>
      </p:sp>
      <p:graphicFrame>
        <p:nvGraphicFramePr>
          <p:cNvPr id="18" name="Chart 0" descr=""/>
          <p:cNvGraphicFramePr/>
          <p:nvPr/>
        </p:nvGraphicFramePr>
        <p:xfrm>
          <a:off x="566928" y="3794760"/>
          <a:ext cx="5486400" cy="21488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66928" y="3584448"/>
            <a:ext cx="5486400" cy="219456"/>
          </a:xfrm>
          <a:prstGeom prst="rect">
            <a:avLst/>
          </a:prstGeom>
          <a:noFill/>
          <a:ln/>
        </p:spPr>
        <p:txBody>
          <a:bodyPr wrap="square" lIns="0" tIns="0" rIns="0" bIns="0" rtlCol="0" anchor="ctr"/>
          <a:lstStyle/>
          <a:p>
            <a:pPr indent="0" marL="0">
              <a:buNone/>
            </a:pPr>
            <a:r>
              <a:rPr lang="en-US" sz="1050" b="1" dirty="0">
                <a:solidFill>
                  <a:srgbClr val="18242F"/>
                </a:solidFill>
                <a:latin typeface="Calibri" pitchFamily="34" charset="0"/>
                <a:ea typeface="Calibri" pitchFamily="34" charset="-122"/>
                <a:cs typeface="Calibri" pitchFamily="34" charset="-120"/>
              </a:rPr>
              <a:t>Mora sobre saldo vivo, por año de cosecha</a:t>
            </a:r>
            <a:endParaRPr lang="en-US" sz="1050" dirty="0"/>
          </a:p>
        </p:txBody>
      </p:sp>
      <p:sp>
        <p:nvSpPr>
          <p:cNvPr id="20" name="Text 17"/>
          <p:cNvSpPr txBox="1"/>
          <p:nvPr/>
        </p:nvSpPr>
        <p:spPr>
          <a:xfrm>
            <a:off x="6400800" y="3584448"/>
            <a:ext cx="5212080" cy="237744"/>
          </a:xfrm>
          <a:prstGeom prst="rect">
            <a:avLst/>
          </a:prstGeom>
          <a:noFill/>
          <a:ln/>
        </p:spPr>
        <p:txBody>
          <a:bodyPr wrap="square" lIns="0" tIns="0" rIns="0" bIns="0" rtlCol="0" anchor="ctr"/>
          <a:lstStyle/>
          <a:p>
            <a:pPr indent="0" marL="0">
              <a:buNone/>
            </a:pPr>
            <a:r>
              <a:rPr lang="en-US" sz="1250" b="1" dirty="0">
                <a:solidFill>
                  <a:srgbClr val="18242F"/>
                </a:solidFill>
                <a:latin typeface="Calibri" pitchFamily="34" charset="0"/>
                <a:ea typeface="Calibri" pitchFamily="34" charset="-122"/>
                <a:cs typeface="Calibri" pitchFamily="34" charset="-120"/>
              </a:rPr>
              <a:t>Por qué las cosechas viejas muestran un ICV tan alto</a:t>
            </a:r>
            <a:endParaRPr lang="en-US" sz="1250" dirty="0"/>
          </a:p>
        </p:txBody>
      </p:sp>
      <p:sp>
        <p:nvSpPr>
          <p:cNvPr id="21" name="Text 18"/>
          <p:cNvSpPr txBox="1"/>
          <p:nvPr/>
        </p:nvSpPr>
        <p:spPr>
          <a:xfrm>
            <a:off x="6400800" y="3877056"/>
            <a:ext cx="5212080" cy="2103120"/>
          </a:xfrm>
          <a:prstGeom prst="rect">
            <a:avLst/>
          </a:prstGeom>
          <a:noFill/>
          <a:ln/>
        </p:spPr>
        <p:txBody>
          <a:bodyPr wrap="square" lIns="0" tIns="0" rIns="0" bIns="0" rtlCol="0" anchor="t"/>
          <a:lstStyle/>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No es que se hayan deteriorado más de lo que dice el análisis de cosechas. Es que de esas cosechas ya se pagó casi todo lo bueno: lo que queda vivo es, por definición, lo que no ha pagado. De 2023 solo quedan COP 85 millones vivos, y son mora casi en su totalidad.</a:t>
            </a:r>
            <a:endParaRPr lang="en-US" sz="1100" dirty="0"/>
          </a:p>
          <a:p>
            <a:pPr indent="0" marL="0">
              <a:lnSpc>
                <a:spcPts val="1500"/>
              </a:lnSpc>
              <a:buNone/>
            </a:pPr>
            <a:endParaRPr lang="en-US" sz="1100" dirty="0"/>
          </a:p>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Por eso el ICV sirve para dimensionar lo que hay que cobrar hoy, y el análisis de cosechas para juzgar cómo se originó. Confundirlos lleva a conclusiones opuestas sobre el mismo año.</a:t>
            </a:r>
            <a:endParaRPr lang="en-US" sz="1100" dirty="0"/>
          </a:p>
          <a:p>
            <a:pPr indent="0" marL="0">
              <a:lnSpc>
                <a:spcPts val="1500"/>
              </a:lnSpc>
              <a:buNone/>
            </a:pPr>
            <a:endParaRPr lang="en-US" sz="1100" dirty="0"/>
          </a:p>
          <a:p>
            <a:pPr indent="0" marL="0">
              <a:lnSpc>
                <a:spcPts val="1500"/>
              </a:lnSpc>
              <a:buNone/>
            </a:pPr>
            <a:r>
              <a:rPr lang="en-US" sz="1100" dirty="0">
                <a:solidFill>
                  <a:srgbClr val="62717F"/>
                </a:solidFill>
                <a:latin typeface="Calibri" pitchFamily="34" charset="0"/>
                <a:ea typeface="Calibri" pitchFamily="34" charset="-122"/>
                <a:cs typeface="Calibri" pitchFamily="34" charset="-120"/>
              </a:rPr>
              <a:t>Para la cobranza, la consecuencia práctica es que el esfuerzo no se reparte por igual: 122 créditos concentran tres cuartas partes de lo que hay por recuperar.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CRECIMIENTO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Se creció 2,3 veces sin perder calidad</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Monto colocado por cosecha mensual, en millones de COP.</a:t>
            </a:r>
            <a:endParaRPr lang="en-US" sz="1150" dirty="0"/>
          </a:p>
        </p:txBody>
      </p:sp>
      <p:graphicFrame>
        <p:nvGraphicFramePr>
          <p:cNvPr id="5" name="Chart 0" descr=""/>
          <p:cNvGraphicFramePr/>
          <p:nvPr/>
        </p:nvGraphicFramePr>
        <p:xfrm>
          <a:off x="566928" y="1828800"/>
          <a:ext cx="11057839" cy="3154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5257800"/>
            <a:ext cx="3474720" cy="411480"/>
          </a:xfrm>
          <a:prstGeom prst="rect">
            <a:avLst/>
          </a:prstGeom>
          <a:noFill/>
          <a:ln/>
        </p:spPr>
        <p:txBody>
          <a:bodyPr wrap="square" lIns="0" tIns="0" rIns="0" bIns="0" rtlCol="0" anchor="ctr"/>
          <a:lstStyle/>
          <a:p>
            <a:pPr indent="0" marL="0">
              <a:buNone/>
            </a:pPr>
            <a:r>
              <a:rPr lang="en-US" sz="2200" b="1" dirty="0">
                <a:solidFill>
                  <a:srgbClr val="18242F"/>
                </a:solidFill>
                <a:latin typeface="Cambria" pitchFamily="34" charset="0"/>
                <a:ea typeface="Cambria" pitchFamily="34" charset="-122"/>
                <a:cs typeface="Cambria" pitchFamily="34" charset="-120"/>
              </a:rPr>
              <a:t>COP 197 M</a:t>
            </a:r>
            <a:endParaRPr lang="en-US" sz="2200" dirty="0"/>
          </a:p>
        </p:txBody>
      </p:sp>
      <p:sp>
        <p:nvSpPr>
          <p:cNvPr id="7" name="Text 4"/>
          <p:cNvSpPr txBox="1"/>
          <p:nvPr/>
        </p:nvSpPr>
        <p:spPr>
          <a:xfrm>
            <a:off x="566928" y="5669280"/>
            <a:ext cx="3474720" cy="274320"/>
          </a:xfrm>
          <a:prstGeom prst="rect">
            <a:avLst/>
          </a:prstGeom>
          <a:noFill/>
          <a:ln/>
        </p:spPr>
        <p:txBody>
          <a:bodyPr wrap="square" lIns="0" tIns="0" rIns="0" bIns="0" rtlCol="0" anchor="ctr"/>
          <a:lstStyle/>
          <a:p>
            <a:pPr indent="0" marL="0">
              <a:buNone/>
            </a:pPr>
            <a:r>
              <a:rPr lang="en-US" sz="1100" dirty="0">
                <a:solidFill>
                  <a:srgbClr val="62717F"/>
                </a:solidFill>
                <a:latin typeface="Calibri" pitchFamily="34" charset="0"/>
                <a:ea typeface="Calibri" pitchFamily="34" charset="-122"/>
                <a:cs typeface="Calibri" pitchFamily="34" charset="-120"/>
              </a:rPr>
              <a:t>promedio mensual en 2022</a:t>
            </a:r>
            <a:endParaRPr lang="en-US" sz="1100" dirty="0"/>
          </a:p>
        </p:txBody>
      </p:sp>
      <p:sp>
        <p:nvSpPr>
          <p:cNvPr id="8" name="Text 5"/>
          <p:cNvSpPr txBox="1"/>
          <p:nvPr/>
        </p:nvSpPr>
        <p:spPr>
          <a:xfrm>
            <a:off x="4270248" y="5257800"/>
            <a:ext cx="3474720" cy="411480"/>
          </a:xfrm>
          <a:prstGeom prst="rect">
            <a:avLst/>
          </a:prstGeom>
          <a:noFill/>
          <a:ln/>
        </p:spPr>
        <p:txBody>
          <a:bodyPr wrap="square" lIns="0" tIns="0" rIns="0" bIns="0" rtlCol="0" anchor="ctr"/>
          <a:lstStyle/>
          <a:p>
            <a:pPr indent="0" marL="0">
              <a:buNone/>
            </a:pPr>
            <a:r>
              <a:rPr lang="en-US" sz="2200" b="1" dirty="0">
                <a:solidFill>
                  <a:srgbClr val="18242F"/>
                </a:solidFill>
                <a:latin typeface="Cambria" pitchFamily="34" charset="0"/>
                <a:ea typeface="Cambria" pitchFamily="34" charset="-122"/>
                <a:cs typeface="Cambria" pitchFamily="34" charset="-120"/>
              </a:rPr>
              <a:t>COP 450 M</a:t>
            </a:r>
            <a:endParaRPr lang="en-US" sz="2200" dirty="0"/>
          </a:p>
        </p:txBody>
      </p:sp>
      <p:sp>
        <p:nvSpPr>
          <p:cNvPr id="9" name="Text 6"/>
          <p:cNvSpPr txBox="1"/>
          <p:nvPr/>
        </p:nvSpPr>
        <p:spPr>
          <a:xfrm>
            <a:off x="4270248" y="5669280"/>
            <a:ext cx="3474720" cy="274320"/>
          </a:xfrm>
          <a:prstGeom prst="rect">
            <a:avLst/>
          </a:prstGeom>
          <a:noFill/>
          <a:ln/>
        </p:spPr>
        <p:txBody>
          <a:bodyPr wrap="square" lIns="0" tIns="0" rIns="0" bIns="0" rtlCol="0" anchor="ctr"/>
          <a:lstStyle/>
          <a:p>
            <a:pPr indent="0" marL="0">
              <a:buNone/>
            </a:pPr>
            <a:r>
              <a:rPr lang="en-US" sz="1100" dirty="0">
                <a:solidFill>
                  <a:srgbClr val="62717F"/>
                </a:solidFill>
                <a:latin typeface="Calibri" pitchFamily="34" charset="0"/>
                <a:ea typeface="Calibri" pitchFamily="34" charset="-122"/>
                <a:cs typeface="Calibri" pitchFamily="34" charset="-120"/>
              </a:rPr>
              <a:t>promedio mensual en 2026</a:t>
            </a:r>
            <a:endParaRPr lang="en-US" sz="1100" dirty="0"/>
          </a:p>
        </p:txBody>
      </p:sp>
      <p:sp>
        <p:nvSpPr>
          <p:cNvPr id="10" name="Text 7"/>
          <p:cNvSpPr txBox="1"/>
          <p:nvPr/>
        </p:nvSpPr>
        <p:spPr>
          <a:xfrm>
            <a:off x="7973568" y="5257800"/>
            <a:ext cx="3474720" cy="411480"/>
          </a:xfrm>
          <a:prstGeom prst="rect">
            <a:avLst/>
          </a:prstGeom>
          <a:noFill/>
          <a:ln/>
        </p:spPr>
        <p:txBody>
          <a:bodyPr wrap="square" lIns="0" tIns="0" rIns="0" bIns="0" rtlCol="0" anchor="ctr"/>
          <a:lstStyle/>
          <a:p>
            <a:pPr indent="0" marL="0">
              <a:buNone/>
            </a:pPr>
            <a:r>
              <a:rPr lang="en-US" sz="2200" b="1" dirty="0">
                <a:solidFill>
                  <a:srgbClr val="18242F"/>
                </a:solidFill>
                <a:latin typeface="Cambria" pitchFamily="34" charset="0"/>
                <a:ea typeface="Cambria" pitchFamily="34" charset="-122"/>
                <a:cs typeface="Cambria" pitchFamily="34" charset="-120"/>
              </a:rPr>
              <a:t>2,3x</a:t>
            </a:r>
            <a:endParaRPr lang="en-US" sz="2200" dirty="0"/>
          </a:p>
        </p:txBody>
      </p:sp>
      <p:sp>
        <p:nvSpPr>
          <p:cNvPr id="11" name="Text 8"/>
          <p:cNvSpPr txBox="1"/>
          <p:nvPr/>
        </p:nvSpPr>
        <p:spPr>
          <a:xfrm>
            <a:off x="7973568" y="5669280"/>
            <a:ext cx="3474720" cy="274320"/>
          </a:xfrm>
          <a:prstGeom prst="rect">
            <a:avLst/>
          </a:prstGeom>
          <a:noFill/>
          <a:ln/>
        </p:spPr>
        <p:txBody>
          <a:bodyPr wrap="square" lIns="0" tIns="0" rIns="0" bIns="0" rtlCol="0" anchor="ctr"/>
          <a:lstStyle/>
          <a:p>
            <a:pPr indent="0" marL="0">
              <a:buNone/>
            </a:pPr>
            <a:r>
              <a:rPr lang="en-US" sz="1100" dirty="0">
                <a:solidFill>
                  <a:srgbClr val="62717F"/>
                </a:solidFill>
                <a:latin typeface="Calibri" pitchFamily="34" charset="0"/>
                <a:ea typeface="Calibri" pitchFamily="34" charset="-122"/>
                <a:cs typeface="Calibri" pitchFamily="34" charset="-120"/>
              </a:rPr>
              <a:t>más volumen, con mejor mora</a:t>
            </a:r>
            <a:endParaRPr lang="en-US" sz="1100" dirty="0"/>
          </a:p>
        </p:txBody>
      </p:sp>
      <p:sp>
        <p:nvSpPr>
          <p:cNvPr id="12" name="Text 9"/>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Crecer y mejorar la calidad al mismo tiempo es lo difícil, y es lo que muestran los datos. El límite hoy no lo pone el riesgo agregado: lo ponen dos o tres puntos de venta.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LÍMITES DEL ANÁLISIS</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Lo que este archivo no permite responder</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Tres campos ausentes, y una consecuencia concreta de cada uno.</a:t>
            </a:r>
            <a:endParaRPr lang="en-US" sz="1150" dirty="0"/>
          </a:p>
        </p:txBody>
      </p:sp>
      <p:sp>
        <p:nvSpPr>
          <p:cNvPr id="5" name="Shape 3"/>
          <p:cNvSpPr/>
          <p:nvPr/>
        </p:nvSpPr>
        <p:spPr>
          <a:xfrm>
            <a:off x="566928" y="1874520"/>
            <a:ext cx="11057839" cy="1152144"/>
          </a:xfrm>
          <a:prstGeom prst="roundRect">
            <a:avLst>
              <a:gd name="adj" fmla="val 4762"/>
            </a:avLst>
          </a:prstGeom>
          <a:solidFill>
            <a:srgbClr val="F2F5F8"/>
          </a:solidFill>
          <a:ln w="9525">
            <a:solidFill>
              <a:srgbClr val="DDE3EA"/>
            </a:solidFill>
            <a:prstDash val="solid"/>
          </a:ln>
        </p:spPr>
      </p:sp>
      <p:sp>
        <p:nvSpPr>
          <p:cNvPr id="6" name="Text 4"/>
          <p:cNvSpPr txBox="1"/>
          <p:nvPr/>
        </p:nvSpPr>
        <p:spPr>
          <a:xfrm>
            <a:off x="841248" y="2029968"/>
            <a:ext cx="4114800" cy="274320"/>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Cuota inicial y precio real de la moto</a:t>
            </a:r>
            <a:endParaRPr lang="en-US" sz="1300" dirty="0"/>
          </a:p>
        </p:txBody>
      </p:sp>
      <p:sp>
        <p:nvSpPr>
          <p:cNvPr id="7" name="Text 5"/>
          <p:cNvSpPr txBox="1"/>
          <p:nvPr/>
        </p:nvSpPr>
        <p:spPr>
          <a:xfrm>
            <a:off x="841248" y="2313432"/>
            <a:ext cx="4206240" cy="658368"/>
          </a:xfrm>
          <a:prstGeom prst="rect">
            <a:avLst/>
          </a:prstGeom>
          <a:noFill/>
          <a:ln/>
        </p:spPr>
        <p:txBody>
          <a:bodyPr wrap="square" lIns="0" tIns="0" rIns="0" bIns="0" rtlCol="0" anchor="t"/>
          <a:lstStyle/>
          <a:p>
            <a:pPr indent="0" marL="0">
              <a:lnSpc>
                <a:spcPts val="1300"/>
              </a:lnSpc>
              <a:buNone/>
            </a:pPr>
            <a:r>
              <a:rPr lang="en-US" sz="1020" dirty="0">
                <a:solidFill>
                  <a:srgbClr val="62717F"/>
                </a:solidFill>
                <a:latin typeface="Calibri" pitchFamily="34" charset="0"/>
                <a:ea typeface="Calibri" pitchFamily="34" charset="-122"/>
                <a:cs typeface="Calibri" pitchFamily="34" charset="-120"/>
              </a:rPr>
              <a:t>La columna VALORGARAN viene casi igual al capital prestado, así que no permite calcular el LTV — el driver de riesgo número uno en financiación de motos.</a:t>
            </a:r>
            <a:endParaRPr lang="en-US" sz="1020" dirty="0"/>
          </a:p>
        </p:txBody>
      </p:sp>
      <p:sp>
        <p:nvSpPr>
          <p:cNvPr id="8" name="Text 6"/>
          <p:cNvSpPr txBox="1"/>
          <p:nvPr/>
        </p:nvSpPr>
        <p:spPr>
          <a:xfrm>
            <a:off x="5413248" y="2029968"/>
            <a:ext cx="5852160" cy="237744"/>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Consecuencia</a:t>
            </a:r>
            <a:endParaRPr lang="en-US" sz="1000" dirty="0"/>
          </a:p>
        </p:txBody>
      </p:sp>
      <p:sp>
        <p:nvSpPr>
          <p:cNvPr id="9" name="Text 7"/>
          <p:cNvSpPr txBox="1"/>
          <p:nvPr/>
        </p:nvSpPr>
        <p:spPr>
          <a:xfrm>
            <a:off x="5413248" y="2313432"/>
            <a:ext cx="5852160" cy="640080"/>
          </a:xfrm>
          <a:prstGeom prst="rect">
            <a:avLst/>
          </a:prstGeom>
          <a:noFill/>
          <a:ln/>
        </p:spPr>
        <p:txBody>
          <a:bodyPr wrap="square" lIns="0" tIns="0" rIns="0" bIns="0" rtlCol="0" anchor="t"/>
          <a:lstStyle/>
          <a:p>
            <a:pPr indent="0" marL="0">
              <a:lnSpc>
                <a:spcPts val="1800"/>
              </a:lnSpc>
              <a:buNone/>
            </a:pPr>
            <a:r>
              <a:rPr lang="en-US" sz="1300" dirty="0">
                <a:solidFill>
                  <a:srgbClr val="18242F"/>
                </a:solidFill>
                <a:latin typeface="Calibri" pitchFamily="34" charset="0"/>
                <a:ea typeface="Calibri" pitchFamily="34" charset="-122"/>
                <a:cs typeface="Calibri" pitchFamily="34" charset="-120"/>
              </a:rPr>
              <a:t>No se puede decir cuánta cuota inicial hay que exigir.</a:t>
            </a:r>
            <a:endParaRPr lang="en-US" sz="1300" dirty="0"/>
          </a:p>
        </p:txBody>
      </p:sp>
      <p:sp>
        <p:nvSpPr>
          <p:cNvPr id="10" name="Shape 8"/>
          <p:cNvSpPr/>
          <p:nvPr/>
        </p:nvSpPr>
        <p:spPr>
          <a:xfrm>
            <a:off x="566928" y="3191256"/>
            <a:ext cx="11057839" cy="1152144"/>
          </a:xfrm>
          <a:prstGeom prst="roundRect">
            <a:avLst>
              <a:gd name="adj" fmla="val 4762"/>
            </a:avLst>
          </a:prstGeom>
          <a:solidFill>
            <a:srgbClr val="F2F5F8"/>
          </a:solidFill>
          <a:ln w="9525">
            <a:solidFill>
              <a:srgbClr val="DDE3EA"/>
            </a:solidFill>
            <a:prstDash val="solid"/>
          </a:ln>
        </p:spPr>
      </p:sp>
      <p:sp>
        <p:nvSpPr>
          <p:cNvPr id="11" name="Text 9"/>
          <p:cNvSpPr txBox="1"/>
          <p:nvPr/>
        </p:nvSpPr>
        <p:spPr>
          <a:xfrm>
            <a:off x="841248" y="3346704"/>
            <a:ext cx="4114800" cy="274320"/>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Score de buró en la originación</a:t>
            </a:r>
            <a:endParaRPr lang="en-US" sz="1300" dirty="0"/>
          </a:p>
        </p:txBody>
      </p:sp>
      <p:sp>
        <p:nvSpPr>
          <p:cNvPr id="12" name="Text 10"/>
          <p:cNvSpPr txBox="1"/>
          <p:nvPr/>
        </p:nvSpPr>
        <p:spPr>
          <a:xfrm>
            <a:off x="841248" y="3630168"/>
            <a:ext cx="4206240" cy="658368"/>
          </a:xfrm>
          <a:prstGeom prst="rect">
            <a:avLst/>
          </a:prstGeom>
          <a:noFill/>
          <a:ln/>
        </p:spPr>
        <p:txBody>
          <a:bodyPr wrap="square" lIns="0" tIns="0" rIns="0" bIns="0" rtlCol="0" anchor="t"/>
          <a:lstStyle/>
          <a:p>
            <a:pPr indent="0" marL="0">
              <a:lnSpc>
                <a:spcPts val="1300"/>
              </a:lnSpc>
              <a:buNone/>
            </a:pPr>
            <a:r>
              <a:rPr lang="en-US" sz="1020" dirty="0">
                <a:solidFill>
                  <a:srgbClr val="62717F"/>
                </a:solidFill>
                <a:latin typeface="Calibri" pitchFamily="34" charset="0"/>
                <a:ea typeface="Calibri" pitchFamily="34" charset="-122"/>
                <a:cs typeface="Calibri" pitchFamily="34" charset="-120"/>
              </a:rPr>
              <a:t>El archivo es el extracto de cartera del core, no un reporte de buró. No trae score ni endeudamiento externo del deudor.</a:t>
            </a:r>
            <a:endParaRPr lang="en-US" sz="1020" dirty="0"/>
          </a:p>
        </p:txBody>
      </p:sp>
      <p:sp>
        <p:nvSpPr>
          <p:cNvPr id="13" name="Text 11"/>
          <p:cNvSpPr txBox="1"/>
          <p:nvPr/>
        </p:nvSpPr>
        <p:spPr>
          <a:xfrm>
            <a:off x="5413248" y="3346704"/>
            <a:ext cx="5852160" cy="237744"/>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Consecuencia</a:t>
            </a:r>
            <a:endParaRPr lang="en-US" sz="1000" dirty="0"/>
          </a:p>
        </p:txBody>
      </p:sp>
      <p:sp>
        <p:nvSpPr>
          <p:cNvPr id="14" name="Text 12"/>
          <p:cNvSpPr txBox="1"/>
          <p:nvPr/>
        </p:nvSpPr>
        <p:spPr>
          <a:xfrm>
            <a:off x="5413248" y="3630168"/>
            <a:ext cx="5852160" cy="640080"/>
          </a:xfrm>
          <a:prstGeom prst="rect">
            <a:avLst/>
          </a:prstGeom>
          <a:noFill/>
          <a:ln/>
        </p:spPr>
        <p:txBody>
          <a:bodyPr wrap="square" lIns="0" tIns="0" rIns="0" bIns="0" rtlCol="0" anchor="t"/>
          <a:lstStyle/>
          <a:p>
            <a:pPr indent="0" marL="0">
              <a:lnSpc>
                <a:spcPts val="1800"/>
              </a:lnSpc>
              <a:buNone/>
            </a:pPr>
            <a:r>
              <a:rPr lang="en-US" sz="1300" dirty="0">
                <a:solidFill>
                  <a:srgbClr val="18242F"/>
                </a:solidFill>
                <a:latin typeface="Calibri" pitchFamily="34" charset="0"/>
                <a:ea typeface="Calibri" pitchFamily="34" charset="-122"/>
                <a:cs typeface="Calibri" pitchFamily="34" charset="-120"/>
              </a:rPr>
              <a:t>No se puede fijar el punto de corte de aprobación.</a:t>
            </a:r>
            <a:endParaRPr lang="en-US" sz="1300" dirty="0"/>
          </a:p>
        </p:txBody>
      </p:sp>
      <p:sp>
        <p:nvSpPr>
          <p:cNvPr id="15" name="Shape 13"/>
          <p:cNvSpPr/>
          <p:nvPr/>
        </p:nvSpPr>
        <p:spPr>
          <a:xfrm>
            <a:off x="566928" y="4507992"/>
            <a:ext cx="11057839" cy="1152144"/>
          </a:xfrm>
          <a:prstGeom prst="roundRect">
            <a:avLst>
              <a:gd name="adj" fmla="val 4762"/>
            </a:avLst>
          </a:prstGeom>
          <a:solidFill>
            <a:srgbClr val="F2F5F8"/>
          </a:solidFill>
          <a:ln w="9525">
            <a:solidFill>
              <a:srgbClr val="DDE3EA"/>
            </a:solidFill>
            <a:prstDash val="solid"/>
          </a:ln>
        </p:spPr>
      </p:sp>
      <p:sp>
        <p:nvSpPr>
          <p:cNvPr id="16" name="Text 14"/>
          <p:cNvSpPr txBox="1"/>
          <p:nvPr/>
        </p:nvSpPr>
        <p:spPr>
          <a:xfrm>
            <a:off x="841248" y="4663440"/>
            <a:ext cx="4114800" cy="274320"/>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Asesor comercial</a:t>
            </a:r>
            <a:endParaRPr lang="en-US" sz="1300" dirty="0"/>
          </a:p>
        </p:txBody>
      </p:sp>
      <p:sp>
        <p:nvSpPr>
          <p:cNvPr id="17" name="Text 15"/>
          <p:cNvSpPr txBox="1"/>
          <p:nvPr/>
        </p:nvSpPr>
        <p:spPr>
          <a:xfrm>
            <a:off x="841248" y="4946904"/>
            <a:ext cx="4206240" cy="658368"/>
          </a:xfrm>
          <a:prstGeom prst="rect">
            <a:avLst/>
          </a:prstGeom>
          <a:noFill/>
          <a:ln/>
        </p:spPr>
        <p:txBody>
          <a:bodyPr wrap="square" lIns="0" tIns="0" rIns="0" bIns="0" rtlCol="0" anchor="t"/>
          <a:lstStyle/>
          <a:p>
            <a:pPr indent="0" marL="0">
              <a:lnSpc>
                <a:spcPts val="1300"/>
              </a:lnSpc>
              <a:buNone/>
            </a:pPr>
            <a:r>
              <a:rPr lang="en-US" sz="1020" dirty="0">
                <a:solidFill>
                  <a:srgbClr val="62717F"/>
                </a:solidFill>
                <a:latin typeface="Calibri" pitchFamily="34" charset="0"/>
                <a:ea typeface="Calibri" pitchFamily="34" charset="-122"/>
                <a:cs typeface="Calibri" pitchFamily="34" charset="-120"/>
              </a:rPr>
              <a:t>La columna NOMBREASES viene vacía en los siete cortes mensuales.</a:t>
            </a:r>
            <a:endParaRPr lang="en-US" sz="1020" dirty="0"/>
          </a:p>
        </p:txBody>
      </p:sp>
      <p:sp>
        <p:nvSpPr>
          <p:cNvPr id="18" name="Text 16"/>
          <p:cNvSpPr txBox="1"/>
          <p:nvPr/>
        </p:nvSpPr>
        <p:spPr>
          <a:xfrm>
            <a:off x="5413248" y="4663440"/>
            <a:ext cx="5852160" cy="237744"/>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Consecuencia</a:t>
            </a:r>
            <a:endParaRPr lang="en-US" sz="1000" dirty="0"/>
          </a:p>
        </p:txBody>
      </p:sp>
      <p:sp>
        <p:nvSpPr>
          <p:cNvPr id="19" name="Text 17"/>
          <p:cNvSpPr txBox="1"/>
          <p:nvPr/>
        </p:nvSpPr>
        <p:spPr>
          <a:xfrm>
            <a:off x="5413248" y="4946904"/>
            <a:ext cx="5852160" cy="640080"/>
          </a:xfrm>
          <a:prstGeom prst="rect">
            <a:avLst/>
          </a:prstGeom>
          <a:noFill/>
          <a:ln/>
        </p:spPr>
        <p:txBody>
          <a:bodyPr wrap="square" lIns="0" tIns="0" rIns="0" bIns="0" rtlCol="0" anchor="t"/>
          <a:lstStyle/>
          <a:p>
            <a:pPr indent="0" marL="0">
              <a:lnSpc>
                <a:spcPts val="1800"/>
              </a:lnSpc>
              <a:buNone/>
            </a:pPr>
            <a:r>
              <a:rPr lang="en-US" sz="1300" dirty="0">
                <a:solidFill>
                  <a:srgbClr val="18242F"/>
                </a:solidFill>
                <a:latin typeface="Calibri" pitchFamily="34" charset="0"/>
                <a:ea typeface="Calibri" pitchFamily="34" charset="-122"/>
                <a:cs typeface="Calibri" pitchFamily="34" charset="-120"/>
              </a:rPr>
              <a:t>Se puede señalar el punto de venta, pero no a quién dentro de él.</a:t>
            </a:r>
            <a:endParaRPr lang="en-US" sz="1300" dirty="0"/>
          </a:p>
        </p:txBody>
      </p:sp>
      <p:sp>
        <p:nvSpPr>
          <p:cNvPr id="20" name="Text 18"/>
          <p:cNvSpPr txBox="1"/>
          <p:nvPr/>
        </p:nvSpPr>
        <p:spPr>
          <a:xfrm>
            <a:off x="566928" y="5943600"/>
            <a:ext cx="10515600" cy="320040"/>
          </a:xfrm>
          <a:prstGeom prst="rect">
            <a:avLst/>
          </a:prstGeom>
          <a:noFill/>
          <a:ln/>
        </p:spPr>
        <p:txBody>
          <a:bodyPr wrap="square" lIns="0" tIns="0" rIns="0" bIns="0" rtlCol="0" anchor="ctr"/>
          <a:lstStyle/>
          <a:p>
            <a:pPr indent="0" marL="0">
              <a:buNone/>
            </a:pPr>
            <a:r>
              <a:rPr lang="en-US" sz="1200" i="1" dirty="0">
                <a:solidFill>
                  <a:srgbClr val="18242F"/>
                </a:solidFill>
                <a:latin typeface="Calibri" pitchFamily="34" charset="0"/>
                <a:ea typeface="Calibri" pitchFamily="34" charset="-122"/>
                <a:cs typeface="Calibri" pitchFamily="34" charset="-120"/>
              </a:rPr>
              <a:t>Con esos tres campos, este mismo análisis pasa de diagnosticar a fijar política de originación.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263A"/>
        </a:solidFill>
      </p:bgPr>
    </p:bg>
    <p:spTree>
      <p:nvGrpSpPr>
        <p:cNvPr id="1" name=""/>
        <p:cNvGrpSpPr/>
        <p:nvPr/>
      </p:nvGrpSpPr>
      <p:grpSpPr>
        <a:xfrm>
          <a:off x="0" y="0"/>
          <a:ext cx="0" cy="0"/>
          <a:chOff x="0" y="0"/>
          <a:chExt cx="0" cy="0"/>
        </a:xfrm>
      </p:grpSpPr>
      <p:sp>
        <p:nvSpPr>
          <p:cNvPr id="2" name="Text 0"/>
          <p:cNvSpPr txBox="1"/>
          <p:nvPr/>
        </p:nvSpPr>
        <p:spPr>
          <a:xfrm>
            <a:off x="566928" y="566928"/>
            <a:ext cx="10058400" cy="237744"/>
          </a:xfrm>
          <a:prstGeom prst="rect">
            <a:avLst/>
          </a:prstGeom>
          <a:noFill/>
          <a:ln/>
        </p:spPr>
        <p:txBody>
          <a:bodyPr wrap="square" lIns="0" tIns="0" rIns="0" bIns="0" rtlCol="0" anchor="ctr"/>
          <a:lstStyle/>
          <a:p>
            <a:pPr indent="0" marL="0">
              <a:buNone/>
            </a:pPr>
            <a:r>
              <a:rPr lang="en-US" sz="1100" b="1" spc="180" kern="0" dirty="0">
                <a:solidFill>
                  <a:srgbClr val="7FA9DC"/>
                </a:solidFill>
                <a:latin typeface="Calibri" pitchFamily="34" charset="0"/>
                <a:ea typeface="Calibri" pitchFamily="34" charset="-122"/>
                <a:cs typeface="Calibri" pitchFamily="34" charset="-120"/>
              </a:rPr>
              <a:t>LO QUE SE SOMETE A APROBACIÓN</a:t>
            </a:r>
            <a:endParaRPr lang="en-US" sz="1100" dirty="0"/>
          </a:p>
        </p:txBody>
      </p:sp>
      <p:sp>
        <p:nvSpPr>
          <p:cNvPr id="3" name="Text 1"/>
          <p:cNvSpPr txBox="1"/>
          <p:nvPr/>
        </p:nvSpPr>
        <p:spPr>
          <a:xfrm>
            <a:off x="566928" y="86868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Tres decisiones</a:t>
            </a:r>
            <a:endParaRPr lang="en-US" sz="3000" dirty="0"/>
          </a:p>
        </p:txBody>
      </p:sp>
      <p:sp>
        <p:nvSpPr>
          <p:cNvPr id="4" name="Shape 2"/>
          <p:cNvSpPr/>
          <p:nvPr/>
        </p:nvSpPr>
        <p:spPr>
          <a:xfrm>
            <a:off x="566928" y="1737360"/>
            <a:ext cx="11057839" cy="1234440"/>
          </a:xfrm>
          <a:prstGeom prst="roundRect">
            <a:avLst>
              <a:gd name="adj" fmla="val 4444"/>
            </a:avLst>
          </a:prstGeom>
          <a:solidFill>
            <a:srgbClr val="1B3450"/>
          </a:solidFill>
          <a:ln w="9525">
            <a:solidFill>
              <a:srgbClr val="1B3450"/>
            </a:solidFill>
            <a:prstDash val="solid"/>
          </a:ln>
        </p:spPr>
      </p:sp>
      <p:sp>
        <p:nvSpPr>
          <p:cNvPr id="5" name="Shape 3"/>
          <p:cNvSpPr/>
          <p:nvPr/>
        </p:nvSpPr>
        <p:spPr>
          <a:xfrm>
            <a:off x="822960" y="1956816"/>
            <a:ext cx="384048" cy="384048"/>
          </a:xfrm>
          <a:prstGeom prst="ellipse">
            <a:avLst/>
          </a:prstGeom>
          <a:solidFill>
            <a:srgbClr val="2F5580"/>
          </a:solidFill>
          <a:ln w="12700">
            <a:solidFill>
              <a:srgbClr val="2F5580"/>
            </a:solidFill>
            <a:prstDash val="solid"/>
          </a:ln>
        </p:spPr>
      </p:sp>
      <p:sp>
        <p:nvSpPr>
          <p:cNvPr id="6" name="Text 4"/>
          <p:cNvSpPr txBox="1"/>
          <p:nvPr/>
        </p:nvSpPr>
        <p:spPr>
          <a:xfrm>
            <a:off x="822960" y="1956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08176" y="1911096"/>
            <a:ext cx="64922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Intervenir Cartagena-Suzuki y Puerto Berrío AKT</a:t>
            </a:r>
            <a:endParaRPr lang="en-US" sz="1400" dirty="0"/>
          </a:p>
        </p:txBody>
      </p:sp>
      <p:sp>
        <p:nvSpPr>
          <p:cNvPr id="8" name="Text 6"/>
          <p:cNvSpPr txBox="1"/>
          <p:nvPr/>
        </p:nvSpPr>
        <p:spPr>
          <a:xfrm>
            <a:off x="1408176" y="2231136"/>
            <a:ext cx="6583680" cy="731520"/>
          </a:xfrm>
          <a:prstGeom prst="rect">
            <a:avLst/>
          </a:prstGeom>
          <a:noFill/>
          <a:ln/>
        </p:spPr>
        <p:txBody>
          <a:bodyPr wrap="square" lIns="0" tIns="0" rIns="0" bIns="0" rtlCol="0" anchor="t"/>
          <a:lstStyle/>
          <a:p>
            <a:pPr indent="0" marL="0">
              <a:lnSpc>
                <a:spcPts val="1400"/>
              </a:lnSpc>
              <a:buNone/>
            </a:pPr>
            <a:r>
              <a:rPr lang="en-US" sz="1050" dirty="0">
                <a:solidFill>
                  <a:srgbClr val="A8C0DC"/>
                </a:solidFill>
                <a:latin typeface="Calibri" pitchFamily="34" charset="0"/>
                <a:ea typeface="Calibri" pitchFamily="34" charset="-122"/>
                <a:cs typeface="Calibri" pitchFamily="34" charset="-120"/>
              </a:rPr>
              <a:t>Auditoría de originación de los dos puntos con peor mora al mes 6: expediente, avalúo, verificación de ingresos y cuota inicial efectiva de las cosechas 2025–2026.</a:t>
            </a:r>
            <a:endParaRPr lang="en-US" sz="1050" dirty="0"/>
          </a:p>
        </p:txBody>
      </p:sp>
      <p:sp>
        <p:nvSpPr>
          <p:cNvPr id="9" name="Text 7"/>
          <p:cNvSpPr txBox="1"/>
          <p:nvPr/>
        </p:nvSpPr>
        <p:spPr>
          <a:xfrm>
            <a:off x="8019288" y="199339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RESPONSABLE</a:t>
            </a:r>
            <a:endParaRPr lang="en-US" sz="750" dirty="0"/>
          </a:p>
        </p:txBody>
      </p:sp>
      <p:sp>
        <p:nvSpPr>
          <p:cNvPr id="10" name="Text 8"/>
          <p:cNvSpPr txBox="1"/>
          <p:nvPr/>
        </p:nvSpPr>
        <p:spPr>
          <a:xfrm>
            <a:off x="8019288" y="221284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Gerencia comercial</a:t>
            </a:r>
            <a:endParaRPr lang="en-US" sz="1000" dirty="0"/>
          </a:p>
        </p:txBody>
      </p:sp>
      <p:sp>
        <p:nvSpPr>
          <p:cNvPr id="11" name="Text 9"/>
          <p:cNvSpPr txBox="1"/>
          <p:nvPr/>
        </p:nvSpPr>
        <p:spPr>
          <a:xfrm>
            <a:off x="9226296" y="199339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FECHA</a:t>
            </a:r>
            <a:endParaRPr lang="en-US" sz="750" dirty="0"/>
          </a:p>
        </p:txBody>
      </p:sp>
      <p:sp>
        <p:nvSpPr>
          <p:cNvPr id="12" name="Text 10"/>
          <p:cNvSpPr txBox="1"/>
          <p:nvPr/>
        </p:nvSpPr>
        <p:spPr>
          <a:xfrm>
            <a:off x="9226296" y="221284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31 de octubre</a:t>
            </a:r>
            <a:endParaRPr lang="en-US" sz="1000" dirty="0"/>
          </a:p>
        </p:txBody>
      </p:sp>
      <p:sp>
        <p:nvSpPr>
          <p:cNvPr id="13" name="Text 11"/>
          <p:cNvSpPr txBox="1"/>
          <p:nvPr/>
        </p:nvSpPr>
        <p:spPr>
          <a:xfrm>
            <a:off x="10433304" y="199339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EN JUEGO</a:t>
            </a:r>
            <a:endParaRPr lang="en-US" sz="750" dirty="0"/>
          </a:p>
        </p:txBody>
      </p:sp>
      <p:sp>
        <p:nvSpPr>
          <p:cNvPr id="14" name="Text 12"/>
          <p:cNvSpPr txBox="1"/>
          <p:nvPr/>
        </p:nvSpPr>
        <p:spPr>
          <a:xfrm>
            <a:off x="10433304" y="221284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COP 71 M/año</a:t>
            </a:r>
            <a:endParaRPr lang="en-US" sz="1000" dirty="0"/>
          </a:p>
        </p:txBody>
      </p:sp>
      <p:sp>
        <p:nvSpPr>
          <p:cNvPr id="15" name="Shape 13"/>
          <p:cNvSpPr/>
          <p:nvPr/>
        </p:nvSpPr>
        <p:spPr>
          <a:xfrm>
            <a:off x="566928" y="3154680"/>
            <a:ext cx="11057839" cy="1234440"/>
          </a:xfrm>
          <a:prstGeom prst="roundRect">
            <a:avLst>
              <a:gd name="adj" fmla="val 4444"/>
            </a:avLst>
          </a:prstGeom>
          <a:solidFill>
            <a:srgbClr val="1B3450"/>
          </a:solidFill>
          <a:ln w="9525">
            <a:solidFill>
              <a:srgbClr val="1B3450"/>
            </a:solidFill>
            <a:prstDash val="solid"/>
          </a:ln>
        </p:spPr>
      </p:sp>
      <p:sp>
        <p:nvSpPr>
          <p:cNvPr id="16" name="Shape 14"/>
          <p:cNvSpPr/>
          <p:nvPr/>
        </p:nvSpPr>
        <p:spPr>
          <a:xfrm>
            <a:off x="822960" y="3374136"/>
            <a:ext cx="384048" cy="384048"/>
          </a:xfrm>
          <a:prstGeom prst="ellipse">
            <a:avLst/>
          </a:prstGeom>
          <a:solidFill>
            <a:srgbClr val="2F5580"/>
          </a:solidFill>
          <a:ln w="12700">
            <a:solidFill>
              <a:srgbClr val="2F5580"/>
            </a:solidFill>
            <a:prstDash val="solid"/>
          </a:ln>
        </p:spPr>
      </p:sp>
      <p:sp>
        <p:nvSpPr>
          <p:cNvPr id="17" name="Text 15"/>
          <p:cNvSpPr txBox="1"/>
          <p:nvPr/>
        </p:nvSpPr>
        <p:spPr>
          <a:xfrm>
            <a:off x="822960" y="33741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1408176" y="3328416"/>
            <a:ext cx="64922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Cuadrar el castigo de julio con contabilidad</a:t>
            </a:r>
            <a:endParaRPr lang="en-US" sz="1400" dirty="0"/>
          </a:p>
        </p:txBody>
      </p:sp>
      <p:sp>
        <p:nvSpPr>
          <p:cNvPr id="19" name="Text 17"/>
          <p:cNvSpPr txBox="1"/>
          <p:nvPr/>
        </p:nvSpPr>
        <p:spPr>
          <a:xfrm>
            <a:off x="1408176" y="3648456"/>
            <a:ext cx="6583680" cy="731520"/>
          </a:xfrm>
          <a:prstGeom prst="rect">
            <a:avLst/>
          </a:prstGeom>
          <a:noFill/>
          <a:ln/>
        </p:spPr>
        <p:txBody>
          <a:bodyPr wrap="square" lIns="0" tIns="0" rIns="0" bIns="0" rtlCol="0" anchor="t"/>
          <a:lstStyle/>
          <a:p>
            <a:pPr indent="0" marL="0">
              <a:lnSpc>
                <a:spcPts val="1400"/>
              </a:lnSpc>
              <a:buNone/>
            </a:pPr>
            <a:r>
              <a:rPr lang="en-US" sz="1050" dirty="0">
                <a:solidFill>
                  <a:srgbClr val="A8C0DC"/>
                </a:solidFill>
                <a:latin typeface="Calibri" pitchFamily="34" charset="0"/>
                <a:ea typeface="Calibri" pitchFamily="34" charset="-122"/>
                <a:cs typeface="Calibri" pitchFamily="34" charset="-120"/>
              </a:rPr>
              <a:t>Confirmar qué se castigó, contra qué provisión, con qué autorización y con qué efecto en el P&amp;G del año. Sin esto no se reporta mejora de mora a la junta ni al fondeador.</a:t>
            </a:r>
            <a:endParaRPr lang="en-US" sz="1050" dirty="0"/>
          </a:p>
        </p:txBody>
      </p:sp>
      <p:sp>
        <p:nvSpPr>
          <p:cNvPr id="20" name="Text 18"/>
          <p:cNvSpPr txBox="1"/>
          <p:nvPr/>
        </p:nvSpPr>
        <p:spPr>
          <a:xfrm>
            <a:off x="8019288" y="341071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RESPONSABLE</a:t>
            </a:r>
            <a:endParaRPr lang="en-US" sz="750" dirty="0"/>
          </a:p>
        </p:txBody>
      </p:sp>
      <p:sp>
        <p:nvSpPr>
          <p:cNvPr id="21" name="Text 19"/>
          <p:cNvSpPr txBox="1"/>
          <p:nvPr/>
        </p:nvSpPr>
        <p:spPr>
          <a:xfrm>
            <a:off x="8019288" y="363016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Contabilidad</a:t>
            </a:r>
            <a:endParaRPr lang="en-US" sz="1000" dirty="0"/>
          </a:p>
        </p:txBody>
      </p:sp>
      <p:sp>
        <p:nvSpPr>
          <p:cNvPr id="22" name="Text 20"/>
          <p:cNvSpPr txBox="1"/>
          <p:nvPr/>
        </p:nvSpPr>
        <p:spPr>
          <a:xfrm>
            <a:off x="9226296" y="341071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FECHA</a:t>
            </a:r>
            <a:endParaRPr lang="en-US" sz="750" dirty="0"/>
          </a:p>
        </p:txBody>
      </p:sp>
      <p:sp>
        <p:nvSpPr>
          <p:cNvPr id="23" name="Text 21"/>
          <p:cNvSpPr txBox="1"/>
          <p:nvPr/>
        </p:nvSpPr>
        <p:spPr>
          <a:xfrm>
            <a:off x="9226296" y="363016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15 de octubre</a:t>
            </a:r>
            <a:endParaRPr lang="en-US" sz="1000" dirty="0"/>
          </a:p>
        </p:txBody>
      </p:sp>
      <p:sp>
        <p:nvSpPr>
          <p:cNvPr id="24" name="Text 22"/>
          <p:cNvSpPr txBox="1"/>
          <p:nvPr/>
        </p:nvSpPr>
        <p:spPr>
          <a:xfrm>
            <a:off x="10433304" y="341071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EN JUEGO</a:t>
            </a:r>
            <a:endParaRPr lang="en-US" sz="750" dirty="0"/>
          </a:p>
        </p:txBody>
      </p:sp>
      <p:sp>
        <p:nvSpPr>
          <p:cNvPr id="25" name="Text 23"/>
          <p:cNvSpPr txBox="1"/>
          <p:nvPr/>
        </p:nvSpPr>
        <p:spPr>
          <a:xfrm>
            <a:off x="10433304" y="363016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COP 549 M</a:t>
            </a:r>
            <a:endParaRPr lang="en-US" sz="1000" dirty="0"/>
          </a:p>
        </p:txBody>
      </p:sp>
      <p:sp>
        <p:nvSpPr>
          <p:cNvPr id="26" name="Shape 24"/>
          <p:cNvSpPr/>
          <p:nvPr/>
        </p:nvSpPr>
        <p:spPr>
          <a:xfrm>
            <a:off x="566928" y="4572000"/>
            <a:ext cx="11057839" cy="1234440"/>
          </a:xfrm>
          <a:prstGeom prst="roundRect">
            <a:avLst>
              <a:gd name="adj" fmla="val 4444"/>
            </a:avLst>
          </a:prstGeom>
          <a:solidFill>
            <a:srgbClr val="1B3450"/>
          </a:solidFill>
          <a:ln w="9525">
            <a:solidFill>
              <a:srgbClr val="1B3450"/>
            </a:solidFill>
            <a:prstDash val="solid"/>
          </a:ln>
        </p:spPr>
      </p:sp>
      <p:sp>
        <p:nvSpPr>
          <p:cNvPr id="27" name="Shape 25"/>
          <p:cNvSpPr/>
          <p:nvPr/>
        </p:nvSpPr>
        <p:spPr>
          <a:xfrm>
            <a:off x="822960" y="4791456"/>
            <a:ext cx="384048" cy="384048"/>
          </a:xfrm>
          <a:prstGeom prst="ellipse">
            <a:avLst/>
          </a:prstGeom>
          <a:solidFill>
            <a:srgbClr val="2F5580"/>
          </a:solidFill>
          <a:ln w="12700">
            <a:solidFill>
              <a:srgbClr val="2F5580"/>
            </a:solidFill>
            <a:prstDash val="solid"/>
          </a:ln>
        </p:spPr>
      </p:sp>
      <p:sp>
        <p:nvSpPr>
          <p:cNvPr id="28" name="Text 26"/>
          <p:cNvSpPr txBox="1"/>
          <p:nvPr/>
        </p:nvSpPr>
        <p:spPr>
          <a:xfrm>
            <a:off x="822960" y="47914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9" name="Text 27"/>
          <p:cNvSpPr txBox="1"/>
          <p:nvPr/>
        </p:nvSpPr>
        <p:spPr>
          <a:xfrm>
            <a:off x="1408176" y="4745736"/>
            <a:ext cx="64922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Incorporar tres campos al reporte mensual</a:t>
            </a:r>
            <a:endParaRPr lang="en-US" sz="1400" dirty="0"/>
          </a:p>
        </p:txBody>
      </p:sp>
      <p:sp>
        <p:nvSpPr>
          <p:cNvPr id="30" name="Text 28"/>
          <p:cNvSpPr txBox="1"/>
          <p:nvPr/>
        </p:nvSpPr>
        <p:spPr>
          <a:xfrm>
            <a:off x="1408176" y="5065776"/>
            <a:ext cx="6583680" cy="731520"/>
          </a:xfrm>
          <a:prstGeom prst="rect">
            <a:avLst/>
          </a:prstGeom>
          <a:noFill/>
          <a:ln/>
        </p:spPr>
        <p:txBody>
          <a:bodyPr wrap="square" lIns="0" tIns="0" rIns="0" bIns="0" rtlCol="0" anchor="t"/>
          <a:lstStyle/>
          <a:p>
            <a:pPr indent="0" marL="0">
              <a:lnSpc>
                <a:spcPts val="1400"/>
              </a:lnSpc>
              <a:buNone/>
            </a:pPr>
            <a:r>
              <a:rPr lang="en-US" sz="1050" dirty="0">
                <a:solidFill>
                  <a:srgbClr val="A8C0DC"/>
                </a:solidFill>
                <a:latin typeface="Calibri" pitchFamily="34" charset="0"/>
                <a:ea typeface="Calibri" pitchFamily="34" charset="-122"/>
                <a:cs typeface="Calibri" pitchFamily="34" charset="-120"/>
              </a:rPr>
              <a:t>Cuota inicial y precio de factura, score de buró en la originación, y asesor comercial. Que el corte de octubre ya salga con ellos.</a:t>
            </a:r>
            <a:endParaRPr lang="en-US" sz="1050" dirty="0"/>
          </a:p>
        </p:txBody>
      </p:sp>
      <p:sp>
        <p:nvSpPr>
          <p:cNvPr id="31" name="Text 29"/>
          <p:cNvSpPr txBox="1"/>
          <p:nvPr/>
        </p:nvSpPr>
        <p:spPr>
          <a:xfrm>
            <a:off x="8019288" y="482803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RESPONSABLE</a:t>
            </a:r>
            <a:endParaRPr lang="en-US" sz="750" dirty="0"/>
          </a:p>
        </p:txBody>
      </p:sp>
      <p:sp>
        <p:nvSpPr>
          <p:cNvPr id="32" name="Text 30"/>
          <p:cNvSpPr txBox="1"/>
          <p:nvPr/>
        </p:nvSpPr>
        <p:spPr>
          <a:xfrm>
            <a:off x="8019288" y="504748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Sistemas y crédito</a:t>
            </a:r>
            <a:endParaRPr lang="en-US" sz="1000" dirty="0"/>
          </a:p>
        </p:txBody>
      </p:sp>
      <p:sp>
        <p:nvSpPr>
          <p:cNvPr id="33" name="Text 31"/>
          <p:cNvSpPr txBox="1"/>
          <p:nvPr/>
        </p:nvSpPr>
        <p:spPr>
          <a:xfrm>
            <a:off x="9226296" y="482803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FECHA</a:t>
            </a:r>
            <a:endParaRPr lang="en-US" sz="750" dirty="0"/>
          </a:p>
        </p:txBody>
      </p:sp>
      <p:sp>
        <p:nvSpPr>
          <p:cNvPr id="34" name="Text 32"/>
          <p:cNvSpPr txBox="1"/>
          <p:nvPr/>
        </p:nvSpPr>
        <p:spPr>
          <a:xfrm>
            <a:off x="9226296" y="504748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30 de nov.</a:t>
            </a:r>
            <a:endParaRPr lang="en-US" sz="1000" dirty="0"/>
          </a:p>
        </p:txBody>
      </p:sp>
      <p:sp>
        <p:nvSpPr>
          <p:cNvPr id="35" name="Text 33"/>
          <p:cNvSpPr txBox="1"/>
          <p:nvPr/>
        </p:nvSpPr>
        <p:spPr>
          <a:xfrm>
            <a:off x="10433304" y="4828032"/>
            <a:ext cx="1115568" cy="182880"/>
          </a:xfrm>
          <a:prstGeom prst="rect">
            <a:avLst/>
          </a:prstGeom>
          <a:noFill/>
          <a:ln/>
        </p:spPr>
        <p:txBody>
          <a:bodyPr wrap="square" lIns="0" tIns="0" rIns="0" bIns="0" rtlCol="0" anchor="ctr"/>
          <a:lstStyle/>
          <a:p>
            <a:pPr indent="0" marL="0">
              <a:buNone/>
            </a:pPr>
            <a:r>
              <a:rPr lang="en-US" sz="750" b="1" spc="60" kern="0" dirty="0">
                <a:solidFill>
                  <a:srgbClr val="6E8CAE"/>
                </a:solidFill>
                <a:latin typeface="Calibri" pitchFamily="34" charset="0"/>
                <a:ea typeface="Calibri" pitchFamily="34" charset="-122"/>
                <a:cs typeface="Calibri" pitchFamily="34" charset="-120"/>
              </a:rPr>
              <a:t>EN JUEGO</a:t>
            </a:r>
            <a:endParaRPr lang="en-US" sz="750" dirty="0"/>
          </a:p>
        </p:txBody>
      </p:sp>
      <p:sp>
        <p:nvSpPr>
          <p:cNvPr id="36" name="Text 34"/>
          <p:cNvSpPr txBox="1"/>
          <p:nvPr/>
        </p:nvSpPr>
        <p:spPr>
          <a:xfrm>
            <a:off x="10433304" y="5047488"/>
            <a:ext cx="1115568" cy="640080"/>
          </a:xfrm>
          <a:prstGeom prst="rect">
            <a:avLst/>
          </a:prstGeom>
          <a:noFill/>
          <a:ln/>
        </p:spPr>
        <p:txBody>
          <a:bodyPr wrap="square" lIns="0" tIns="0" rIns="0" bIns="0" rtlCol="0" anchor="t"/>
          <a:lstStyle/>
          <a:p>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Fijar política</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ANEXO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Metodología y controles</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Todo el análisis es reproducible desde el archivo original con un solo comando.</a:t>
            </a:r>
            <a:endParaRPr lang="en-US" sz="1150" dirty="0"/>
          </a:p>
        </p:txBody>
      </p:sp>
      <p:sp>
        <p:nvSpPr>
          <p:cNvPr id="5" name="Shape 3"/>
          <p:cNvSpPr/>
          <p:nvPr/>
        </p:nvSpPr>
        <p:spPr>
          <a:xfrm>
            <a:off x="566928" y="1737360"/>
            <a:ext cx="5486400" cy="2148840"/>
          </a:xfrm>
          <a:prstGeom prst="roundRect">
            <a:avLst>
              <a:gd name="adj" fmla="val 2553"/>
            </a:avLst>
          </a:prstGeom>
          <a:solidFill>
            <a:srgbClr val="F2F5F8"/>
          </a:solidFill>
          <a:ln w="9525">
            <a:solidFill>
              <a:srgbClr val="DDE3EA"/>
            </a:solidFill>
            <a:prstDash val="solid"/>
          </a:ln>
        </p:spPr>
      </p:sp>
      <p:sp>
        <p:nvSpPr>
          <p:cNvPr id="6" name="Text 4"/>
          <p:cNvSpPr txBox="1"/>
          <p:nvPr/>
        </p:nvSpPr>
        <p:spPr>
          <a:xfrm>
            <a:off x="822960" y="1920240"/>
            <a:ext cx="5029200" cy="256032"/>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Cómo se calcula</a:t>
            </a:r>
            <a:endParaRPr lang="en-US" sz="1300" dirty="0"/>
          </a:p>
        </p:txBody>
      </p:sp>
      <p:sp>
        <p:nvSpPr>
          <p:cNvPr id="7" name="Text 5"/>
          <p:cNvSpPr txBox="1"/>
          <p:nvPr/>
        </p:nvSpPr>
        <p:spPr>
          <a:xfrm>
            <a:off x="822960" y="2231136"/>
            <a:ext cx="5029200" cy="1554480"/>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Cosecha: mes de desembolso. MOB: meses desde el desembolso.</a:t>
            </a:r>
            <a:endParaRPr lang="en-US" sz="1020" dirty="0"/>
          </a:p>
          <a:p>
            <a:pPr indent="0" marL="0">
              <a:lnSpc>
                <a:spcPts val="1400"/>
              </a:lnSpc>
              <a:buNone/>
            </a:pPr>
            <a:endParaRPr lang="en-US" sz="1020" dirty="0"/>
          </a:p>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Indicador: capital vencido (columna SALDO EN MORA) de los créditos con más de 30 días de mora, sobre la colocación original de la cosecha. El denominador es fijo, y por eso las cosechas son comparables entre sí.</a:t>
            </a:r>
            <a:endParaRPr lang="en-US" sz="1020" dirty="0"/>
          </a:p>
          <a:p>
            <a:pPr indent="0" marL="0">
              <a:lnSpc>
                <a:spcPts val="1400"/>
              </a:lnSpc>
              <a:buNone/>
            </a:pPr>
            <a:endParaRPr lang="en-US" sz="1020" dirty="0"/>
          </a:p>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Las curvas por año ponderan cada cosecha por su monto colocado; no promedian porcentajes.</a:t>
            </a:r>
            <a:endParaRPr lang="en-US" sz="1020" dirty="0"/>
          </a:p>
        </p:txBody>
      </p:sp>
      <p:sp>
        <p:nvSpPr>
          <p:cNvPr id="8" name="Shape 6"/>
          <p:cNvSpPr/>
          <p:nvPr/>
        </p:nvSpPr>
        <p:spPr>
          <a:xfrm>
            <a:off x="6327648" y="1737360"/>
            <a:ext cx="5486400" cy="2148840"/>
          </a:xfrm>
          <a:prstGeom prst="roundRect">
            <a:avLst>
              <a:gd name="adj" fmla="val 2553"/>
            </a:avLst>
          </a:prstGeom>
          <a:solidFill>
            <a:srgbClr val="F2F5F8"/>
          </a:solidFill>
          <a:ln w="9525">
            <a:solidFill>
              <a:srgbClr val="DDE3EA"/>
            </a:solidFill>
            <a:prstDash val="solid"/>
          </a:ln>
        </p:spPr>
      </p:sp>
      <p:sp>
        <p:nvSpPr>
          <p:cNvPr id="9" name="Text 7"/>
          <p:cNvSpPr txBox="1"/>
          <p:nvPr/>
        </p:nvSpPr>
        <p:spPr>
          <a:xfrm>
            <a:off x="6583680" y="1920240"/>
            <a:ext cx="5029200" cy="256032"/>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Controles que se corrieron</a:t>
            </a:r>
            <a:endParaRPr lang="en-US" sz="1300" dirty="0"/>
          </a:p>
        </p:txBody>
      </p:sp>
      <p:sp>
        <p:nvSpPr>
          <p:cNvPr id="10" name="Text 8"/>
          <p:cNvSpPr txBox="1"/>
          <p:nvPr/>
        </p:nvSpPr>
        <p:spPr>
          <a:xfrm>
            <a:off x="6583680" y="2231136"/>
            <a:ext cx="5029200" cy="1554480"/>
          </a:xfrm>
          <a:prstGeom prst="rect">
            <a:avLst/>
          </a:prstGeom>
          <a:noFill/>
          <a:ln/>
        </p:spPr>
        <p:txBody>
          <a:bodyPr wrap="square" lIns="0" tIns="0" rIns="0" bIns="0" rtlCol="0" anchor="t"/>
          <a:lstStyle/>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Numerador: la suma del capital vencido de los créditos con más de 30 días de mora en ago-2026 da COP 301.160.233, idéntico peso a peso al total de la hoja Consolidado.</a:t>
            </a:r>
            <a:endParaRPr lang="en-US" sz="1020" dirty="0"/>
          </a:p>
          <a:p>
            <a:pPr indent="0" marL="0">
              <a:lnSpc>
                <a:spcPts val="1400"/>
              </a:lnSpc>
              <a:buNone/>
            </a:pPr>
            <a:endParaRPr lang="en-US" sz="1020" dirty="0"/>
          </a:p>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Denominador: las 56 cosechas mantienen la misma colocación en los 13 bloques de observación.</a:t>
            </a:r>
            <a:endParaRPr lang="en-US" sz="1020" dirty="0"/>
          </a:p>
          <a:p>
            <a:pPr indent="0" marL="0">
              <a:lnSpc>
                <a:spcPts val="1400"/>
              </a:lnSpc>
              <a:buNone/>
            </a:pPr>
            <a:endParaRPr lang="en-US" sz="1020" dirty="0"/>
          </a:p>
          <a:p>
            <a:pPr indent="0" marL="0">
              <a:lnSpc>
                <a:spcPts val="1400"/>
              </a:lnSpc>
              <a:buNone/>
            </a:pPr>
            <a:r>
              <a:rPr lang="en-US" sz="1020" dirty="0">
                <a:solidFill>
                  <a:srgbClr val="62717F"/>
                </a:solidFill>
                <a:latin typeface="Calibri" pitchFamily="34" charset="0"/>
                <a:ea typeface="Calibri" pitchFamily="34" charset="-122"/>
                <a:cs typeface="Calibri" pitchFamily="34" charset="-120"/>
              </a:rPr>
              <a:t>Triángulo contra Consolidado: cuadran en 622 de 638 celdas.</a:t>
            </a:r>
            <a:endParaRPr lang="en-US" sz="1020" dirty="0"/>
          </a:p>
        </p:txBody>
      </p:sp>
      <p:sp>
        <p:nvSpPr>
          <p:cNvPr id="11" name="Text 9"/>
          <p:cNvSpPr txBox="1"/>
          <p:nvPr/>
        </p:nvSpPr>
        <p:spPr>
          <a:xfrm>
            <a:off x="566928" y="4069080"/>
            <a:ext cx="5486400" cy="256032"/>
          </a:xfrm>
          <a:prstGeom prst="rect">
            <a:avLst/>
          </a:prstGeom>
          <a:noFill/>
          <a:ln/>
        </p:spPr>
        <p:txBody>
          <a:bodyPr wrap="square" lIns="0" tIns="0" rIns="0" bIns="0" rtlCol="0" anchor="ctr"/>
          <a:lstStyle/>
          <a:p>
            <a:pPr indent="0" marL="0">
              <a:buNone/>
            </a:pPr>
            <a:r>
              <a:rPr lang="en-US" sz="1300" b="1" dirty="0">
                <a:solidFill>
                  <a:srgbClr val="18242F"/>
                </a:solidFill>
                <a:latin typeface="Calibri" pitchFamily="34" charset="0"/>
                <a:ea typeface="Calibri" pitchFamily="34" charset="-122"/>
                <a:cs typeface="Calibri" pitchFamily="34" charset="-120"/>
              </a:rPr>
              <a:t>Salvedades</a:t>
            </a:r>
            <a:endParaRPr lang="en-US" sz="1300" dirty="0"/>
          </a:p>
        </p:txBody>
      </p:sp>
      <p:sp>
        <p:nvSpPr>
          <p:cNvPr id="12" name="Text 10"/>
          <p:cNvSpPr txBox="1"/>
          <p:nvPr/>
        </p:nvSpPr>
        <p:spPr>
          <a:xfrm>
            <a:off x="566928" y="4370832"/>
            <a:ext cx="10744200" cy="365760"/>
          </a:xfrm>
          <a:prstGeom prst="rect">
            <a:avLst/>
          </a:prstGeom>
          <a:noFill/>
          <a:ln/>
        </p:spPr>
        <p:txBody>
          <a:bodyPr wrap="square" lIns="0" tIns="0" rIns="0" bIns="0" rtlCol="0" anchor="t"/>
          <a:lstStyle/>
          <a:p>
            <a:pPr marL="342900" indent="-342900">
              <a:lnSpc>
                <a:spcPts val="1300"/>
              </a:lnSpc>
              <a:buSzPct val="100000"/>
              <a:buChar char="–"/>
            </a:pPr>
            <a:r>
              <a:rPr lang="en-US" sz="1000" dirty="0">
                <a:solidFill>
                  <a:srgbClr val="62717F"/>
                </a:solidFill>
                <a:latin typeface="Calibri" pitchFamily="34" charset="0"/>
                <a:ea typeface="Calibri" pitchFamily="34" charset="-122"/>
                <a:cs typeface="Calibri" pitchFamily="34" charset="-120"/>
              </a:rPr>
              <a:t>Las 16 celdas que no cuadran están todas en la columna julio-2025 de la hoja Cosechas, con valores redondeados a tres decimales: esa columna se digitó a mano. Se usó el Consolidado como fuente.</a:t>
            </a:r>
            <a:endParaRPr lang="en-US" sz="1000" dirty="0"/>
          </a:p>
        </p:txBody>
      </p:sp>
      <p:sp>
        <p:nvSpPr>
          <p:cNvPr id="13" name="Text 11"/>
          <p:cNvSpPr txBox="1"/>
          <p:nvPr/>
        </p:nvSpPr>
        <p:spPr>
          <a:xfrm>
            <a:off x="566928" y="4754880"/>
            <a:ext cx="10744200" cy="365760"/>
          </a:xfrm>
          <a:prstGeom prst="rect">
            <a:avLst/>
          </a:prstGeom>
          <a:noFill/>
          <a:ln/>
        </p:spPr>
        <p:txBody>
          <a:bodyPr wrap="square" lIns="0" tIns="0" rIns="0" bIns="0" rtlCol="0" anchor="t"/>
          <a:lstStyle/>
          <a:p>
            <a:pPr marL="342900" indent="-342900">
              <a:lnSpc>
                <a:spcPts val="1300"/>
              </a:lnSpc>
              <a:buSzPct val="100000"/>
              <a:buChar char="–"/>
            </a:pPr>
            <a:r>
              <a:rPr lang="en-US" sz="1000" dirty="0">
                <a:solidFill>
                  <a:srgbClr val="62717F"/>
                </a:solidFill>
                <a:latin typeface="Calibri" pitchFamily="34" charset="0"/>
                <a:ea typeface="Calibri" pitchFamily="34" charset="-122"/>
                <a:cs typeface="Calibri" pitchFamily="34" charset="-120"/>
              </a:rPr>
              <a:t>La hoja ENERO 26 está vacía y el Consolidado no tiene bloque de enero de 2026. Ese mes es s/d, no cero.</a:t>
            </a:r>
            <a:endParaRPr lang="en-US" sz="1000" dirty="0"/>
          </a:p>
        </p:txBody>
      </p:sp>
      <p:sp>
        <p:nvSpPr>
          <p:cNvPr id="14" name="Text 12"/>
          <p:cNvSpPr txBox="1"/>
          <p:nvPr/>
        </p:nvSpPr>
        <p:spPr>
          <a:xfrm>
            <a:off x="566928" y="5138928"/>
            <a:ext cx="10744200" cy="365760"/>
          </a:xfrm>
          <a:prstGeom prst="rect">
            <a:avLst/>
          </a:prstGeom>
          <a:noFill/>
          <a:ln/>
        </p:spPr>
        <p:txBody>
          <a:bodyPr wrap="square" lIns="0" tIns="0" rIns="0" bIns="0" rtlCol="0" anchor="t"/>
          <a:lstStyle/>
          <a:p>
            <a:pPr marL="342900" indent="-342900">
              <a:lnSpc>
                <a:spcPts val="1300"/>
              </a:lnSpc>
              <a:buSzPct val="100000"/>
              <a:buChar char="–"/>
            </a:pPr>
            <a:r>
              <a:rPr lang="en-US" sz="1000" dirty="0">
                <a:solidFill>
                  <a:srgbClr val="62717F"/>
                </a:solidFill>
                <a:latin typeface="Calibri" pitchFamily="34" charset="0"/>
                <a:ea typeface="Calibri" pitchFamily="34" charset="-122"/>
                <a:cs typeface="Calibri" pitchFamily="34" charset="-120"/>
              </a:rPr>
              <a:t>Las hojas de febrero y abril traen otro formato (99 y 100 columnas contra 105), sin CAPITALINI y con SALDO EN MORA escrito con un espacio al final. Se homologaron.</a:t>
            </a:r>
            <a:endParaRPr lang="en-US" sz="1000" dirty="0"/>
          </a:p>
        </p:txBody>
      </p:sp>
      <p:sp>
        <p:nvSpPr>
          <p:cNvPr id="15" name="Text 13"/>
          <p:cNvSpPr txBox="1"/>
          <p:nvPr/>
        </p:nvSpPr>
        <p:spPr>
          <a:xfrm>
            <a:off x="566928" y="5522976"/>
            <a:ext cx="10744200" cy="365760"/>
          </a:xfrm>
          <a:prstGeom prst="rect">
            <a:avLst/>
          </a:prstGeom>
          <a:noFill/>
          <a:ln/>
        </p:spPr>
        <p:txBody>
          <a:bodyPr wrap="square" lIns="0" tIns="0" rIns="0" bIns="0" rtlCol="0" anchor="t"/>
          <a:lstStyle/>
          <a:p>
            <a:pPr marL="342900" indent="-342900">
              <a:lnSpc>
                <a:spcPts val="1300"/>
              </a:lnSpc>
              <a:buSzPct val="100000"/>
              <a:buChar char="–"/>
            </a:pPr>
            <a:r>
              <a:rPr lang="en-US" sz="1000" dirty="0">
                <a:solidFill>
                  <a:srgbClr val="62717F"/>
                </a:solidFill>
                <a:latin typeface="Calibri" pitchFamily="34" charset="0"/>
                <a:ea typeface="Calibri" pitchFamily="34" charset="-122"/>
                <a:cs typeface="Calibri" pitchFamily="34" charset="-120"/>
              </a:rPr>
              <a:t>Los cortes por punto de venta se miden a los 6 meses de vida, donde el capital de los créditos vigentes todavía cubre el 81% de lo colocado. Más allá, el sesgo de supervivencia los vuelve inservibles.</a:t>
            </a:r>
            <a:endParaRPr lang="en-US" sz="1000" dirty="0"/>
          </a:p>
        </p:txBody>
      </p:sp>
      <p:sp>
        <p:nvSpPr>
          <p:cNvPr id="16" name="Text 14"/>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Reproducible con: python3 analizar_cosechas.py Cosechas_2026.xlsx — imprime los controles, reescribe las tablas y actualiza el tablero.</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310896"/>
            <a:ext cx="10058400" cy="201168"/>
          </a:xfrm>
          <a:prstGeom prst="rect">
            <a:avLst/>
          </a:prstGeom>
          <a:noFill/>
          <a:ln/>
        </p:spPr>
        <p:txBody>
          <a:bodyPr wrap="square" lIns="0" tIns="0" rIns="0" bIns="0" rtlCol="0" anchor="ctr"/>
          <a:lstStyle/>
          <a:p>
            <a:pPr indent="0" marL="0">
              <a:buNone/>
            </a:pPr>
            <a:r>
              <a:rPr lang="en-US" sz="1050" b="1" spc="160" kern="0" dirty="0">
                <a:solidFill>
                  <a:srgbClr val="2A78D6"/>
                </a:solidFill>
                <a:latin typeface="Calibri" pitchFamily="34" charset="0"/>
                <a:ea typeface="Calibri" pitchFamily="34" charset="-122"/>
                <a:cs typeface="Calibri" pitchFamily="34" charset="-120"/>
              </a:rPr>
              <a:t>ANEXO</a:t>
            </a:r>
            <a:endParaRPr lang="en-US" sz="1050" dirty="0"/>
          </a:p>
        </p:txBody>
      </p:sp>
      <p:sp>
        <p:nvSpPr>
          <p:cNvPr id="3" name="Text 1"/>
          <p:cNvSpPr txBox="1"/>
          <p:nvPr/>
        </p:nvSpPr>
        <p:spPr>
          <a:xfrm>
            <a:off x="566928" y="530352"/>
            <a:ext cx="11057839" cy="731520"/>
          </a:xfrm>
          <a:prstGeom prst="rect">
            <a:avLst/>
          </a:prstGeom>
          <a:noFill/>
          <a:ln/>
        </p:spPr>
        <p:txBody>
          <a:bodyPr wrap="square" lIns="0" tIns="0" rIns="0" bIns="0" rtlCol="0" anchor="t"/>
          <a:lstStyle/>
          <a:p>
            <a:pPr indent="0" marL="0">
              <a:lnSpc>
                <a:spcPts val="2800"/>
              </a:lnSpc>
              <a:buNone/>
            </a:pPr>
            <a:r>
              <a:rPr lang="en-US" sz="2300" b="1" dirty="0">
                <a:solidFill>
                  <a:srgbClr val="18242F"/>
                </a:solidFill>
                <a:latin typeface="Cambria" pitchFamily="34" charset="0"/>
                <a:ea typeface="Cambria" pitchFamily="34" charset="-122"/>
                <a:cs typeface="Cambria" pitchFamily="34" charset="-120"/>
              </a:rPr>
              <a:t>Mora por cosecha al mes 6 y al mes 12</a:t>
            </a:r>
            <a:endParaRPr lang="en-US" sz="2300" dirty="0"/>
          </a:p>
        </p:txBody>
      </p:sp>
      <p:sp>
        <p:nvSpPr>
          <p:cNvPr id="4" name="Text 2"/>
          <p:cNvSpPr txBox="1"/>
          <p:nvPr/>
        </p:nvSpPr>
        <p:spPr>
          <a:xfrm>
            <a:off x="566928" y="1298448"/>
            <a:ext cx="11057839" cy="457200"/>
          </a:xfrm>
          <a:prstGeom prst="rect">
            <a:avLst/>
          </a:prstGeom>
          <a:noFill/>
          <a:ln/>
        </p:spPr>
        <p:txBody>
          <a:bodyPr wrap="square" lIns="0" tIns="0" rIns="0" bIns="0" rtlCol="0" anchor="t"/>
          <a:lstStyle/>
          <a:p>
            <a:pPr indent="0" marL="0">
              <a:lnSpc>
                <a:spcPts val="1500"/>
              </a:lnSpc>
              <a:buNone/>
            </a:pPr>
            <a:r>
              <a:rPr lang="en-US" sz="1150" dirty="0">
                <a:solidFill>
                  <a:srgbClr val="62717F"/>
                </a:solidFill>
                <a:latin typeface="Calibri" pitchFamily="34" charset="0"/>
                <a:ea typeface="Calibri" pitchFamily="34" charset="-122"/>
                <a:cs typeface="Calibri" pitchFamily="34" charset="-120"/>
              </a:rPr>
              <a:t>Las 56 cosechas, con su colocación en millones de COP. s/d = la cosecha todavía no alcanzó esa edad; no es un cero.</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914400"/>
                <a:gridCol w="1051560"/>
                <a:gridCol w="795528"/>
                <a:gridCol w="868680"/>
                <a:gridCol w="914400"/>
                <a:gridCol w="1051560"/>
                <a:gridCol w="795528"/>
                <a:gridCol w="868680"/>
                <a:gridCol w="914400"/>
                <a:gridCol w="1051560"/>
                <a:gridCol w="795528"/>
                <a:gridCol w="868680"/>
              </a:tblGrid>
              <a:tr h="0">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Cosecha</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Colocado</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Cosecha</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Colocado</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Cosecha</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Colocado</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b="1" dirty="0">
                          <a:solidFill>
                            <a:srgbClr val="62717F"/>
                          </a:solidFill>
                          <a:latin typeface="Calibri" pitchFamily="34" charset="0"/>
                          <a:ea typeface="Calibri" pitchFamily="34" charset="-122"/>
                          <a:cs typeface="Calibri" pitchFamily="34" charset="-120"/>
                        </a:rPr>
                        <a:t>Mes 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ene-2022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55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6,7%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ago-2023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480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mar-2025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395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feb-2022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245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sep-2023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273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6,2%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abr-2025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321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mar-2022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oct-2023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160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5,2%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may-2025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370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abr-2022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298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nov-2023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jun-2025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may-2022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dic-2023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298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jul-2025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367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jun-2022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ene-2024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218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ago-2025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292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jul-2022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feb-2024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291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sep-2025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303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ago-2022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mar-2024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253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oct-2025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378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sep-2022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abr-2024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nov-2025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401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oct-2022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may-2024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dic-2025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477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nov-2022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133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jun-2024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ene-2026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416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dic-2022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140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jul-2024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249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feb-2026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486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ene-2023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193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ago-2024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mar-2026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432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feb-2023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309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sep-2024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abr-2026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507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mar-2023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338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oct-2024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261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may-2026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458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abr-2023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304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7,4%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nov-2024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251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3,9%</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jun-2026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355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may-2023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312</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8,5%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dic-2024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397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jul-2026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548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jun-2023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211</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4,6%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ene-2025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308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ago-2026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398</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s/d</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r h="0">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jul-2023</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226</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1,4%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feb-2025</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297</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0,4%</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r>
                        <a:rPr lang="en-US" sz="820" dirty="0">
                          <a:solidFill>
                            <a:srgbClr val="18242F"/>
                          </a:solidFill>
                          <a:latin typeface="Calibri" pitchFamily="34" charset="0"/>
                          <a:ea typeface="Calibri" pitchFamily="34" charset="-122"/>
                          <a:cs typeface="Calibri" pitchFamily="34" charset="-120"/>
                        </a:rPr>
                        <a:t>2,0%</a:t>
                      </a: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algn="r" indent="0" marL="0">
                        <a:buNone/>
                      </a:pPr>
                      <a:endParaRPr lang="en-US" sz="820" dirty="0">
                        <a:latin typeface="Calibri" charset="0"/>
                        <a:ea typeface="Calibri" charset="0"/>
                        <a:cs typeface="Calibri" charset="0"/>
                      </a:endParaRPr>
                    </a:p>
                  </a:txBody>
                  <a:tcPr marL="91440" marR="91440" marT="45720" marB="45720"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5989320"/>
            <a:ext cx="11057839" cy="502920"/>
          </a:xfrm>
          <a:prstGeom prst="rect">
            <a:avLst/>
          </a:prstGeom>
          <a:noFill/>
          <a:ln/>
        </p:spPr>
        <p:txBody>
          <a:bodyPr wrap="square" lIns="0" tIns="0" rIns="0" bIns="0" rtlCol="0" anchor="t"/>
          <a:lstStyle/>
          <a:p>
            <a:pPr indent="0" marL="0">
              <a:lnSpc>
                <a:spcPts val="1200"/>
              </a:lnSpc>
              <a:buNone/>
            </a:pPr>
            <a:r>
              <a:rPr lang="en-US" sz="900" dirty="0">
                <a:solidFill>
                  <a:srgbClr val="6B7785"/>
                </a:solidFill>
                <a:latin typeface="Calibri" pitchFamily="34" charset="0"/>
                <a:ea typeface="Calibri" pitchFamily="34" charset="-122"/>
                <a:cs typeface="Calibri" pitchFamily="34" charset="-120"/>
              </a:rPr>
              <a:t>Tablas completas en cosechas_districolmotos/datos/ — un CSV por gráfico de este informe.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Cosechas de originación — Informe a junta</dc:title>
  <dc:subject>PptxGenJS Presentation</dc:subject>
  <dc:creator>Districolmotos</dc:creator>
  <cp:lastModifiedBy>Districolmotos</cp:lastModifiedBy>
  <cp:revision>1</cp:revision>
  <dcterms:created xsi:type="dcterms:W3CDTF">2026-09-11T14:11:51Z</dcterms:created>
  <dcterms:modified xsi:type="dcterms:W3CDTF">2026-09-11T14:11:51Z</dcterms:modified>
</cp:coreProperties>
</file>